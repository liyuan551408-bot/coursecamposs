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4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presentation follows the real source-code call sequence. Each major step includes the relevant file and a focused code excerpt.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CourseCompass is a full-stack university course-planning application. It combines course discovery, decision support, and personal study planning in one system.</a:t>
            </a:r>
          </a:p>
          <a:p>
            <a:r>
              <a:t>Sources: README.md and frontend/src/views.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Route metadata and backend role middleware separate the three user types. Students plan courses, administrators maintain system data, and moderators process reviews and reports.</a:t>
            </a:r>
          </a:p>
          <a:p>
            <a:r>
              <a:t>Sources: frontend/src/router/index.js and backend/src/routes.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frontend handles interaction and presentation. Express manages authentication and business orchestration, while Prisma accesses PostgreSQL. AI recommendations use both an embedding model and a chat model, called only from the backend.</a:t>
            </a:r>
          </a:p>
          <a:p>
            <a:r>
              <a:t>Sources: README.md, frontend/package.json, and backend/package.json.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schema is organised into three business domains. User and Course are the central entities. Association models such as SavedCourse, CompletedCourse, Review, and PlanCourse implement the business relationships.</a:t>
            </a:r>
          </a:p>
          <a:p>
            <a:r>
              <a:t>Source: backend/prisma/schema.prisma.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shows only fields used directly by the recommendation workflow. Course.embedding stores a 1024-dimensional pgvector value. The CompletedCourse composite key prevents duplicate records for the same student and course.</a:t>
            </a:r>
          </a:p>
          <a:p>
            <a:r>
              <a:t>Source: backend/prisma/schema.prisma.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transitions from the project overview into the demo. AI recommendations cover every major technical layer and show how completed courses contribute to personalised analysis.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establishes the complete workflow. The following slides expand each numbered step and place the relevant source excerpt beside it.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button click calls recommend directly. This function manages frontend state and invokes the API wrapper.</a:t>
            </a:r>
          </a:p>
          <a:p>
            <a:r>
              <a:t>Source: frontend/src/views/AiRecommendation.vue.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frontend wrapper allows 150 seconds for the workflow. The backend then applies JWT authentication, a per-user AI rate limit, and the STUDENT role check.</a:t>
            </a:r>
          </a:p>
          <a:p>
            <a:r>
              <a:t>Sources: frontend/src/api/ai.js and backend/src/routes/aiRoutes.js.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controller reads only information needed for course planning. Completed courses enter the retrieval context, exclude duplicate recommendations, and support later course connections.</a:t>
            </a:r>
          </a:p>
          <a:p>
            <a:r>
              <a:t>Source: backend/src/controllers/aiController.js.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service proves that completed study contributes to recommendation analysis. It separates recorded prerequisites from broader same-subject background and avoids unsupported connections.</a:t>
            </a:r>
          </a:p>
          <a:p>
            <a:r>
              <a:t>Source: backend/src/services/completedCourseAnalysisService.js.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chat model does not select courses directly. The service first encodes the query and background into a vector. Dimension validation ensures compatibility with Course.embedding.</a:t>
            </a:r>
          </a:p>
          <a:p>
            <a:r>
              <a:t>Source: backend/src/services/aiService.js.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SQL passes vectors and filter values through parameters. A NOT EXISTS subquery excludes courses already completed by the current student.</a:t>
            </a:r>
          </a:p>
          <a:p>
            <a:r>
              <a:t>Source: backend/src/services/courseRetrievalService.js.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system prompt restricts the model to candidate data. parseRecommendationOutput filters course IDs outside the retrieved set. If GLM fails, the controller still returns semantic rankings with factual fallback text.</a:t>
            </a:r>
          </a:p>
          <a:p>
            <a:r>
              <a:t>Sources: backend/src/controllers/aiController.js and backend/src/services/llmService.js.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response contains candidate facts, AI reasons, completed-course analysis, execution mode, and a disclaimer. The frontend joins explanations to course cards by courseId.</a:t>
            </a:r>
          </a:p>
          <a:p>
            <a:r>
              <a:t>Sources: backend/src/controllers/aiController.js and frontend/src/views/AiRecommendation.vue.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Insert a 60 to 90 second MP4 showing the query, button click, loading state, recommendations, reasons, and completed-course analysis.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>
            <a:extLst>
              <a:ext uri="{FF2B5EF4-FFF2-40B4-BE49-F238E27FC236}">
                <a16:creationId xmlns:a16="http://schemas.microsoft.com/office/drawing/2014/main" id="{9A3211D5-C586-472A-B339-FA898CE5EAAA}"/>
              </a:ext>
            </a:extLst>
          </p:cNvPr>
          <p:cNvSpPr>
            <a:spLocks noGrp="1"/>
          </p:cNvSpPr>
          <p:nvPr/>
        </p:nvSpPr>
        <p:spPr>
          <a:xfrm>
            <a:off x="8048625" y="-1714500"/>
            <a:ext cx="5905500" cy="5905500"/>
          </a:xfrm>
          <a:prstGeom prst="ellipse">
            <a:avLst/>
          </a:prstGeom>
          <a:solidFill>
            <a:srgbClr val="202B61"/>
          </a:solidFill>
          <a:ln w="0">
            <a:solidFill>
              <a:srgbClr val="202B61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6A6FA08D-066B-4F87-8A72-ED406E9DA19C}"/>
              </a:ext>
            </a:extLst>
          </p:cNvPr>
          <p:cNvSpPr>
            <a:spLocks noGrp="1"/>
          </p:cNvSpPr>
          <p:nvPr/>
        </p:nvSpPr>
        <p:spPr>
          <a:xfrm>
            <a:off x="9525000" y="3714750"/>
            <a:ext cx="3143250" cy="3143250"/>
          </a:xfrm>
          <a:prstGeom prst="ellipse">
            <a:avLst/>
          </a:prstGeom>
          <a:solidFill>
            <a:srgbClr val="16284A"/>
          </a:solidFill>
          <a:ln w="0">
            <a:solidFill>
              <a:srgbClr val="16284A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F94A77-F8AB-43D7-9B8F-8F802C4F494D}"/>
              </a:ext>
            </a:extLst>
          </p:cNvPr>
          <p:cNvSpPr>
            <a:spLocks noGrp="1"/>
          </p:cNvSpPr>
          <p:nvPr/>
        </p:nvSpPr>
        <p:spPr>
          <a:xfrm>
            <a:off x="742950" y="685800"/>
            <a:ext cx="4762500" cy="34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650" b="1">
                <a:solidFill>
                  <a:srgbClr val="36D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6D9FF"/>
                </a:solidFill>
                <a:latin typeface="Microsoft YaHei"/>
                <a:ea typeface="Microsoft YaHei"/>
                <a:cs typeface="Microsoft YaHei"/>
              </a:rPr>
              <a:t>CourseCompass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473B886-0F79-4538-B0B6-22A0C49EA7F1}"/>
              </a:ext>
            </a:extLst>
          </p:cNvPr>
          <p:cNvSpPr>
            <a:spLocks noGrp="1"/>
          </p:cNvSpPr>
          <p:nvPr/>
        </p:nvSpPr>
        <p:spPr>
          <a:xfrm>
            <a:off x="742950" y="1619250"/>
            <a:ext cx="7239000" cy="781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40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AI Course Recommendations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0D1A57-4461-40B1-9A3C-2E55D64F8BF4}"/>
              </a:ext>
            </a:extLst>
          </p:cNvPr>
          <p:cNvSpPr>
            <a:spLocks noGrp="1"/>
          </p:cNvSpPr>
          <p:nvPr/>
        </p:nvSpPr>
        <p:spPr>
          <a:xfrm>
            <a:off x="781050" y="2571750"/>
            <a:ext cx="666750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0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endParaRPr sz="2025" b="0" dirty="0">
              <a:solidFill>
                <a:srgbClr val="AAB4D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1022342-A80D-4429-BCD0-F63453ACF7F3}"/>
              </a:ext>
            </a:extLst>
          </p:cNvPr>
          <p:cNvSpPr>
            <a:spLocks noGrp="1"/>
          </p:cNvSpPr>
          <p:nvPr/>
        </p:nvSpPr>
        <p:spPr>
          <a:xfrm>
            <a:off x="781050" y="3714750"/>
            <a:ext cx="6381750" cy="1123950"/>
          </a:xfrm>
          <a:prstGeom prst="roundRect">
            <a:avLst>
              <a:gd name="adj" fmla="val 6780"/>
            </a:avLst>
          </a:prstGeom>
          <a:solidFill>
            <a:srgbClr val="111932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A20D55-182B-4CD8-8090-5C53942D973E}"/>
              </a:ext>
            </a:extLst>
          </p:cNvPr>
          <p:cNvSpPr>
            <a:spLocks noGrp="1"/>
          </p:cNvSpPr>
          <p:nvPr/>
        </p:nvSpPr>
        <p:spPr>
          <a:xfrm>
            <a:off x="1028700" y="39052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EF448CC-ED66-4E92-9E5A-BEC144101C05}"/>
              </a:ext>
            </a:extLst>
          </p:cNvPr>
          <p:cNvSpPr>
            <a:spLocks noGrp="1"/>
          </p:cNvSpPr>
          <p:nvPr/>
        </p:nvSpPr>
        <p:spPr>
          <a:xfrm>
            <a:off x="2619375" y="39052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D28198-F920-45DC-BFA4-FA656DBAAF15}"/>
              </a:ext>
            </a:extLst>
          </p:cNvPr>
          <p:cNvSpPr>
            <a:spLocks noGrp="1"/>
          </p:cNvSpPr>
          <p:nvPr/>
        </p:nvSpPr>
        <p:spPr>
          <a:xfrm>
            <a:off x="4248150" y="3905250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Database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29FC4DF-501E-4B2F-9D2C-B4A5453AB2E6}"/>
              </a:ext>
            </a:extLst>
          </p:cNvPr>
          <p:cNvSpPr>
            <a:spLocks noGrp="1"/>
          </p:cNvSpPr>
          <p:nvPr/>
        </p:nvSpPr>
        <p:spPr>
          <a:xfrm>
            <a:off x="5953125" y="3905250"/>
            <a:ext cx="76200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678A083-6FFA-431E-9FF9-D64984E6AB0C}"/>
              </a:ext>
            </a:extLst>
          </p:cNvPr>
          <p:cNvSpPr>
            <a:spLocks noGrp="1"/>
          </p:cNvSpPr>
          <p:nvPr/>
        </p:nvSpPr>
        <p:spPr>
          <a:xfrm>
            <a:off x="1028700" y="4362450"/>
            <a:ext cx="58102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Vue  →  Express  →  Prisma / pgvector  →  SiliconFlow / GLM-4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A19AA5-1118-4102-B6A3-52961D3E595E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4095750" cy="266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2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Programming Project Demo</a:t>
            </a:r>
          </a:p>
        </p:txBody>
      </p:sp>
    </p:spTree>
    <p:extLst>
      <p:ext uri="{BB962C8B-B14F-4D97-AF65-F5344CB8AC3E}">
        <p14:creationId xmlns:p14="http://schemas.microsoft.com/office/powerpoint/2010/main" val="1170451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21DB667-4F0E-4AC9-9E0E-1D2600470F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34207C1-D760-4FD9-83BE-AD9A9A917E9D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Project Purpose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FD8932A-5EA1-4958-8543-73C79C10F077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CourseCompass supports university course selection and study planning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D4DACDC-27F5-481F-A9E2-6BE01D33EF3F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0A03AE-9963-4D56-9E3E-1A0CBE501D32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1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Students face fragmented information, complex prerequisites, and workloads that are difficult to compare.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AE4BAA3-4AAB-4824-BFC5-C1B162194124}"/>
              </a:ext>
            </a:extLst>
          </p:cNvPr>
          <p:cNvSpPr>
            <a:spLocks noGrp="1"/>
          </p:cNvSpPr>
          <p:nvPr/>
        </p:nvSpPr>
        <p:spPr>
          <a:xfrm>
            <a:off x="1714500" y="2343150"/>
            <a:ext cx="8763000" cy="28575"/>
          </a:xfrm>
          <a:prstGeom prst="rect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9AD620B-407A-470A-A75A-DA0149E32F43}"/>
              </a:ext>
            </a:extLst>
          </p:cNvPr>
          <p:cNvSpPr>
            <a:spLocks noGrp="1"/>
          </p:cNvSpPr>
          <p:nvPr/>
        </p:nvSpPr>
        <p:spPr>
          <a:xfrm>
            <a:off x="1066800" y="2781300"/>
            <a:ext cx="533400" cy="53340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D8AAF3-F414-4F72-914F-817E8CD22499}"/>
              </a:ext>
            </a:extLst>
          </p:cNvPr>
          <p:cNvSpPr>
            <a:spLocks noGrp="1"/>
          </p:cNvSpPr>
          <p:nvPr/>
        </p:nvSpPr>
        <p:spPr>
          <a:xfrm>
            <a:off x="1066800" y="2800350"/>
            <a:ext cx="5334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C4E127-0F85-4403-898F-F3FAFA28AEDB}"/>
              </a:ext>
            </a:extLst>
          </p:cNvPr>
          <p:cNvSpPr>
            <a:spLocks noGrp="1"/>
          </p:cNvSpPr>
          <p:nvPr/>
        </p:nvSpPr>
        <p:spPr>
          <a:xfrm>
            <a:off x="1866900" y="276225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Centralise course data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1AF0CFC-5505-4117-9A89-CCADDC125FEC}"/>
              </a:ext>
            </a:extLst>
          </p:cNvPr>
          <p:cNvSpPr>
            <a:spLocks noGrp="1"/>
          </p:cNvSpPr>
          <p:nvPr/>
        </p:nvSpPr>
        <p:spPr>
          <a:xfrm>
            <a:off x="4457700" y="276225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View descriptions, credits, prerequisites, semesters, assessment types, and workload in one place.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DFC5901-B11B-4DB0-B619-E6861DD34543}"/>
              </a:ext>
            </a:extLst>
          </p:cNvPr>
          <p:cNvSpPr>
            <a:spLocks noGrp="1"/>
          </p:cNvSpPr>
          <p:nvPr/>
        </p:nvSpPr>
        <p:spPr>
          <a:xfrm>
            <a:off x="1066800" y="3781425"/>
            <a:ext cx="533400" cy="53340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E665C3-A814-413F-9C1C-D6C01297AF1F}"/>
              </a:ext>
            </a:extLst>
          </p:cNvPr>
          <p:cNvSpPr>
            <a:spLocks noGrp="1"/>
          </p:cNvSpPr>
          <p:nvPr/>
        </p:nvSpPr>
        <p:spPr>
          <a:xfrm>
            <a:off x="1066800" y="3800475"/>
            <a:ext cx="5334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91D051-56E6-4956-B845-8570480FF9F4}"/>
              </a:ext>
            </a:extLst>
          </p:cNvPr>
          <p:cNvSpPr>
            <a:spLocks noGrp="1"/>
          </p:cNvSpPr>
          <p:nvPr/>
        </p:nvSpPr>
        <p:spPr>
          <a:xfrm>
            <a:off x="1866900" y="3762375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Support decisions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4ACC48-4EE5-41F7-9F3D-B838A09A7F55}"/>
              </a:ext>
            </a:extLst>
          </p:cNvPr>
          <p:cNvSpPr>
            <a:spLocks noGrp="1"/>
          </p:cNvSpPr>
          <p:nvPr/>
        </p:nvSpPr>
        <p:spPr>
          <a:xfrm>
            <a:off x="4457700" y="3762375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Use search, filters, saved courses, comparisons, and student reviews to evaluate options.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0A603A8-75A8-43AB-B3DE-F599E75E973B}"/>
              </a:ext>
            </a:extLst>
          </p:cNvPr>
          <p:cNvSpPr>
            <a:spLocks noGrp="1"/>
          </p:cNvSpPr>
          <p:nvPr/>
        </p:nvSpPr>
        <p:spPr>
          <a:xfrm>
            <a:off x="1066800" y="4781550"/>
            <a:ext cx="533400" cy="53340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A64020-109D-482B-BDB9-4861A87CF79F}"/>
              </a:ext>
            </a:extLst>
          </p:cNvPr>
          <p:cNvSpPr>
            <a:spLocks noGrp="1"/>
          </p:cNvSpPr>
          <p:nvPr/>
        </p:nvSpPr>
        <p:spPr>
          <a:xfrm>
            <a:off x="1066800" y="4800600"/>
            <a:ext cx="5334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03DC2F-B086-41B1-AC6D-7361CA4A22BE}"/>
              </a:ext>
            </a:extLst>
          </p:cNvPr>
          <p:cNvSpPr>
            <a:spLocks noGrp="1"/>
          </p:cNvSpPr>
          <p:nvPr/>
        </p:nvSpPr>
        <p:spPr>
          <a:xfrm>
            <a:off x="1866900" y="47625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Build study plans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0920E84-5B54-48F2-A0D8-3491D2F68AAE}"/>
              </a:ext>
            </a:extLst>
          </p:cNvPr>
          <p:cNvSpPr>
            <a:spLocks noGrp="1"/>
          </p:cNvSpPr>
          <p:nvPr/>
        </p:nvSpPr>
        <p:spPr>
          <a:xfrm>
            <a:off x="4457700" y="4762500"/>
            <a:ext cx="65722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Plan across semesters using completed courses, personal preferences, goals, and AI assistance.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4A233D-4453-405F-8116-BEB5B6FBEF39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108204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1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Scope based on the current repository README and implemented pages.</a:t>
            </a:r>
          </a:p>
        </p:txBody>
      </p:sp>
    </p:spTree>
    <p:extLst>
      <p:ext uri="{BB962C8B-B14F-4D97-AF65-F5344CB8AC3E}">
        <p14:creationId xmlns:p14="http://schemas.microsoft.com/office/powerpoint/2010/main" val="1643132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15AE29BB-87B1-4B05-8797-CDABF33A02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46F1BD-E3D6-4376-8DFD-E4DAE43552D8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User Roles and Core Features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F73F29E-28EE-489F-86DB-47884E07FC65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The application provides separate access for students, administrators, and moderators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8B0E85-9AF4-4688-AB69-86D8CD5D387A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8BAC06B-E4C9-49F1-A2A7-942CD0D03DE9}"/>
              </a:ext>
            </a:extLst>
          </p:cNvPr>
          <p:cNvSpPr>
            <a:spLocks noGrp="1"/>
          </p:cNvSpPr>
          <p:nvPr/>
        </p:nvSpPr>
        <p:spPr>
          <a:xfrm>
            <a:off x="1790700" y="1504950"/>
            <a:ext cx="552450" cy="55245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0B83480-BDDC-4F14-9F82-746562E97C89}"/>
              </a:ext>
            </a:extLst>
          </p:cNvPr>
          <p:cNvSpPr>
            <a:spLocks noGrp="1"/>
          </p:cNvSpPr>
          <p:nvPr/>
        </p:nvSpPr>
        <p:spPr>
          <a:xfrm>
            <a:off x="1790700" y="1524000"/>
            <a:ext cx="5524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E30CDF-6229-4D74-82F0-D183EBE1181C}"/>
              </a:ext>
            </a:extLst>
          </p:cNvPr>
          <p:cNvSpPr>
            <a:spLocks noGrp="1"/>
          </p:cNvSpPr>
          <p:nvPr/>
        </p:nvSpPr>
        <p:spPr>
          <a:xfrm>
            <a:off x="590550" y="226695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1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Student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07172B-226F-4751-83C2-88F8B0DCF98E}"/>
              </a:ext>
            </a:extLst>
          </p:cNvPr>
          <p:cNvSpPr>
            <a:spLocks noGrp="1"/>
          </p:cNvSpPr>
          <p:nvPr/>
        </p:nvSpPr>
        <p:spPr>
          <a:xfrm>
            <a:off x="590550" y="26670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36D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6D9FF"/>
                </a:solidFill>
                <a:latin typeface="Microsoft YaHei"/>
                <a:ea typeface="Microsoft YaHei"/>
                <a:cs typeface="Microsoft YaHei"/>
              </a:rPr>
              <a:t>Course selection and planning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BCA0045-4A07-4F64-9477-F213A53A086B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2381250" cy="28575"/>
          </a:xfrm>
          <a:prstGeom prst="rect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0827923-11FF-4C1E-96A7-A581B2C1365E}"/>
              </a:ext>
            </a:extLst>
          </p:cNvPr>
          <p:cNvSpPr>
            <a:spLocks noGrp="1"/>
          </p:cNvSpPr>
          <p:nvPr/>
        </p:nvSpPr>
        <p:spPr>
          <a:xfrm>
            <a:off x="990600" y="3371850"/>
            <a:ext cx="2152650" cy="2571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Browse and search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Filter, save, and compare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Track completed study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Build semester plans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Submit reviews and reports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Use AI recommendations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8500D31-F930-4B86-957B-E1CA81EBEA69}"/>
              </a:ext>
            </a:extLst>
          </p:cNvPr>
          <p:cNvSpPr>
            <a:spLocks noGrp="1"/>
          </p:cNvSpPr>
          <p:nvPr/>
        </p:nvSpPr>
        <p:spPr>
          <a:xfrm>
            <a:off x="5372100" y="1504950"/>
            <a:ext cx="552450" cy="5524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3D266B-29E2-4AF8-A6D0-124C673948BE}"/>
              </a:ext>
            </a:extLst>
          </p:cNvPr>
          <p:cNvSpPr>
            <a:spLocks noGrp="1"/>
          </p:cNvSpPr>
          <p:nvPr/>
        </p:nvSpPr>
        <p:spPr>
          <a:xfrm>
            <a:off x="5372100" y="1524000"/>
            <a:ext cx="5524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C39D349-235F-49FC-9F13-03D83695F6D4}"/>
              </a:ext>
            </a:extLst>
          </p:cNvPr>
          <p:cNvSpPr>
            <a:spLocks noGrp="1"/>
          </p:cNvSpPr>
          <p:nvPr/>
        </p:nvSpPr>
        <p:spPr>
          <a:xfrm>
            <a:off x="4171950" y="226695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1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Administrator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7E12B8-BADF-4F27-B6E4-D6FD6AE5C418}"/>
              </a:ext>
            </a:extLst>
          </p:cNvPr>
          <p:cNvSpPr>
            <a:spLocks noGrp="1"/>
          </p:cNvSpPr>
          <p:nvPr/>
        </p:nvSpPr>
        <p:spPr>
          <a:xfrm>
            <a:off x="4171950" y="26670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62E3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2E3A8"/>
                </a:solidFill>
                <a:latin typeface="Microsoft YaHei"/>
                <a:ea typeface="Microsoft YaHei"/>
                <a:cs typeface="Microsoft YaHei"/>
              </a:rPr>
              <a:t>Course and account management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B4D2C82-0DB9-4619-9A1C-062D27CA2CBE}"/>
              </a:ext>
            </a:extLst>
          </p:cNvPr>
          <p:cNvSpPr>
            <a:spLocks noGrp="1"/>
          </p:cNvSpPr>
          <p:nvPr/>
        </p:nvSpPr>
        <p:spPr>
          <a:xfrm>
            <a:off x="4457700" y="3124200"/>
            <a:ext cx="2381250" cy="28575"/>
          </a:xfrm>
          <a:prstGeom prst="rect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D428C73-881C-4D5F-8899-30E0DF91FB10}"/>
              </a:ext>
            </a:extLst>
          </p:cNvPr>
          <p:cNvSpPr>
            <a:spLocks noGrp="1"/>
          </p:cNvSpPr>
          <p:nvPr/>
        </p:nvSpPr>
        <p:spPr>
          <a:xfrm>
            <a:off x="4572000" y="3371850"/>
            <a:ext cx="2152650" cy="2571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Maintain course records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Control availability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View system statistics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Create staff accounts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Change user roles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616379A-9B01-4CD8-8E49-6F9B826E13F3}"/>
              </a:ext>
            </a:extLst>
          </p:cNvPr>
          <p:cNvSpPr>
            <a:spLocks noGrp="1"/>
          </p:cNvSpPr>
          <p:nvPr/>
        </p:nvSpPr>
        <p:spPr>
          <a:xfrm>
            <a:off x="8953500" y="1504950"/>
            <a:ext cx="552450" cy="5524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FBD33B5-B9BF-4E0C-90DB-DB84C0B16F99}"/>
              </a:ext>
            </a:extLst>
          </p:cNvPr>
          <p:cNvSpPr>
            <a:spLocks noGrp="1"/>
          </p:cNvSpPr>
          <p:nvPr/>
        </p:nvSpPr>
        <p:spPr>
          <a:xfrm>
            <a:off x="8953500" y="1524000"/>
            <a:ext cx="552450" cy="5143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4670542-1708-41F5-B13E-18E51102F9CF}"/>
              </a:ext>
            </a:extLst>
          </p:cNvPr>
          <p:cNvSpPr>
            <a:spLocks noGrp="1"/>
          </p:cNvSpPr>
          <p:nvPr/>
        </p:nvSpPr>
        <p:spPr>
          <a:xfrm>
            <a:off x="7753350" y="2266950"/>
            <a:ext cx="29527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21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Moderator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A2B0B04-89E7-49A1-B3F6-A6A88919ABAE}"/>
              </a:ext>
            </a:extLst>
          </p:cNvPr>
          <p:cNvSpPr>
            <a:spLocks noGrp="1"/>
          </p:cNvSpPr>
          <p:nvPr/>
        </p:nvSpPr>
        <p:spPr>
          <a:xfrm>
            <a:off x="7753350" y="2667000"/>
            <a:ext cx="2952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1">
                <a:solidFill>
                  <a:srgbClr val="FFCC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CC66"/>
                </a:solidFill>
                <a:latin typeface="Microsoft YaHei"/>
                <a:ea typeface="Microsoft YaHei"/>
                <a:cs typeface="Microsoft YaHei"/>
              </a:rPr>
              <a:t>Content quality control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48CDC05-203D-4AF6-B06D-699669C9F422}"/>
              </a:ext>
            </a:extLst>
          </p:cNvPr>
          <p:cNvSpPr>
            <a:spLocks noGrp="1"/>
          </p:cNvSpPr>
          <p:nvPr/>
        </p:nvSpPr>
        <p:spPr>
          <a:xfrm>
            <a:off x="8039100" y="3124200"/>
            <a:ext cx="2381250" cy="28575"/>
          </a:xfrm>
          <a:prstGeom prst="rect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E0A3B16-724C-415D-A7FC-4D140896BBB7}"/>
              </a:ext>
            </a:extLst>
          </p:cNvPr>
          <p:cNvSpPr>
            <a:spLocks noGrp="1"/>
          </p:cNvSpPr>
          <p:nvPr/>
        </p:nvSpPr>
        <p:spPr>
          <a:xfrm>
            <a:off x="8153400" y="3371850"/>
            <a:ext cx="2152650" cy="2571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Review pending content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Approve or reject reviews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Process reports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Monitor moderation queues</a:t>
            </a:r>
          </a:p>
          <a:p>
            <a:pPr algn="ctr">
              <a:def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88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Trigger notifications</a:t>
            </a:r>
          </a:p>
        </p:txBody>
      </p:sp>
    </p:spTree>
    <p:extLst>
      <p:ext uri="{BB962C8B-B14F-4D97-AF65-F5344CB8AC3E}">
        <p14:creationId xmlns:p14="http://schemas.microsoft.com/office/powerpoint/2010/main" val="1765475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B2B98974-34A1-4CCB-BC1F-C397AE97D53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617D02-4A11-429C-85FC-E5671AF5BB0E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System Architecture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EC1256-2973-48C0-B32C-8D2560B5AA0E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The backend coordinates database retrieval and external AI services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59CC89-D5F9-447F-837E-EDF7553FB8E4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50F667B-1FCF-4792-A98C-F8B5798320D4}"/>
              </a:ext>
            </a:extLst>
          </p:cNvPr>
          <p:cNvSpPr>
            <a:spLocks noGrp="1"/>
          </p:cNvSpPr>
          <p:nvPr/>
        </p:nvSpPr>
        <p:spPr>
          <a:xfrm>
            <a:off x="514350" y="1943100"/>
            <a:ext cx="2381250" cy="2647950"/>
          </a:xfrm>
          <a:prstGeom prst="roundRect">
            <a:avLst>
              <a:gd name="adj" fmla="val 3200"/>
            </a:avLst>
          </a:prstGeom>
          <a:solidFill>
            <a:srgbClr val="111932"/>
          </a:solidFill>
          <a:ln w="13335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84454D-CACB-4BCD-8900-663FB09681A1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Web Frontend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22A293A-0DE1-44BB-A58A-9145E02E838E}"/>
              </a:ext>
            </a:extLst>
          </p:cNvPr>
          <p:cNvSpPr>
            <a:spLocks noGrp="1"/>
          </p:cNvSpPr>
          <p:nvPr/>
        </p:nvSpPr>
        <p:spPr>
          <a:xfrm>
            <a:off x="895350" y="2781300"/>
            <a:ext cx="1619250" cy="28575"/>
          </a:xfrm>
          <a:prstGeom prst="rect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4659485-4258-40AC-A32E-F231051D16D8}"/>
              </a:ext>
            </a:extLst>
          </p:cNvPr>
          <p:cNvSpPr>
            <a:spLocks noGrp="1"/>
          </p:cNvSpPr>
          <p:nvPr/>
        </p:nvSpPr>
        <p:spPr>
          <a:xfrm>
            <a:off x="742950" y="3105150"/>
            <a:ext cx="192405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Vue 3 + Vite</a:t>
            </a:r>
          </a:p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Vue Router + Pinia</a:t>
            </a:r>
          </a:p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Element Plus + Axios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3E305A9-444C-4B9F-ACE6-CD064429D9D9}"/>
              </a:ext>
            </a:extLst>
          </p:cNvPr>
          <p:cNvSpPr>
            <a:spLocks noGrp="1"/>
          </p:cNvSpPr>
          <p:nvPr/>
        </p:nvSpPr>
        <p:spPr>
          <a:xfrm>
            <a:off x="2962275" y="3048000"/>
            <a:ext cx="428625" cy="266700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0202E66B-8208-4CD1-8BD2-59055B85761B}"/>
              </a:ext>
            </a:extLst>
          </p:cNvPr>
          <p:cNvSpPr>
            <a:spLocks noGrp="1"/>
          </p:cNvSpPr>
          <p:nvPr/>
        </p:nvSpPr>
        <p:spPr>
          <a:xfrm>
            <a:off x="3486150" y="1943100"/>
            <a:ext cx="2381250" cy="2647950"/>
          </a:xfrm>
          <a:prstGeom prst="roundRect">
            <a:avLst>
              <a:gd name="adj" fmla="val 3200"/>
            </a:avLst>
          </a:prstGeom>
          <a:solidFill>
            <a:srgbClr val="111932"/>
          </a:solidFill>
          <a:ln w="13335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3F9C3EA-062A-4F1D-9940-1526BB97B5DF}"/>
              </a:ext>
            </a:extLst>
          </p:cNvPr>
          <p:cNvSpPr>
            <a:spLocks noGrp="1"/>
          </p:cNvSpPr>
          <p:nvPr/>
        </p:nvSpPr>
        <p:spPr>
          <a:xfrm>
            <a:off x="3657600" y="2190750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Backend API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11C506F-5D84-4714-A98D-1AF59F82A9DD}"/>
              </a:ext>
            </a:extLst>
          </p:cNvPr>
          <p:cNvSpPr>
            <a:spLocks noGrp="1"/>
          </p:cNvSpPr>
          <p:nvPr/>
        </p:nvSpPr>
        <p:spPr>
          <a:xfrm>
            <a:off x="3867150" y="2781300"/>
            <a:ext cx="1619250" cy="28575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80379D-3780-417A-A6B0-C8D981258FEF}"/>
              </a:ext>
            </a:extLst>
          </p:cNvPr>
          <p:cNvSpPr>
            <a:spLocks noGrp="1"/>
          </p:cNvSpPr>
          <p:nvPr/>
        </p:nvSpPr>
        <p:spPr>
          <a:xfrm>
            <a:off x="3714750" y="3105150"/>
            <a:ext cx="192405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Node.js + Express</a:t>
            </a:r>
          </a:p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JWT and role checks</a:t>
            </a:r>
          </a:p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Services and rate limits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7D915FAD-09BB-4DE6-A0A4-104ACA8CE4FB}"/>
              </a:ext>
            </a:extLst>
          </p:cNvPr>
          <p:cNvSpPr>
            <a:spLocks noGrp="1"/>
          </p:cNvSpPr>
          <p:nvPr/>
        </p:nvSpPr>
        <p:spPr>
          <a:xfrm>
            <a:off x="5934075" y="3048000"/>
            <a:ext cx="428625" cy="266700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310DD6C-F21E-4594-AD78-68702405A2AE}"/>
              </a:ext>
            </a:extLst>
          </p:cNvPr>
          <p:cNvSpPr>
            <a:spLocks noGrp="1"/>
          </p:cNvSpPr>
          <p:nvPr/>
        </p:nvSpPr>
        <p:spPr>
          <a:xfrm>
            <a:off x="6457950" y="1943100"/>
            <a:ext cx="2381250" cy="2647950"/>
          </a:xfrm>
          <a:prstGeom prst="roundRect">
            <a:avLst>
              <a:gd name="adj" fmla="val 3200"/>
            </a:avLst>
          </a:prstGeom>
          <a:solidFill>
            <a:srgbClr val="111932"/>
          </a:solidFill>
          <a:ln w="13335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D6AED8A-72BB-4535-8DC4-4C3FC985FDAF}"/>
              </a:ext>
            </a:extLst>
          </p:cNvPr>
          <p:cNvSpPr>
            <a:spLocks noGrp="1"/>
          </p:cNvSpPr>
          <p:nvPr/>
        </p:nvSpPr>
        <p:spPr>
          <a:xfrm>
            <a:off x="6629400" y="2190750"/>
            <a:ext cx="20383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Data Layer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2E70818-B61B-4B63-A065-7016127694AB}"/>
              </a:ext>
            </a:extLst>
          </p:cNvPr>
          <p:cNvSpPr>
            <a:spLocks noGrp="1"/>
          </p:cNvSpPr>
          <p:nvPr/>
        </p:nvSpPr>
        <p:spPr>
          <a:xfrm>
            <a:off x="6838950" y="2781300"/>
            <a:ext cx="1619250" cy="28575"/>
          </a:xfrm>
          <a:prstGeom prst="rect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50C6C46-6522-471F-A9A4-F7DE3116F018}"/>
              </a:ext>
            </a:extLst>
          </p:cNvPr>
          <p:cNvSpPr>
            <a:spLocks noGrp="1"/>
          </p:cNvSpPr>
          <p:nvPr/>
        </p:nvSpPr>
        <p:spPr>
          <a:xfrm>
            <a:off x="6686550" y="3105150"/>
            <a:ext cx="192405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Prisma ORM</a:t>
            </a:r>
          </a:p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PostgreSQL / Supabase</a:t>
            </a:r>
          </a:p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pgvector search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8FF70E7C-755B-4B19-8D9E-1E7FD8588D64}"/>
              </a:ext>
            </a:extLst>
          </p:cNvPr>
          <p:cNvSpPr>
            <a:spLocks noGrp="1"/>
          </p:cNvSpPr>
          <p:nvPr/>
        </p:nvSpPr>
        <p:spPr>
          <a:xfrm>
            <a:off x="8905875" y="3048000"/>
            <a:ext cx="428625" cy="266700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8521F33B-2C3F-4A25-925E-554EF2962E05}"/>
              </a:ext>
            </a:extLst>
          </p:cNvPr>
          <p:cNvSpPr>
            <a:spLocks noGrp="1"/>
          </p:cNvSpPr>
          <p:nvPr/>
        </p:nvSpPr>
        <p:spPr>
          <a:xfrm>
            <a:off x="9429750" y="1943100"/>
            <a:ext cx="2247900" cy="2647950"/>
          </a:xfrm>
          <a:prstGeom prst="roundRect">
            <a:avLst>
              <a:gd name="adj" fmla="val 3390"/>
            </a:avLst>
          </a:prstGeom>
          <a:solidFill>
            <a:srgbClr val="111932"/>
          </a:solidFill>
          <a:ln w="13335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9B8134A-2197-4C34-810D-A9971C6F43CE}"/>
              </a:ext>
            </a:extLst>
          </p:cNvPr>
          <p:cNvSpPr>
            <a:spLocks noGrp="1"/>
          </p:cNvSpPr>
          <p:nvPr/>
        </p:nvSpPr>
        <p:spPr>
          <a:xfrm>
            <a:off x="9601200" y="2190750"/>
            <a:ext cx="1905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AI Services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9844B77-C184-414F-87AD-074C948FFEBA}"/>
              </a:ext>
            </a:extLst>
          </p:cNvPr>
          <p:cNvSpPr>
            <a:spLocks noGrp="1"/>
          </p:cNvSpPr>
          <p:nvPr/>
        </p:nvSpPr>
        <p:spPr>
          <a:xfrm>
            <a:off x="9810750" y="2781300"/>
            <a:ext cx="1485900" cy="28575"/>
          </a:xfrm>
          <a:prstGeom prst="rect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5212AB-6217-4B52-9FE8-567D85CD2CE8}"/>
              </a:ext>
            </a:extLst>
          </p:cNvPr>
          <p:cNvSpPr>
            <a:spLocks noGrp="1"/>
          </p:cNvSpPr>
          <p:nvPr/>
        </p:nvSpPr>
        <p:spPr>
          <a:xfrm>
            <a:off x="9658350" y="3105150"/>
            <a:ext cx="1790700" cy="1143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BAAI/bge-m3</a:t>
            </a:r>
          </a:p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1024-D embeddings</a:t>
            </a:r>
          </a:p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Zhipu GLM-4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38551B5-12AF-4539-9F28-B0B68FB41B55}"/>
              </a:ext>
            </a:extLst>
          </p:cNvPr>
          <p:cNvSpPr>
            <a:spLocks noGrp="1"/>
          </p:cNvSpPr>
          <p:nvPr/>
        </p:nvSpPr>
        <p:spPr>
          <a:xfrm>
            <a:off x="838200" y="5276850"/>
            <a:ext cx="10515600" cy="4953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0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The browser calls only the backend API. Database credentials and AI keys remain in server environment variables.</a:t>
            </a:r>
          </a:p>
        </p:txBody>
      </p:sp>
    </p:spTree>
    <p:extLst>
      <p:ext uri="{BB962C8B-B14F-4D97-AF65-F5344CB8AC3E}">
        <p14:creationId xmlns:p14="http://schemas.microsoft.com/office/powerpoint/2010/main" val="490677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CB745FC2-245A-47B9-B445-3D6424B2F45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E1328F-2F0D-4096-AB2D-76AE4ED47A01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Prisma Data Model Overview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B92B62-F51A-47BF-8EC8-F723D8D698A4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schema.prisma defines PostgreSQL tables, relationships, constraints, enums, and indexes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1388B8-6DD7-46C4-A21A-5BDA514834F2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E0701E46-A71A-40F4-867C-0BE15B30DFDB}"/>
              </a:ext>
            </a:extLst>
          </p:cNvPr>
          <p:cNvSpPr>
            <a:spLocks noGrp="1"/>
          </p:cNvSpPr>
          <p:nvPr/>
        </p:nvSpPr>
        <p:spPr>
          <a:xfrm>
            <a:off x="514350" y="1581150"/>
            <a:ext cx="3390900" cy="3810000"/>
          </a:xfrm>
          <a:prstGeom prst="roundRect">
            <a:avLst>
              <a:gd name="adj" fmla="val 2247"/>
            </a:avLst>
          </a:prstGeom>
          <a:solidFill>
            <a:srgbClr val="111932"/>
          </a:solidFill>
          <a:ln w="13335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12E083-81EE-405D-A908-54E4C855AC92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Student Learning State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2BA074-C7BB-4FEF-8D3E-BCEF228C11D2}"/>
              </a:ext>
            </a:extLst>
          </p:cNvPr>
          <p:cNvSpPr>
            <a:spLocks noGrp="1"/>
          </p:cNvSpPr>
          <p:nvPr/>
        </p:nvSpPr>
        <p:spPr>
          <a:xfrm>
            <a:off x="1200150" y="2324100"/>
            <a:ext cx="2019300" cy="28575"/>
          </a:xfrm>
          <a:prstGeom prst="rect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023A5B-40AC-4B1E-AE81-91FE464BD904}"/>
              </a:ext>
            </a:extLst>
          </p:cNvPr>
          <p:cNvSpPr>
            <a:spLocks noGrp="1"/>
          </p:cNvSpPr>
          <p:nvPr/>
        </p:nvSpPr>
        <p:spPr>
          <a:xfrm>
            <a:off x="895350" y="2609850"/>
            <a:ext cx="26289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User</a:t>
            </a:r>
          </a:p>
          <a:p>
            <a:pPr algn="ctr">
              <a:defRPr sz="1500" b="1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SavedCourse</a:t>
            </a:r>
          </a:p>
          <a:p>
            <a:pPr algn="ctr">
              <a:defRPr sz="1500" b="1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CompletedCourse</a:t>
            </a:r>
          </a:p>
          <a:p>
            <a:pPr algn="ctr">
              <a:defRPr sz="1500" b="1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SemesterPlan + PlanCourse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239988-E293-4624-89A8-5B475CAA5E28}"/>
              </a:ext>
            </a:extLst>
          </p:cNvPr>
          <p:cNvSpPr>
            <a:spLocks noGrp="1"/>
          </p:cNvSpPr>
          <p:nvPr/>
        </p:nvSpPr>
        <p:spPr>
          <a:xfrm>
            <a:off x="838200" y="4267200"/>
            <a:ext cx="27432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Profiles, saved courses, completed study, and multi-semester plans</a:t>
            </a: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4460A78B-F06A-45BA-97A1-60C0DD55A8B3}"/>
              </a:ext>
            </a:extLst>
          </p:cNvPr>
          <p:cNvSpPr>
            <a:spLocks noGrp="1"/>
          </p:cNvSpPr>
          <p:nvPr/>
        </p:nvSpPr>
        <p:spPr>
          <a:xfrm>
            <a:off x="4010025" y="3276600"/>
            <a:ext cx="342900" cy="238125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D43A8E5A-00E2-4079-8479-BF9A6840C3FE}"/>
              </a:ext>
            </a:extLst>
          </p:cNvPr>
          <p:cNvSpPr>
            <a:spLocks noGrp="1"/>
          </p:cNvSpPr>
          <p:nvPr/>
        </p:nvSpPr>
        <p:spPr>
          <a:xfrm>
            <a:off x="4400550" y="1581150"/>
            <a:ext cx="3390900" cy="3810000"/>
          </a:xfrm>
          <a:prstGeom prst="roundRect">
            <a:avLst>
              <a:gd name="adj" fmla="val 2247"/>
            </a:avLst>
          </a:prstGeom>
          <a:solidFill>
            <a:srgbClr val="111932"/>
          </a:solidFill>
          <a:ln w="13335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F5942DD-8658-41BE-BD1A-A5C819C2A75B}"/>
              </a:ext>
            </a:extLst>
          </p:cNvPr>
          <p:cNvSpPr>
            <a:spLocks noGrp="1"/>
          </p:cNvSpPr>
          <p:nvPr/>
        </p:nvSpPr>
        <p:spPr>
          <a:xfrm>
            <a:off x="4629150" y="1809750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Course Catalogue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1725910-06C3-4AA1-9D3F-01EF39B93332}"/>
              </a:ext>
            </a:extLst>
          </p:cNvPr>
          <p:cNvSpPr>
            <a:spLocks noGrp="1"/>
          </p:cNvSpPr>
          <p:nvPr/>
        </p:nvSpPr>
        <p:spPr>
          <a:xfrm>
            <a:off x="5086350" y="2324100"/>
            <a:ext cx="2019300" cy="28575"/>
          </a:xfrm>
          <a:prstGeom prst="rect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E08A46-7FB1-419C-A6B4-BD8DECC0F0FA}"/>
              </a:ext>
            </a:extLst>
          </p:cNvPr>
          <p:cNvSpPr>
            <a:spLocks noGrp="1"/>
          </p:cNvSpPr>
          <p:nvPr/>
        </p:nvSpPr>
        <p:spPr>
          <a:xfrm>
            <a:off x="4781550" y="2609850"/>
            <a:ext cx="26289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62E3A8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62E3A8"/>
                </a:solidFill>
                <a:latin typeface="Consolas"/>
                <a:ea typeface="Consolas"/>
                <a:cs typeface="Consolas"/>
              </a:rPr>
              <a:t>Course</a:t>
            </a:r>
          </a:p>
          <a:p>
            <a:pPr algn="ctr">
              <a:defRPr sz="1500" b="1">
                <a:solidFill>
                  <a:srgbClr val="62E3A8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62E3A8"/>
                </a:solidFill>
                <a:latin typeface="Consolas"/>
                <a:ea typeface="Consolas"/>
                <a:cs typeface="Consolas"/>
              </a:rPr>
              <a:t>Subject</a:t>
            </a:r>
          </a:p>
          <a:p>
            <a:pPr algn="ctr">
              <a:defRPr sz="1500" b="1">
                <a:solidFill>
                  <a:srgbClr val="62E3A8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62E3A8"/>
                </a:solidFill>
                <a:latin typeface="Consolas"/>
                <a:ea typeface="Consolas"/>
                <a:cs typeface="Consolas"/>
              </a:rPr>
              <a:t>Course.prerequisites</a:t>
            </a:r>
          </a:p>
          <a:p>
            <a:pPr algn="ctr">
              <a:defRPr sz="1500" b="1">
                <a:solidFill>
                  <a:srgbClr val="62E3A8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62E3A8"/>
                </a:solidFill>
                <a:latin typeface="Consolas"/>
                <a:ea typeface="Consolas"/>
                <a:cs typeface="Consolas"/>
              </a:rPr>
              <a:t>embedding vector(1024)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19F248A-6023-4554-8685-CF1BA5D7E4DB}"/>
              </a:ext>
            </a:extLst>
          </p:cNvPr>
          <p:cNvSpPr>
            <a:spLocks noGrp="1"/>
          </p:cNvSpPr>
          <p:nvPr/>
        </p:nvSpPr>
        <p:spPr>
          <a:xfrm>
            <a:off x="4724400" y="4267200"/>
            <a:ext cx="27432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Course facts, subjects, prerequisite self-relations, and semantic vectors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4433D0B1-7D02-4F3A-967B-D5C177210B2B}"/>
              </a:ext>
            </a:extLst>
          </p:cNvPr>
          <p:cNvSpPr>
            <a:spLocks noGrp="1"/>
          </p:cNvSpPr>
          <p:nvPr/>
        </p:nvSpPr>
        <p:spPr>
          <a:xfrm>
            <a:off x="7896225" y="3276600"/>
            <a:ext cx="342900" cy="238125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DBF9439F-B05B-4512-80E6-5ACF889E9787}"/>
              </a:ext>
            </a:extLst>
          </p:cNvPr>
          <p:cNvSpPr>
            <a:spLocks noGrp="1"/>
          </p:cNvSpPr>
          <p:nvPr/>
        </p:nvSpPr>
        <p:spPr>
          <a:xfrm>
            <a:off x="8286750" y="1581150"/>
            <a:ext cx="3390900" cy="3810000"/>
          </a:xfrm>
          <a:prstGeom prst="roundRect">
            <a:avLst>
              <a:gd name="adj" fmla="val 2247"/>
            </a:avLst>
          </a:prstGeom>
          <a:solidFill>
            <a:srgbClr val="111932"/>
          </a:solidFill>
          <a:ln w="13335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8A4ADC-F421-46BB-8C4C-F7678269C962}"/>
              </a:ext>
            </a:extLst>
          </p:cNvPr>
          <p:cNvSpPr>
            <a:spLocks noGrp="1"/>
          </p:cNvSpPr>
          <p:nvPr/>
        </p:nvSpPr>
        <p:spPr>
          <a:xfrm>
            <a:off x="8515350" y="1809750"/>
            <a:ext cx="2933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Reviews and Alerts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14BE3F-F90F-466F-828B-BCEF91F091B9}"/>
              </a:ext>
            </a:extLst>
          </p:cNvPr>
          <p:cNvSpPr>
            <a:spLocks noGrp="1"/>
          </p:cNvSpPr>
          <p:nvPr/>
        </p:nvSpPr>
        <p:spPr>
          <a:xfrm>
            <a:off x="8972550" y="2324100"/>
            <a:ext cx="2019300" cy="28575"/>
          </a:xfrm>
          <a:prstGeom prst="rect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8C724B3-52CD-4AFA-8143-50868D4D57EA}"/>
              </a:ext>
            </a:extLst>
          </p:cNvPr>
          <p:cNvSpPr>
            <a:spLocks noGrp="1"/>
          </p:cNvSpPr>
          <p:nvPr/>
        </p:nvSpPr>
        <p:spPr>
          <a:xfrm>
            <a:off x="8667750" y="2609850"/>
            <a:ext cx="2628900" cy="1428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FFCC6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CC66"/>
                </a:solidFill>
                <a:latin typeface="Consolas"/>
                <a:ea typeface="Consolas"/>
                <a:cs typeface="Consolas"/>
              </a:rPr>
              <a:t>Review</a:t>
            </a:r>
          </a:p>
          <a:p>
            <a:pPr algn="ctr">
              <a:defRPr sz="1500" b="1">
                <a:solidFill>
                  <a:srgbClr val="FFCC6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CC66"/>
                </a:solidFill>
                <a:latin typeface="Consolas"/>
                <a:ea typeface="Consolas"/>
                <a:cs typeface="Consolas"/>
              </a:rPr>
              <a:t>ReviewReport</a:t>
            </a:r>
          </a:p>
          <a:p>
            <a:pPr algn="ctr">
              <a:defRPr sz="1500" b="1">
                <a:solidFill>
                  <a:srgbClr val="FFCC66"/>
                </a:solidFill>
                <a:latin typeface="Consolas"/>
                <a:ea typeface="Consolas"/>
                <a:cs typeface="Consolas"/>
              </a:defRPr>
            </a:pPr>
            <a:r>
              <a:rPr sz="1500" b="1">
                <a:solidFill>
                  <a:srgbClr val="FFCC66"/>
                </a:solidFill>
                <a:latin typeface="Consolas"/>
                <a:ea typeface="Consolas"/>
                <a:cs typeface="Consolas"/>
              </a:rPr>
              <a:t>Notification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8327E7-0AFC-463B-AC23-60B149BC9C46}"/>
              </a:ext>
            </a:extLst>
          </p:cNvPr>
          <p:cNvSpPr>
            <a:spLocks noGrp="1"/>
          </p:cNvSpPr>
          <p:nvPr/>
        </p:nvSpPr>
        <p:spPr>
          <a:xfrm>
            <a:off x="8610600" y="4267200"/>
            <a:ext cx="27432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Course reviews, report moderation status, and in-app notifications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0D11E69-F616-4D45-BD4B-BC6CCFED0824}"/>
              </a:ext>
            </a:extLst>
          </p:cNvPr>
          <p:cNvSpPr>
            <a:spLocks noGrp="1"/>
          </p:cNvSpPr>
          <p:nvPr/>
        </p:nvSpPr>
        <p:spPr>
          <a:xfrm>
            <a:off x="685800" y="577215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User and Course connect through saved courses, completion records, reviews, and study plans.</a:t>
            </a:r>
          </a:p>
        </p:txBody>
      </p:sp>
    </p:spTree>
    <p:extLst>
      <p:ext uri="{BB962C8B-B14F-4D97-AF65-F5344CB8AC3E}">
        <p14:creationId xmlns:p14="http://schemas.microsoft.com/office/powerpoint/2010/main" val="7734509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B842B31-8A3E-47BE-B1E9-A50C764F58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673AE70-A093-4079-B062-96B42DC5ACFD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Schema Fields Used by AI Recommendations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0D189F-4E5B-4985-83C2-ACCA24FE2BF8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The workflow reads learning context and course facts, then searches Course.embedding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E8B410-46A1-4874-A982-36EE367D02D8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551B738-C3D9-4AC6-8C81-EDDFBE06D623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7239000" cy="476250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5F16788-C07F-44A8-958C-C8A16A3E2BF6}"/>
              </a:ext>
            </a:extLst>
          </p:cNvPr>
          <p:cNvSpPr>
            <a:spLocks noGrp="1"/>
          </p:cNvSpPr>
          <p:nvPr/>
        </p:nvSpPr>
        <p:spPr>
          <a:xfrm>
            <a:off x="514350" y="1352550"/>
            <a:ext cx="723900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2D35F84-3AE8-4C15-9849-999A078877BA}"/>
              </a:ext>
            </a:extLst>
          </p:cNvPr>
          <p:cNvSpPr>
            <a:spLocks noGrp="1"/>
          </p:cNvSpPr>
          <p:nvPr/>
        </p:nvSpPr>
        <p:spPr>
          <a:xfrm>
            <a:off x="647700" y="1466850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3D80782-EF84-4B5D-8F3B-B9B2F3B86230}"/>
              </a:ext>
            </a:extLst>
          </p:cNvPr>
          <p:cNvSpPr>
            <a:spLocks noGrp="1"/>
          </p:cNvSpPr>
          <p:nvPr/>
        </p:nvSpPr>
        <p:spPr>
          <a:xfrm>
            <a:off x="800100" y="1466850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1A37063-EFB1-403C-A6E3-BC2A3E5EDE51}"/>
              </a:ext>
            </a:extLst>
          </p:cNvPr>
          <p:cNvSpPr>
            <a:spLocks noGrp="1"/>
          </p:cNvSpPr>
          <p:nvPr/>
        </p:nvSpPr>
        <p:spPr>
          <a:xfrm>
            <a:off x="952500" y="1466850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E1EFFA-AD00-41F1-B3C2-62EAB4114917}"/>
              </a:ext>
            </a:extLst>
          </p:cNvPr>
          <p:cNvSpPr>
            <a:spLocks noGrp="1"/>
          </p:cNvSpPr>
          <p:nvPr/>
        </p:nvSpPr>
        <p:spPr>
          <a:xfrm>
            <a:off x="1162050" y="1400175"/>
            <a:ext cx="64579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62E3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2E3A8"/>
                </a:solidFill>
                <a:latin typeface="Consolas"/>
                <a:ea typeface="Consolas"/>
                <a:cs typeface="Consolas"/>
              </a:rPr>
              <a:t>backend/prisma/schema.prisma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1CEC52-6B5B-46B8-B955-0C3ABBD236A1}"/>
              </a:ext>
            </a:extLst>
          </p:cNvPr>
          <p:cNvSpPr>
            <a:spLocks noGrp="1"/>
          </p:cNvSpPr>
          <p:nvPr/>
        </p:nvSpPr>
        <p:spPr>
          <a:xfrm>
            <a:off x="685800" y="1771650"/>
            <a:ext cx="6915150" cy="424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model User {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id                  Int      @id @default(autoincrement())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major               String?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studyYear           Int?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interests           String[] @default([])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goals               String[] @default([])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planningPreferences Json?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savedCourses        SavedCourse[]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completedCourses    CompletedCourse[]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885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model Course {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id               Int              @id @default(autoincrement())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code             String           @unique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description      String?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credits          Int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workloadHours    Int?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offeredSemesters CourseSemester[] @default([])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assessmentTypes  AssessmentType[] @default([])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subjectId        Int?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embedding        Unsupported("vector(1024)")?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prerequisites    Course[] @relation("CoursePrerequisites")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885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model CompletedCourse {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userId   Int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courseId Int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user     User   @relation(fields: [userId], references: [id])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course   Course @relation(fields: [courseId], references: [id])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@@id([userId, courseId])</a:t>
            </a:r>
          </a:p>
          <a:p>
            <a:pPr algn="l">
              <a:defRPr sz="88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88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1AF5B1F1-D2C6-4D5F-A741-42A3BDF2E1CA}"/>
              </a:ext>
            </a:extLst>
          </p:cNvPr>
          <p:cNvSpPr>
            <a:spLocks noGrp="1"/>
          </p:cNvSpPr>
          <p:nvPr/>
        </p:nvSpPr>
        <p:spPr>
          <a:xfrm>
            <a:off x="8096250" y="1543050"/>
            <a:ext cx="438150" cy="43815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A0F5A1-A7A2-4E68-A7D7-68669E54A917}"/>
              </a:ext>
            </a:extLst>
          </p:cNvPr>
          <p:cNvSpPr>
            <a:spLocks noGrp="1"/>
          </p:cNvSpPr>
          <p:nvPr/>
        </p:nvSpPr>
        <p:spPr>
          <a:xfrm>
            <a:off x="8096250" y="15621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1CA517-47F3-4A1B-ABA7-8F82A2A05664}"/>
              </a:ext>
            </a:extLst>
          </p:cNvPr>
          <p:cNvSpPr>
            <a:spLocks noGrp="1"/>
          </p:cNvSpPr>
          <p:nvPr/>
        </p:nvSpPr>
        <p:spPr>
          <a:xfrm>
            <a:off x="8686800" y="15240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Personal Context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5585E71-27DC-4915-BBA8-E0739AF4743E}"/>
              </a:ext>
            </a:extLst>
          </p:cNvPr>
          <p:cNvSpPr>
            <a:spLocks noGrp="1"/>
          </p:cNvSpPr>
          <p:nvPr/>
        </p:nvSpPr>
        <p:spPr>
          <a:xfrm>
            <a:off x="8686800" y="1962150"/>
            <a:ext cx="274320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User supplies programme, study year, interests, goals, and planning preferences.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B6EBEC25-ACE6-435C-AD5F-95AF88813D68}"/>
              </a:ext>
            </a:extLst>
          </p:cNvPr>
          <p:cNvSpPr>
            <a:spLocks noGrp="1"/>
          </p:cNvSpPr>
          <p:nvPr/>
        </p:nvSpPr>
        <p:spPr>
          <a:xfrm>
            <a:off x="8096250" y="2990850"/>
            <a:ext cx="438150" cy="4381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215270B-F789-4131-AB1F-849072997C6A}"/>
              </a:ext>
            </a:extLst>
          </p:cNvPr>
          <p:cNvSpPr>
            <a:spLocks noGrp="1"/>
          </p:cNvSpPr>
          <p:nvPr/>
        </p:nvSpPr>
        <p:spPr>
          <a:xfrm>
            <a:off x="8096250" y="30099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E6140DA-4305-413B-8765-6D3FA140CD00}"/>
              </a:ext>
            </a:extLst>
          </p:cNvPr>
          <p:cNvSpPr>
            <a:spLocks noGrp="1"/>
          </p:cNvSpPr>
          <p:nvPr/>
        </p:nvSpPr>
        <p:spPr>
          <a:xfrm>
            <a:off x="8686800" y="29718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Candidate Facts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2EFB585-4B13-4692-9DE9-B1DD3C865F06}"/>
              </a:ext>
            </a:extLst>
          </p:cNvPr>
          <p:cNvSpPr>
            <a:spLocks noGrp="1"/>
          </p:cNvSpPr>
          <p:nvPr/>
        </p:nvSpPr>
        <p:spPr>
          <a:xfrm>
            <a:off x="8686800" y="3409950"/>
            <a:ext cx="2743200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Course supplies descriptions, credits, semesters, workload, assessments, and prerequisites.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9738AE9-313A-44DB-A3C5-83BE500C8BD1}"/>
              </a:ext>
            </a:extLst>
          </p:cNvPr>
          <p:cNvSpPr>
            <a:spLocks noGrp="1"/>
          </p:cNvSpPr>
          <p:nvPr/>
        </p:nvSpPr>
        <p:spPr>
          <a:xfrm>
            <a:off x="8096250" y="4591050"/>
            <a:ext cx="438150" cy="4381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8AA156-D3F2-4E04-9F1F-131A01295C73}"/>
              </a:ext>
            </a:extLst>
          </p:cNvPr>
          <p:cNvSpPr>
            <a:spLocks noGrp="1"/>
          </p:cNvSpPr>
          <p:nvPr/>
        </p:nvSpPr>
        <p:spPr>
          <a:xfrm>
            <a:off x="8096250" y="46101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0380D06-3E8E-43B1-A75B-C94AC76A9C7D}"/>
              </a:ext>
            </a:extLst>
          </p:cNvPr>
          <p:cNvSpPr>
            <a:spLocks noGrp="1"/>
          </p:cNvSpPr>
          <p:nvPr/>
        </p:nvSpPr>
        <p:spPr>
          <a:xfrm>
            <a:off x="8686800" y="45720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Completed Study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E681C6A-D26C-429F-8DB8-2A5EA773ADAF}"/>
              </a:ext>
            </a:extLst>
          </p:cNvPr>
          <p:cNvSpPr>
            <a:spLocks noGrp="1"/>
          </p:cNvSpPr>
          <p:nvPr/>
        </p:nvSpPr>
        <p:spPr>
          <a:xfrm>
            <a:off x="8686800" y="5010150"/>
            <a:ext cx="27432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CompletedCourse records verified course completion with a composite primary key.</a:t>
            </a:r>
          </a:p>
        </p:txBody>
      </p:sp>
    </p:spTree>
    <p:extLst>
      <p:ext uri="{BB962C8B-B14F-4D97-AF65-F5344CB8AC3E}">
        <p14:creationId xmlns:p14="http://schemas.microsoft.com/office/powerpoint/2010/main" val="11808470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A07D3E4F-38B5-435E-AB0E-05F8509017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DB960A-4401-4BD7-B47F-075A83FF176B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Demo Focus: AI Course Recommendations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9C96C2-77E4-4A6E-9446-D2E72A924AD2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One workflow connects the frontend, backend, database, and AI services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A35008-62A7-4A4A-A3B4-259AAB9A40D8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0F7BF7-E58E-4420-BBDF-E42480A160C4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34290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025" b="1">
                <a:solidFill>
                  <a:srgbClr val="36D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36D9FF"/>
                </a:solidFill>
                <a:latin typeface="Microsoft YaHei"/>
                <a:ea typeface="Microsoft YaHei"/>
                <a:cs typeface="Microsoft YaHei"/>
              </a:rPr>
              <a:t>Why this feature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F00608A-FD29-4F1F-89A9-5AD338A3D17B}"/>
              </a:ext>
            </a:extLst>
          </p:cNvPr>
          <p:cNvSpPr>
            <a:spLocks noGrp="1"/>
          </p:cNvSpPr>
          <p:nvPr/>
        </p:nvSpPr>
        <p:spPr>
          <a:xfrm>
            <a:off x="685800" y="2019300"/>
            <a:ext cx="10668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0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It combines student profiles, completed courses, catalogue data, vector retrieval, and grounded model explanations.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4353940-CD51-4C78-8709-2AFC2656C43D}"/>
              </a:ext>
            </a:extLst>
          </p:cNvPr>
          <p:cNvSpPr>
            <a:spLocks noGrp="1"/>
          </p:cNvSpPr>
          <p:nvPr/>
        </p:nvSpPr>
        <p:spPr>
          <a:xfrm>
            <a:off x="1885950" y="3143250"/>
            <a:ext cx="514350" cy="51435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4A722F-0089-4548-964A-7FE3FA763CEB}"/>
              </a:ext>
            </a:extLst>
          </p:cNvPr>
          <p:cNvSpPr>
            <a:spLocks noGrp="1"/>
          </p:cNvSpPr>
          <p:nvPr/>
        </p:nvSpPr>
        <p:spPr>
          <a:xfrm>
            <a:off x="1885950" y="31623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BE16C3B-CEF4-4ED6-B296-D2A8B1DFFA9B}"/>
              </a:ext>
            </a:extLst>
          </p:cNvPr>
          <p:cNvSpPr>
            <a:spLocks noGrp="1"/>
          </p:cNvSpPr>
          <p:nvPr/>
        </p:nvSpPr>
        <p:spPr>
          <a:xfrm>
            <a:off x="723900" y="3867150"/>
            <a:ext cx="28384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9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54FEA6-9C2B-4201-B0A4-F0058FE1AF28}"/>
              </a:ext>
            </a:extLst>
          </p:cNvPr>
          <p:cNvSpPr>
            <a:spLocks noGrp="1"/>
          </p:cNvSpPr>
          <p:nvPr/>
        </p:nvSpPr>
        <p:spPr>
          <a:xfrm>
            <a:off x="838200" y="4324350"/>
            <a:ext cx="26098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The student describes interests, background, and preferences in natural language</a:t>
            </a: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D17E6B48-8787-48BF-B727-B8082F00EC48}"/>
              </a:ext>
            </a:extLst>
          </p:cNvPr>
          <p:cNvSpPr>
            <a:spLocks noGrp="1"/>
          </p:cNvSpPr>
          <p:nvPr/>
        </p:nvSpPr>
        <p:spPr>
          <a:xfrm>
            <a:off x="3600450" y="3267075"/>
            <a:ext cx="552450" cy="266700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4692845C-4EB6-4E0A-978F-1B49E8604D6A}"/>
              </a:ext>
            </a:extLst>
          </p:cNvPr>
          <p:cNvSpPr>
            <a:spLocks noGrp="1"/>
          </p:cNvSpPr>
          <p:nvPr/>
        </p:nvSpPr>
        <p:spPr>
          <a:xfrm>
            <a:off x="5667375" y="3143250"/>
            <a:ext cx="514350" cy="514350"/>
          </a:xfrm>
          <a:prstGeom prst="ellipse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C2682A-489C-46CB-8DB9-5B2685783335}"/>
              </a:ext>
            </a:extLst>
          </p:cNvPr>
          <p:cNvSpPr>
            <a:spLocks noGrp="1"/>
          </p:cNvSpPr>
          <p:nvPr/>
        </p:nvSpPr>
        <p:spPr>
          <a:xfrm>
            <a:off x="5667375" y="31623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C3BC666-D62E-4F83-A018-44F8E8876B97}"/>
              </a:ext>
            </a:extLst>
          </p:cNvPr>
          <p:cNvSpPr>
            <a:spLocks noGrp="1"/>
          </p:cNvSpPr>
          <p:nvPr/>
        </p:nvSpPr>
        <p:spPr>
          <a:xfrm>
            <a:off x="4505325" y="3867150"/>
            <a:ext cx="28384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9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Processing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24B414F-E310-4BCF-9715-C09918DB47E5}"/>
              </a:ext>
            </a:extLst>
          </p:cNvPr>
          <p:cNvSpPr>
            <a:spLocks noGrp="1"/>
          </p:cNvSpPr>
          <p:nvPr/>
        </p:nvSpPr>
        <p:spPr>
          <a:xfrm>
            <a:off x="4619625" y="4324350"/>
            <a:ext cx="26098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The system builds context, retrieves real courses, and generates explanations</a:t>
            </a: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773F4C2C-4501-4DBA-92E6-DEFC193F7D0D}"/>
              </a:ext>
            </a:extLst>
          </p:cNvPr>
          <p:cNvSpPr>
            <a:spLocks noGrp="1"/>
          </p:cNvSpPr>
          <p:nvPr/>
        </p:nvSpPr>
        <p:spPr>
          <a:xfrm>
            <a:off x="7381875" y="3267075"/>
            <a:ext cx="552450" cy="266700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7F2649F-9038-4591-BFDD-E887E2389AFD}"/>
              </a:ext>
            </a:extLst>
          </p:cNvPr>
          <p:cNvSpPr>
            <a:spLocks noGrp="1"/>
          </p:cNvSpPr>
          <p:nvPr/>
        </p:nvSpPr>
        <p:spPr>
          <a:xfrm>
            <a:off x="9448800" y="3143250"/>
            <a:ext cx="514350" cy="5143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0572C30-00E3-48CD-97F1-1A2187084A34}"/>
              </a:ext>
            </a:extLst>
          </p:cNvPr>
          <p:cNvSpPr>
            <a:spLocks noGrp="1"/>
          </p:cNvSpPr>
          <p:nvPr/>
        </p:nvSpPr>
        <p:spPr>
          <a:xfrm>
            <a:off x="9448800" y="31623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89CA3CC-B123-4FA0-BA1D-C386C8A0064A}"/>
              </a:ext>
            </a:extLst>
          </p:cNvPr>
          <p:cNvSpPr>
            <a:spLocks noGrp="1"/>
          </p:cNvSpPr>
          <p:nvPr/>
        </p:nvSpPr>
        <p:spPr>
          <a:xfrm>
            <a:off x="8286750" y="3867150"/>
            <a:ext cx="283845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9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Output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67D8A1B-6D0F-4848-BCE3-77A6245B9312}"/>
              </a:ext>
            </a:extLst>
          </p:cNvPr>
          <p:cNvSpPr>
            <a:spLocks noGrp="1"/>
          </p:cNvSpPr>
          <p:nvPr/>
        </p:nvSpPr>
        <p:spPr>
          <a:xfrm>
            <a:off x="8401050" y="4324350"/>
            <a:ext cx="2609850" cy="857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The page shows courses, reasons, cautions, and completed-course analysis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323E41D-F076-450C-805D-2B35048AB17B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FFCC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CC66"/>
                </a:solidFill>
                <a:latin typeface="Microsoft YaHei"/>
                <a:ea typeface="Microsoft YaHei"/>
                <a:cs typeface="Microsoft YaHei"/>
              </a:rPr>
              <a:t>The next slides follow this call chain through the actual source code.</a:t>
            </a:r>
          </a:p>
        </p:txBody>
      </p:sp>
    </p:spTree>
    <p:extLst>
      <p:ext uri="{BB962C8B-B14F-4D97-AF65-F5344CB8AC3E}">
        <p14:creationId xmlns:p14="http://schemas.microsoft.com/office/powerpoint/2010/main" val="1162250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273AE654-95A8-40DE-9CAA-39722B5DF0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219C06-8812-4D33-82E3-5E832FE7A51D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End-to-End Call Chain and Source Entry Points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D0650A3-725B-4A14-A906-2D448F7F8A71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Each node maps to a real file or function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F9A22B-C81F-4B64-8B35-7C1D645A1CE1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97931678-FE40-4947-A1F4-EDC9FE7A690E}"/>
              </a:ext>
            </a:extLst>
          </p:cNvPr>
          <p:cNvSpPr>
            <a:spLocks noGrp="1"/>
          </p:cNvSpPr>
          <p:nvPr/>
        </p:nvSpPr>
        <p:spPr>
          <a:xfrm>
            <a:off x="1000125" y="1733550"/>
            <a:ext cx="514350" cy="51435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63300C-2751-4359-A7FC-246138A952FD}"/>
              </a:ext>
            </a:extLst>
          </p:cNvPr>
          <p:cNvSpPr>
            <a:spLocks noGrp="1"/>
          </p:cNvSpPr>
          <p:nvPr/>
        </p:nvSpPr>
        <p:spPr>
          <a:xfrm>
            <a:off x="10001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879AFB-D3C2-4E64-96ED-943990386E3C}"/>
              </a:ext>
            </a:extLst>
          </p:cNvPr>
          <p:cNvSpPr>
            <a:spLocks noGrp="1"/>
          </p:cNvSpPr>
          <p:nvPr/>
        </p:nvSpPr>
        <p:spPr>
          <a:xfrm>
            <a:off x="4476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Button Event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016936-3516-4883-A32F-18CE14BB61E4}"/>
              </a:ext>
            </a:extLst>
          </p:cNvPr>
          <p:cNvSpPr>
            <a:spLocks noGrp="1"/>
          </p:cNvSpPr>
          <p:nvPr/>
        </p:nvSpPr>
        <p:spPr>
          <a:xfrm>
            <a:off x="4476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AiRecommendation.vue</a:t>
            </a:r>
          </a:p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recommend()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EFA377E2-EC79-47B1-90ED-853F1183CCF8}"/>
              </a:ext>
            </a:extLst>
          </p:cNvPr>
          <p:cNvSpPr>
            <a:spLocks noGrp="1"/>
          </p:cNvSpPr>
          <p:nvPr/>
        </p:nvSpPr>
        <p:spPr>
          <a:xfrm>
            <a:off x="2076450" y="1866900"/>
            <a:ext cx="333375" cy="238125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8848F1BE-9D14-4D6A-B6E0-1BCA2742819F}"/>
              </a:ext>
            </a:extLst>
          </p:cNvPr>
          <p:cNvSpPr>
            <a:spLocks noGrp="1"/>
          </p:cNvSpPr>
          <p:nvPr/>
        </p:nvSpPr>
        <p:spPr>
          <a:xfrm>
            <a:off x="2943225" y="1733550"/>
            <a:ext cx="514350" cy="514350"/>
          </a:xfrm>
          <a:prstGeom prst="ellipse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CC3CB4-8DE3-419E-BB81-4C5365150E5B}"/>
              </a:ext>
            </a:extLst>
          </p:cNvPr>
          <p:cNvSpPr>
            <a:spLocks noGrp="1"/>
          </p:cNvSpPr>
          <p:nvPr/>
        </p:nvSpPr>
        <p:spPr>
          <a:xfrm>
            <a:off x="29432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913A13-839A-42AE-B640-A8539C75ECF2}"/>
              </a:ext>
            </a:extLst>
          </p:cNvPr>
          <p:cNvSpPr>
            <a:spLocks noGrp="1"/>
          </p:cNvSpPr>
          <p:nvPr/>
        </p:nvSpPr>
        <p:spPr>
          <a:xfrm>
            <a:off x="23907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HTTP Request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8D69022-F733-45F5-96C3-E90A92074167}"/>
              </a:ext>
            </a:extLst>
          </p:cNvPr>
          <p:cNvSpPr>
            <a:spLocks noGrp="1"/>
          </p:cNvSpPr>
          <p:nvPr/>
        </p:nvSpPr>
        <p:spPr>
          <a:xfrm>
            <a:off x="23907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api/ai.js</a:t>
            </a:r>
          </a:p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getCourseRecommendations()</a:t>
            </a:r>
          </a:p>
        </p:txBody>
      </p:sp>
      <p:sp>
        <p:nvSpPr>
          <p:cNvPr id="14" name="箭头: 右 13">
            <a:extLst>
              <a:ext uri="{FF2B5EF4-FFF2-40B4-BE49-F238E27FC236}">
                <a16:creationId xmlns:a16="http://schemas.microsoft.com/office/drawing/2014/main" id="{972DB076-4693-402B-8094-E45929F387D2}"/>
              </a:ext>
            </a:extLst>
          </p:cNvPr>
          <p:cNvSpPr>
            <a:spLocks noGrp="1"/>
          </p:cNvSpPr>
          <p:nvPr/>
        </p:nvSpPr>
        <p:spPr>
          <a:xfrm>
            <a:off x="4019550" y="1866900"/>
            <a:ext cx="333375" cy="238125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746008D6-D9ED-4E89-B499-FCA3F7EEBC47}"/>
              </a:ext>
            </a:extLst>
          </p:cNvPr>
          <p:cNvSpPr>
            <a:spLocks noGrp="1"/>
          </p:cNvSpPr>
          <p:nvPr/>
        </p:nvSpPr>
        <p:spPr>
          <a:xfrm>
            <a:off x="4886325" y="1733550"/>
            <a:ext cx="514350" cy="5143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7456B4E-991C-44B9-B5CF-10BBA16D3A5D}"/>
              </a:ext>
            </a:extLst>
          </p:cNvPr>
          <p:cNvSpPr>
            <a:spLocks noGrp="1"/>
          </p:cNvSpPr>
          <p:nvPr/>
        </p:nvSpPr>
        <p:spPr>
          <a:xfrm>
            <a:off x="48863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70CEF82-65B5-40CE-9A51-F81C6DC7184A}"/>
              </a:ext>
            </a:extLst>
          </p:cNvPr>
          <p:cNvSpPr>
            <a:spLocks noGrp="1"/>
          </p:cNvSpPr>
          <p:nvPr/>
        </p:nvSpPr>
        <p:spPr>
          <a:xfrm>
            <a:off x="43338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Route Guards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BA0995-BA04-49C9-93B0-680FB6D27CFB}"/>
              </a:ext>
            </a:extLst>
          </p:cNvPr>
          <p:cNvSpPr>
            <a:spLocks noGrp="1"/>
          </p:cNvSpPr>
          <p:nvPr/>
        </p:nvSpPr>
        <p:spPr>
          <a:xfrm>
            <a:off x="43338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aiRoutes.js</a:t>
            </a:r>
          </a:p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/recommend</a:t>
            </a: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A0327E9D-F604-4B51-9D71-381CEE5EFA30}"/>
              </a:ext>
            </a:extLst>
          </p:cNvPr>
          <p:cNvSpPr>
            <a:spLocks noGrp="1"/>
          </p:cNvSpPr>
          <p:nvPr/>
        </p:nvSpPr>
        <p:spPr>
          <a:xfrm>
            <a:off x="5962650" y="1866900"/>
            <a:ext cx="333375" cy="238125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0DF3887-05FC-4242-AC45-C017BA818F48}"/>
              </a:ext>
            </a:extLst>
          </p:cNvPr>
          <p:cNvSpPr>
            <a:spLocks noGrp="1"/>
          </p:cNvSpPr>
          <p:nvPr/>
        </p:nvSpPr>
        <p:spPr>
          <a:xfrm>
            <a:off x="6829425" y="1733550"/>
            <a:ext cx="514350" cy="5143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14F2052-303B-4D1C-9798-D3B0418FDB2D}"/>
              </a:ext>
            </a:extLst>
          </p:cNvPr>
          <p:cNvSpPr>
            <a:spLocks noGrp="1"/>
          </p:cNvSpPr>
          <p:nvPr/>
        </p:nvSpPr>
        <p:spPr>
          <a:xfrm>
            <a:off x="68294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3E6E21-3CC1-48B1-AE5B-F93C1F391241}"/>
              </a:ext>
            </a:extLst>
          </p:cNvPr>
          <p:cNvSpPr>
            <a:spLocks noGrp="1"/>
          </p:cNvSpPr>
          <p:nvPr/>
        </p:nvSpPr>
        <p:spPr>
          <a:xfrm>
            <a:off x="62769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Build Context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89DD240-F120-4DB3-8E3B-704763F0F985}"/>
              </a:ext>
            </a:extLst>
          </p:cNvPr>
          <p:cNvSpPr>
            <a:spLocks noGrp="1"/>
          </p:cNvSpPr>
          <p:nvPr/>
        </p:nvSpPr>
        <p:spPr>
          <a:xfrm>
            <a:off x="62769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aiController.js</a:t>
            </a:r>
          </a:p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aiRecommendCourses()</a:t>
            </a:r>
          </a:p>
        </p:txBody>
      </p:sp>
      <p:sp>
        <p:nvSpPr>
          <p:cNvPr id="24" name="箭头: 右 23">
            <a:extLst>
              <a:ext uri="{FF2B5EF4-FFF2-40B4-BE49-F238E27FC236}">
                <a16:creationId xmlns:a16="http://schemas.microsoft.com/office/drawing/2014/main" id="{95C5E4C7-7409-444B-88B6-766B3EC8C89C}"/>
              </a:ext>
            </a:extLst>
          </p:cNvPr>
          <p:cNvSpPr>
            <a:spLocks noGrp="1"/>
          </p:cNvSpPr>
          <p:nvPr/>
        </p:nvSpPr>
        <p:spPr>
          <a:xfrm>
            <a:off x="7905750" y="1866900"/>
            <a:ext cx="333375" cy="238125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DDE181E6-FC93-4DB9-A4BD-F5DB74766F83}"/>
              </a:ext>
            </a:extLst>
          </p:cNvPr>
          <p:cNvSpPr>
            <a:spLocks noGrp="1"/>
          </p:cNvSpPr>
          <p:nvPr/>
        </p:nvSpPr>
        <p:spPr>
          <a:xfrm>
            <a:off x="8772525" y="1733550"/>
            <a:ext cx="514350" cy="51435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934F656-BBA4-42B6-A5D7-19AAA869F283}"/>
              </a:ext>
            </a:extLst>
          </p:cNvPr>
          <p:cNvSpPr>
            <a:spLocks noGrp="1"/>
          </p:cNvSpPr>
          <p:nvPr/>
        </p:nvSpPr>
        <p:spPr>
          <a:xfrm>
            <a:off x="87725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F12A659-F5A3-41AE-8345-96FA69EB7EF5}"/>
              </a:ext>
            </a:extLst>
          </p:cNvPr>
          <p:cNvSpPr>
            <a:spLocks noGrp="1"/>
          </p:cNvSpPr>
          <p:nvPr/>
        </p:nvSpPr>
        <p:spPr>
          <a:xfrm>
            <a:off x="82200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Vector Search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7E78848-9E4E-4C4A-90FD-09970AEF79FA}"/>
              </a:ext>
            </a:extLst>
          </p:cNvPr>
          <p:cNvSpPr>
            <a:spLocks noGrp="1"/>
          </p:cNvSpPr>
          <p:nvPr/>
        </p:nvSpPr>
        <p:spPr>
          <a:xfrm>
            <a:off x="82200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courseRetrievalService.js</a:t>
            </a:r>
          </a:p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semanticSearchCourses()</a:t>
            </a:r>
          </a:p>
        </p:txBody>
      </p:sp>
      <p:sp>
        <p:nvSpPr>
          <p:cNvPr id="29" name="箭头: 右 28">
            <a:extLst>
              <a:ext uri="{FF2B5EF4-FFF2-40B4-BE49-F238E27FC236}">
                <a16:creationId xmlns:a16="http://schemas.microsoft.com/office/drawing/2014/main" id="{4471CC96-8260-46FB-BFD2-537A406AA0A0}"/>
              </a:ext>
            </a:extLst>
          </p:cNvPr>
          <p:cNvSpPr>
            <a:spLocks noGrp="1"/>
          </p:cNvSpPr>
          <p:nvPr/>
        </p:nvSpPr>
        <p:spPr>
          <a:xfrm>
            <a:off x="9848850" y="1866900"/>
            <a:ext cx="333375" cy="238125"/>
          </a:xfrm>
          <a:prstGeom prst="rightArrow">
            <a:avLst/>
          </a:prstGeom>
          <a:solidFill>
            <a:srgbClr val="2E3A60"/>
          </a:solidFill>
          <a:ln w="0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5883AE42-2B71-40AC-B47A-8F54FD585A13}"/>
              </a:ext>
            </a:extLst>
          </p:cNvPr>
          <p:cNvSpPr>
            <a:spLocks noGrp="1"/>
          </p:cNvSpPr>
          <p:nvPr/>
        </p:nvSpPr>
        <p:spPr>
          <a:xfrm>
            <a:off x="10715625" y="1733550"/>
            <a:ext cx="514350" cy="5143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1E7EF8-9090-4FB3-AC4F-36A1754BDD38}"/>
              </a:ext>
            </a:extLst>
          </p:cNvPr>
          <p:cNvSpPr>
            <a:spLocks noGrp="1"/>
          </p:cNvSpPr>
          <p:nvPr/>
        </p:nvSpPr>
        <p:spPr>
          <a:xfrm>
            <a:off x="10715625" y="1752600"/>
            <a:ext cx="5143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63A4E1C-6D08-47A1-BD97-615325D6C6E9}"/>
              </a:ext>
            </a:extLst>
          </p:cNvPr>
          <p:cNvSpPr>
            <a:spLocks noGrp="1"/>
          </p:cNvSpPr>
          <p:nvPr/>
        </p:nvSpPr>
        <p:spPr>
          <a:xfrm>
            <a:off x="10163175" y="2457450"/>
            <a:ext cx="16383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AI and Render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DD12C64-9957-429E-BF0D-1F817BE9A8AE}"/>
              </a:ext>
            </a:extLst>
          </p:cNvPr>
          <p:cNvSpPr>
            <a:spLocks noGrp="1"/>
          </p:cNvSpPr>
          <p:nvPr/>
        </p:nvSpPr>
        <p:spPr>
          <a:xfrm>
            <a:off x="10163175" y="2876550"/>
            <a:ext cx="163830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llmService.js</a:t>
            </a:r>
          </a:p>
          <a:p>
            <a:pPr algn="ctr">
              <a:defRPr sz="863" b="0">
                <a:solidFill>
                  <a:srgbClr val="AAB4D0"/>
                </a:solidFill>
                <a:latin typeface="Consolas"/>
                <a:ea typeface="Consolas"/>
                <a:cs typeface="Consolas"/>
              </a:defRPr>
            </a:pPr>
            <a:r>
              <a:rPr sz="863" b="0">
                <a:solidFill>
                  <a:srgbClr val="AAB4D0"/>
                </a:solidFill>
                <a:latin typeface="Consolas"/>
                <a:ea typeface="Consolas"/>
                <a:cs typeface="Consolas"/>
              </a:rPr>
              <a:t>RecommendationCard.vue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B44744CB-465F-4ED6-9168-FA374A82344C}"/>
              </a:ext>
            </a:extLst>
          </p:cNvPr>
          <p:cNvSpPr>
            <a:spLocks noGrp="1"/>
          </p:cNvSpPr>
          <p:nvPr/>
        </p:nvSpPr>
        <p:spPr>
          <a:xfrm>
            <a:off x="742950" y="4038600"/>
            <a:ext cx="10706100" cy="1428750"/>
          </a:xfrm>
          <a:prstGeom prst="roundRect">
            <a:avLst>
              <a:gd name="adj" fmla="val 5333"/>
            </a:avLst>
          </a:prstGeom>
          <a:solidFill>
            <a:srgbClr val="101A35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6CB9C7B-B9ED-491B-AE36-831FA98EC5D6}"/>
              </a:ext>
            </a:extLst>
          </p:cNvPr>
          <p:cNvSpPr>
            <a:spLocks noGrp="1"/>
          </p:cNvSpPr>
          <p:nvPr/>
        </p:nvSpPr>
        <p:spPr>
          <a:xfrm>
            <a:off x="1028700" y="4229100"/>
            <a:ext cx="21907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36D9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6D9FF"/>
                </a:solidFill>
                <a:latin typeface="Microsoft YaHei"/>
                <a:ea typeface="Microsoft YaHei"/>
                <a:cs typeface="Microsoft YaHei"/>
              </a:rPr>
              <a:t>Core constraint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C5B2961-A5AF-4D20-B4B2-8CEDBD641F9C}"/>
              </a:ext>
            </a:extLst>
          </p:cNvPr>
          <p:cNvSpPr>
            <a:spLocks noGrp="1"/>
          </p:cNvSpPr>
          <p:nvPr/>
        </p:nvSpPr>
        <p:spPr>
          <a:xfrm>
            <a:off x="1028700" y="4629150"/>
            <a:ext cx="9858375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00" b="0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Vector search selects candidates from the database first. GLM-4 explains those candidates, and the controller rejects any courseId outside the retrieved set.</a:t>
            </a:r>
          </a:p>
        </p:txBody>
      </p:sp>
    </p:spTree>
    <p:extLst>
      <p:ext uri="{BB962C8B-B14F-4D97-AF65-F5344CB8AC3E}">
        <p14:creationId xmlns:p14="http://schemas.microsoft.com/office/powerpoint/2010/main" val="63146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08623A9-0D0B-4772-80AA-6291F34F447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8E21FC8-F33B-41B3-90CA-C583F3977EFA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Frontend Button Triggers the Request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CB8611-05F6-4E5A-8B9F-BEFAD41C3A13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The Vue component manages input, loading state, results, and errors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B65D7B-FF1E-4D64-A0BB-3A1B61C0B659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B62B8BA-0175-4279-937D-BB87C9A1AF52}"/>
              </a:ext>
            </a:extLst>
          </p:cNvPr>
          <p:cNvSpPr>
            <a:spLocks noGrp="1"/>
          </p:cNvSpPr>
          <p:nvPr/>
        </p:nvSpPr>
        <p:spPr>
          <a:xfrm>
            <a:off x="590550" y="1676400"/>
            <a:ext cx="438150" cy="43815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6C033DE-4267-4479-9D68-9D1B08D535D3}"/>
              </a:ext>
            </a:extLst>
          </p:cNvPr>
          <p:cNvSpPr>
            <a:spLocks noGrp="1"/>
          </p:cNvSpPr>
          <p:nvPr/>
        </p:nvSpPr>
        <p:spPr>
          <a:xfrm>
            <a:off x="590550" y="169545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A9E3BD-52D9-4305-8BC8-623D2A4B22A0}"/>
              </a:ext>
            </a:extLst>
          </p:cNvPr>
          <p:cNvSpPr>
            <a:spLocks noGrp="1"/>
          </p:cNvSpPr>
          <p:nvPr/>
        </p:nvSpPr>
        <p:spPr>
          <a:xfrm>
            <a:off x="1181100" y="165735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User action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0EC9306-0B06-477F-BC2D-4D1EF618BDA9}"/>
              </a:ext>
            </a:extLst>
          </p:cNvPr>
          <p:cNvSpPr>
            <a:spLocks noGrp="1"/>
          </p:cNvSpPr>
          <p:nvPr/>
        </p:nvSpPr>
        <p:spPr>
          <a:xfrm>
            <a:off x="1181100" y="2095500"/>
            <a:ext cx="2743200" cy="990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Click Generate recommendations or press Ctrl + Enter.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6D4AA7A-9616-48DC-8550-46DDC590FA71}"/>
              </a:ext>
            </a:extLst>
          </p:cNvPr>
          <p:cNvSpPr>
            <a:spLocks noGrp="1"/>
          </p:cNvSpPr>
          <p:nvPr/>
        </p:nvSpPr>
        <p:spPr>
          <a:xfrm>
            <a:off x="590550" y="3333750"/>
            <a:ext cx="438150" cy="438150"/>
          </a:xfrm>
          <a:prstGeom prst="ellipse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F61B4C8-9EF0-4BFA-AF93-E931EC1EF810}"/>
              </a:ext>
            </a:extLst>
          </p:cNvPr>
          <p:cNvSpPr>
            <a:spLocks noGrp="1"/>
          </p:cNvSpPr>
          <p:nvPr/>
        </p:nvSpPr>
        <p:spPr>
          <a:xfrm>
            <a:off x="590550" y="33528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07522F2-88EC-402D-A510-BADE6B169B84}"/>
              </a:ext>
            </a:extLst>
          </p:cNvPr>
          <p:cNvSpPr>
            <a:spLocks noGrp="1"/>
          </p:cNvSpPr>
          <p:nvPr/>
        </p:nvSpPr>
        <p:spPr>
          <a:xfrm>
            <a:off x="1181100" y="33147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recommend()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AB53C6-261E-4D24-96FA-760AFAEAC01C}"/>
              </a:ext>
            </a:extLst>
          </p:cNvPr>
          <p:cNvSpPr>
            <a:spLocks noGrp="1"/>
          </p:cNvSpPr>
          <p:nvPr/>
        </p:nvSpPr>
        <p:spPr>
          <a:xfrm>
            <a:off x="1181100" y="3752850"/>
            <a:ext cx="2743200" cy="1371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Validate the query, clear old results, and enable loading. Store returned data or display backend and timeout errors.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DB50B8B-4539-44E7-BA72-6E6A0B15F305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7429500" cy="447675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1185D17-45A4-4F33-9539-73C9E35E037C}"/>
              </a:ext>
            </a:extLst>
          </p:cNvPr>
          <p:cNvSpPr>
            <a:spLocks noGrp="1"/>
          </p:cNvSpPr>
          <p:nvPr/>
        </p:nvSpPr>
        <p:spPr>
          <a:xfrm>
            <a:off x="4191000" y="1428750"/>
            <a:ext cx="742950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A813691-BEC5-495C-8E8B-48559D98C484}"/>
              </a:ext>
            </a:extLst>
          </p:cNvPr>
          <p:cNvSpPr>
            <a:spLocks noGrp="1"/>
          </p:cNvSpPr>
          <p:nvPr/>
        </p:nvSpPr>
        <p:spPr>
          <a:xfrm>
            <a:off x="4324350" y="1543050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0188694-700E-4FDB-93AA-B499E5450F55}"/>
              </a:ext>
            </a:extLst>
          </p:cNvPr>
          <p:cNvSpPr>
            <a:spLocks noGrp="1"/>
          </p:cNvSpPr>
          <p:nvPr/>
        </p:nvSpPr>
        <p:spPr>
          <a:xfrm>
            <a:off x="4476750" y="1543050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F103547-1496-4D28-BD5B-3C2A8BA8D92F}"/>
              </a:ext>
            </a:extLst>
          </p:cNvPr>
          <p:cNvSpPr>
            <a:spLocks noGrp="1"/>
          </p:cNvSpPr>
          <p:nvPr/>
        </p:nvSpPr>
        <p:spPr>
          <a:xfrm>
            <a:off x="4629150" y="1543050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ADCFEF-28B9-4AF2-B096-D4A98F79FEFB}"/>
              </a:ext>
            </a:extLst>
          </p:cNvPr>
          <p:cNvSpPr>
            <a:spLocks noGrp="1"/>
          </p:cNvSpPr>
          <p:nvPr/>
        </p:nvSpPr>
        <p:spPr>
          <a:xfrm>
            <a:off x="4838700" y="1476375"/>
            <a:ext cx="66484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frontend/src/views/AiRecommendation.vue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D9D3607-F10C-48CF-B658-612A1D68C3B7}"/>
              </a:ext>
            </a:extLst>
          </p:cNvPr>
          <p:cNvSpPr>
            <a:spLocks noGrp="1"/>
          </p:cNvSpPr>
          <p:nvPr/>
        </p:nvSpPr>
        <p:spPr>
          <a:xfrm>
            <a:off x="4362450" y="1847850"/>
            <a:ext cx="7105650" cy="396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&lt;el-input v-model="query" @keyup.ctrl.enter="recommend" /&gt;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&lt;el-button :loading="loading" @click="recommend"&gt;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✨ Generate recommendations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&lt;/el-button&gt;</a:t>
            </a:r>
          </a:p>
          <a:p>
            <a:endParaRPr sz="1088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async function recommend() {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if (!query.value.trim()) return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loading.value = true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error.value = ''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result.value = null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try {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result.value = await getCourseRecommendations(query.value)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 catch (err) {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error.value = err.response?.data?.error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|| err.response?.data?.message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|| (err.code === 'ECONNABORTED' ? timeoutMessage : null)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 finally {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loading.value = false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08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42738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1D8FCC7-F490-436A-961A-DE62F3E5F2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0BB78E-7887-4864-8A95-17E83F5C11F2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API Wrapper and Express Route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B21E90-814C-4840-A446-74DA0A24B52C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Authentication, rate limiting, and role checks protect the recommendation endpoint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6459B4-7D63-4945-BF66-EFFD7F819C3F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662E561-E54D-4705-BAA1-86F150BD75C6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5353050" cy="390525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8ADFBE6-5611-40A9-A81E-FE4FE43AD1B1}"/>
              </a:ext>
            </a:extLst>
          </p:cNvPr>
          <p:cNvSpPr>
            <a:spLocks noGrp="1"/>
          </p:cNvSpPr>
          <p:nvPr/>
        </p:nvSpPr>
        <p:spPr>
          <a:xfrm>
            <a:off x="552450" y="1428750"/>
            <a:ext cx="535305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AFA32B9-ED54-4C1C-89FF-44DAC564CC4C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195F261-305C-43A8-B768-341E99F11473}"/>
              </a:ext>
            </a:extLst>
          </p:cNvPr>
          <p:cNvSpPr>
            <a:spLocks noGrp="1"/>
          </p:cNvSpPr>
          <p:nvPr/>
        </p:nvSpPr>
        <p:spPr>
          <a:xfrm>
            <a:off x="838200" y="1543050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E2AEE1B-2A80-40A8-992B-DDF0B66C9499}"/>
              </a:ext>
            </a:extLst>
          </p:cNvPr>
          <p:cNvSpPr>
            <a:spLocks noGrp="1"/>
          </p:cNvSpPr>
          <p:nvPr/>
        </p:nvSpPr>
        <p:spPr>
          <a:xfrm>
            <a:off x="990600" y="1543050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A84000-FB5A-4503-B4EC-8EBBB65F9A76}"/>
              </a:ext>
            </a:extLst>
          </p:cNvPr>
          <p:cNvSpPr>
            <a:spLocks noGrp="1"/>
          </p:cNvSpPr>
          <p:nvPr/>
        </p:nvSpPr>
        <p:spPr>
          <a:xfrm>
            <a:off x="1200150" y="1476375"/>
            <a:ext cx="45720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frontend/src/api/ai.js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64D715-435B-434D-B4AF-70B7D03E41CC}"/>
              </a:ext>
            </a:extLst>
          </p:cNvPr>
          <p:cNvSpPr>
            <a:spLocks noGrp="1"/>
          </p:cNvSpPr>
          <p:nvPr/>
        </p:nvSpPr>
        <p:spPr>
          <a:xfrm>
            <a:off x="723900" y="1847850"/>
            <a:ext cx="5029200" cy="3390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import request from './request'</a:t>
            </a:r>
          </a:p>
          <a:p>
            <a:endParaRPr sz="1125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export async function getCourseRecommendations(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query, filters = {}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) {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const response = await request.post(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'/ai/recommend',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{ query, ...filters },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{ timeout: 150000 }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)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return response.data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A908D9C5-4192-4332-9985-7A963777F571}"/>
              </a:ext>
            </a:extLst>
          </p:cNvPr>
          <p:cNvSpPr>
            <a:spLocks noGrp="1"/>
          </p:cNvSpPr>
          <p:nvPr/>
        </p:nvSpPr>
        <p:spPr>
          <a:xfrm>
            <a:off x="5953125" y="3105150"/>
            <a:ext cx="285750" cy="228600"/>
          </a:xfrm>
          <a:prstGeom prst="rightArrow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A5BF5D-C1EF-4921-BEE4-F0AAC80A8F0A}"/>
              </a:ext>
            </a:extLst>
          </p:cNvPr>
          <p:cNvSpPr>
            <a:spLocks noGrp="1"/>
          </p:cNvSpPr>
          <p:nvPr/>
        </p:nvSpPr>
        <p:spPr>
          <a:xfrm>
            <a:off x="6305550" y="1428750"/>
            <a:ext cx="5314950" cy="390525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538583-AA4E-41E1-B5E7-4EF0F8E097BB}"/>
              </a:ext>
            </a:extLst>
          </p:cNvPr>
          <p:cNvSpPr>
            <a:spLocks noGrp="1"/>
          </p:cNvSpPr>
          <p:nvPr/>
        </p:nvSpPr>
        <p:spPr>
          <a:xfrm>
            <a:off x="6305550" y="1428750"/>
            <a:ext cx="531495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1F3B094-0293-4BE3-A862-64163967B423}"/>
              </a:ext>
            </a:extLst>
          </p:cNvPr>
          <p:cNvSpPr>
            <a:spLocks noGrp="1"/>
          </p:cNvSpPr>
          <p:nvPr/>
        </p:nvSpPr>
        <p:spPr>
          <a:xfrm>
            <a:off x="6438900" y="1543050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57FF552D-240A-4C2D-B23C-194D864C92E2}"/>
              </a:ext>
            </a:extLst>
          </p:cNvPr>
          <p:cNvSpPr>
            <a:spLocks noGrp="1"/>
          </p:cNvSpPr>
          <p:nvPr/>
        </p:nvSpPr>
        <p:spPr>
          <a:xfrm>
            <a:off x="6591300" y="1543050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1DE32C31-2D59-46AF-A87D-971F94BD2DAB}"/>
              </a:ext>
            </a:extLst>
          </p:cNvPr>
          <p:cNvSpPr>
            <a:spLocks noGrp="1"/>
          </p:cNvSpPr>
          <p:nvPr/>
        </p:nvSpPr>
        <p:spPr>
          <a:xfrm>
            <a:off x="6743700" y="1543050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87F98EE-F10C-4517-9FD8-22AC6D04B7B9}"/>
              </a:ext>
            </a:extLst>
          </p:cNvPr>
          <p:cNvSpPr>
            <a:spLocks noGrp="1"/>
          </p:cNvSpPr>
          <p:nvPr/>
        </p:nvSpPr>
        <p:spPr>
          <a:xfrm>
            <a:off x="6953250" y="1476375"/>
            <a:ext cx="45339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62E3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2E3A8"/>
                </a:solidFill>
                <a:latin typeface="Consolas"/>
                <a:ea typeface="Consolas"/>
                <a:cs typeface="Consolas"/>
              </a:rPr>
              <a:t>backend/src/routes/aiRoutes.js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438569C-4F48-44A0-B16A-4752C34F18F0}"/>
              </a:ext>
            </a:extLst>
          </p:cNvPr>
          <p:cNvSpPr>
            <a:spLocks noGrp="1"/>
          </p:cNvSpPr>
          <p:nvPr/>
        </p:nvSpPr>
        <p:spPr>
          <a:xfrm>
            <a:off x="6477000" y="1847850"/>
            <a:ext cx="4991100" cy="3390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{ verifyToken } = require('../middlewares/authMiddleware')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{ requireRole } = require('../middlewares/roleMiddleware')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{ aiRateLimit } = require('../middlewares/aiRateLimit')</a:t>
            </a:r>
          </a:p>
          <a:p>
            <a:endParaRPr sz="1125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router.use(verifyToken)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router.use(aiRateLimit)</a:t>
            </a:r>
          </a:p>
          <a:p>
            <a:endParaRPr sz="1125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router.post('/recommend',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requireRole('STUDENT'),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aiController.aiRecommendCourses</a:t>
            </a:r>
          </a:p>
          <a:p>
            <a:pPr algn="l">
              <a:defRPr sz="112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24322D5-4BB2-474D-8433-B12822FAB62E}"/>
              </a:ext>
            </a:extLst>
          </p:cNvPr>
          <p:cNvSpPr>
            <a:spLocks noGrp="1"/>
          </p:cNvSpPr>
          <p:nvPr/>
        </p:nvSpPr>
        <p:spPr>
          <a:xfrm>
            <a:off x="714375" y="56388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575" b="1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1575" b="1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POST /ai/recommend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F035B1A-A94B-4E6B-8D59-10C1FFAB86C0}"/>
              </a:ext>
            </a:extLst>
          </p:cNvPr>
          <p:cNvSpPr>
            <a:spLocks noGrp="1"/>
          </p:cNvSpPr>
          <p:nvPr/>
        </p:nvSpPr>
        <p:spPr>
          <a:xfrm>
            <a:off x="3524250" y="5638800"/>
            <a:ext cx="78105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JWT verification     Per-user rate limit     STUDENT role required</a:t>
            </a:r>
          </a:p>
        </p:txBody>
      </p:sp>
    </p:spTree>
    <p:extLst>
      <p:ext uri="{BB962C8B-B14F-4D97-AF65-F5344CB8AC3E}">
        <p14:creationId xmlns:p14="http://schemas.microsoft.com/office/powerpoint/2010/main" val="2942544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A0258359-AFF9-4862-B291-9B1405E2D8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0FBE545-62BA-4F07-94FD-5956AF4C107E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Database Read and Recommendation Context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F17382-AC42-4D1C-BCE6-E4B789C72E55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Prisma loads planning data and the controller creates a non-identifying studentContext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FC24666-01D7-49BD-BB23-8116012F3D71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FEFCB0DE-21A5-48D7-9E09-76002DC776F1}"/>
              </a:ext>
            </a:extLst>
          </p:cNvPr>
          <p:cNvSpPr>
            <a:spLocks noGrp="1"/>
          </p:cNvSpPr>
          <p:nvPr/>
        </p:nvSpPr>
        <p:spPr>
          <a:xfrm>
            <a:off x="552450" y="1581150"/>
            <a:ext cx="438150" cy="4381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A0BC81-3D2B-46D0-816D-8D3B470E4828}"/>
              </a:ext>
            </a:extLst>
          </p:cNvPr>
          <p:cNvSpPr>
            <a:spLocks noGrp="1"/>
          </p:cNvSpPr>
          <p:nvPr/>
        </p:nvSpPr>
        <p:spPr>
          <a:xfrm>
            <a:off x="552450" y="16002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C0F2A35-DA36-48D4-83B6-A11271E9A7EF}"/>
              </a:ext>
            </a:extLst>
          </p:cNvPr>
          <p:cNvSpPr>
            <a:spLocks noGrp="1"/>
          </p:cNvSpPr>
          <p:nvPr/>
        </p:nvSpPr>
        <p:spPr>
          <a:xfrm>
            <a:off x="1143000" y="15621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Load student data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1745EC-0F20-4827-BB93-03FE4D89E6F2}"/>
              </a:ext>
            </a:extLst>
          </p:cNvPr>
          <p:cNvSpPr>
            <a:spLocks noGrp="1"/>
          </p:cNvSpPr>
          <p:nvPr/>
        </p:nvSpPr>
        <p:spPr>
          <a:xfrm>
            <a:off x="1143000" y="2000250"/>
            <a:ext cx="2743200" cy="10287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Query programme, year, interests, goals, preferences, saved courses, and completed courses by req.user.id.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9C858D1-0ED1-487E-8B85-826C72850C28}"/>
              </a:ext>
            </a:extLst>
          </p:cNvPr>
          <p:cNvSpPr>
            <a:spLocks noGrp="1"/>
          </p:cNvSpPr>
          <p:nvPr/>
        </p:nvSpPr>
        <p:spPr>
          <a:xfrm>
            <a:off x="552450" y="3295650"/>
            <a:ext cx="438150" cy="4381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E61B29-BE74-4845-A2A1-11CE26E4F4B7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6A6DE9B-677F-4C7D-857C-3143830CA524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Build retrieval text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C12988-AEE3-47F7-AE6A-602C00995E8D}"/>
              </a:ext>
            </a:extLst>
          </p:cNvPr>
          <p:cNvSpPr>
            <a:spLocks noGrp="1"/>
          </p:cNvSpPr>
          <p:nvPr/>
        </p:nvSpPr>
        <p:spPr>
          <a:xfrm>
            <a:off x="1143000" y="3714750"/>
            <a:ext cx="2743200" cy="1466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Combine the query and learning background into retrievalContext. Email, name, and password fields do not enter the AI workflow.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CD4D5A-7FFC-400C-BD4F-C3DB56FBD427}"/>
              </a:ext>
            </a:extLst>
          </p:cNvPr>
          <p:cNvSpPr>
            <a:spLocks noGrp="1"/>
          </p:cNvSpPr>
          <p:nvPr/>
        </p:nvSpPr>
        <p:spPr>
          <a:xfrm>
            <a:off x="4095750" y="1352550"/>
            <a:ext cx="7524750" cy="472440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54BD03-786E-4A6B-B781-38731ED5C11C}"/>
              </a:ext>
            </a:extLst>
          </p:cNvPr>
          <p:cNvSpPr>
            <a:spLocks noGrp="1"/>
          </p:cNvSpPr>
          <p:nvPr/>
        </p:nvSpPr>
        <p:spPr>
          <a:xfrm>
            <a:off x="4095750" y="1352550"/>
            <a:ext cx="752475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DD16BB5-9B31-4222-9BC5-4CC1575A111A}"/>
              </a:ext>
            </a:extLst>
          </p:cNvPr>
          <p:cNvSpPr>
            <a:spLocks noGrp="1"/>
          </p:cNvSpPr>
          <p:nvPr/>
        </p:nvSpPr>
        <p:spPr>
          <a:xfrm>
            <a:off x="4229100" y="1466850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F452AA9-71B8-411D-9A36-68B7A2B96D01}"/>
              </a:ext>
            </a:extLst>
          </p:cNvPr>
          <p:cNvSpPr>
            <a:spLocks noGrp="1"/>
          </p:cNvSpPr>
          <p:nvPr/>
        </p:nvSpPr>
        <p:spPr>
          <a:xfrm>
            <a:off x="4381500" y="1466850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190A3FE-DF20-4C1A-83E5-BDB321D66C53}"/>
              </a:ext>
            </a:extLst>
          </p:cNvPr>
          <p:cNvSpPr>
            <a:spLocks noGrp="1"/>
          </p:cNvSpPr>
          <p:nvPr/>
        </p:nvSpPr>
        <p:spPr>
          <a:xfrm>
            <a:off x="4533900" y="1466850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AE1CC3-4CCD-490B-B963-5F067E10C4AB}"/>
              </a:ext>
            </a:extLst>
          </p:cNvPr>
          <p:cNvSpPr>
            <a:spLocks noGrp="1"/>
          </p:cNvSpPr>
          <p:nvPr/>
        </p:nvSpPr>
        <p:spPr>
          <a:xfrm>
            <a:off x="4743450" y="1400175"/>
            <a:ext cx="67437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FFCC6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CC66"/>
                </a:solidFill>
                <a:latin typeface="Consolas"/>
                <a:ea typeface="Consolas"/>
                <a:cs typeface="Consolas"/>
              </a:rPr>
              <a:t>backend/src/controllers/aiController.js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08B2643-41A9-4494-A686-6FDF601D4BCC}"/>
              </a:ext>
            </a:extLst>
          </p:cNvPr>
          <p:cNvSpPr>
            <a:spLocks noGrp="1"/>
          </p:cNvSpPr>
          <p:nvPr/>
        </p:nvSpPr>
        <p:spPr>
          <a:xfrm>
            <a:off x="4267200" y="1771650"/>
            <a:ext cx="7200900" cy="421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profile = await prisma.user.findUnique({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where: { id: req.user.id },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select: {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major: true, studyYear: true, interests: true, goals: true,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planningPreferences: true,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savedCourses: { select: { course: { select: {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id: true, code: true, name: true } } } },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completedCourses: { select: { course: { select: {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id: true, code: true, name: true, level: true, subjectId: true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} } } }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endParaRPr sz="990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studentContext = {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programme: profile?.major || null,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interests: profile?.interests || [],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goals: profile?.goals || [],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savedCourses: (profile?.savedCourses || []).map(({ course }) =&gt; course),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completedCourses: (profile?.completedCourses || []).map(({ course }) =&gt; course)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endParaRPr sz="990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retrievalContext = [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normalizedQuery,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studentContext.programme &amp;&amp; `Programme: ${studentContext.programme}`,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studentContext.interests.length &amp;&amp; `Interests: ${studentContext.interests.join(', ')}`,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studentContext.completedCourses.length &amp;&amp; `Completed-course foundation: ${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studentContext.completedCourses.map(course =&gt; course.code).join(', ')}`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].filter(Boolean).join('\n')</a:t>
            </a:r>
          </a:p>
        </p:txBody>
      </p:sp>
    </p:spTree>
    <p:extLst>
      <p:ext uri="{BB962C8B-B14F-4D97-AF65-F5344CB8AC3E}">
        <p14:creationId xmlns:p14="http://schemas.microsoft.com/office/powerpoint/2010/main" val="1820108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15062FF7-F85C-44AD-AEC3-9611290532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18A56C-4E85-4B87-9EE1-90D1AE1A61DB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Completed Courses Inform Personalisation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98ECFC8-CB5B-48B4-B441-74D127CD9BF2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Recorded prerequisites take priority, followed by suitable courses in the same subject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463663F-1496-423D-AF56-BA39AF4DA205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49352EC-DFAF-482E-95FC-F15886C95FE9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7239000" cy="466725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54F9AFC-A9DF-4D7A-96D2-B69A28EA63D2}"/>
              </a:ext>
            </a:extLst>
          </p:cNvPr>
          <p:cNvSpPr>
            <a:spLocks noGrp="1"/>
          </p:cNvSpPr>
          <p:nvPr/>
        </p:nvSpPr>
        <p:spPr>
          <a:xfrm>
            <a:off x="552450" y="1381125"/>
            <a:ext cx="723900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64F3CE0-75C5-4981-86C0-2C34A74A8867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14A9AF9-0FC5-4F99-89BC-1B29F4503699}"/>
              </a:ext>
            </a:extLst>
          </p:cNvPr>
          <p:cNvSpPr>
            <a:spLocks noGrp="1"/>
          </p:cNvSpPr>
          <p:nvPr/>
        </p:nvSpPr>
        <p:spPr>
          <a:xfrm>
            <a:off x="838200" y="1495425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311E460-E287-4BD2-B141-BC43DB2DE07B}"/>
              </a:ext>
            </a:extLst>
          </p:cNvPr>
          <p:cNvSpPr>
            <a:spLocks noGrp="1"/>
          </p:cNvSpPr>
          <p:nvPr/>
        </p:nvSpPr>
        <p:spPr>
          <a:xfrm>
            <a:off x="990600" y="1495425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FAD3C90-A1CD-4E4C-B824-831F3C266E3F}"/>
              </a:ext>
            </a:extLst>
          </p:cNvPr>
          <p:cNvSpPr>
            <a:spLocks noGrp="1"/>
          </p:cNvSpPr>
          <p:nvPr/>
        </p:nvSpPr>
        <p:spPr>
          <a:xfrm>
            <a:off x="1200150" y="1428750"/>
            <a:ext cx="64579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62E3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2E3A8"/>
                </a:solidFill>
                <a:latin typeface="Consolas"/>
                <a:ea typeface="Consolas"/>
                <a:cs typeface="Consolas"/>
              </a:rPr>
              <a:t>backend/src/services/completedCourseAnalysisService.js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D0BF5E3-C30A-48A8-B219-02E4E1D42A78}"/>
              </a:ext>
            </a:extLst>
          </p:cNvPr>
          <p:cNvSpPr>
            <a:spLocks noGrp="1"/>
          </p:cNvSpPr>
          <p:nvPr/>
        </p:nvSpPr>
        <p:spPr>
          <a:xfrm>
            <a:off x="723900" y="1800225"/>
            <a:ext cx="6915150" cy="415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attachCompletedCourseConnections = (candidates, completedCourses) =&gt; {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const completedById = new Map(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completedCourses.map(course =&gt; [Number(course.id), course])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)</a:t>
            </a:r>
          </a:p>
          <a:p>
            <a:endParaRPr sz="907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return candidates.map(candidate =&gt; {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const connections = []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const connectedIds = new Set()</a:t>
            </a:r>
          </a:p>
          <a:p>
            <a:endParaRPr sz="907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for (const prerequisite of candidate.prerequisites || []) {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const completed = completedById.get(Number(prerequisite.id))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if (!completed || connectedIds.has(Number(completed.id))) continue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connections.push({ id: completed.id, code: completed.code,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  name: completed.name, relationship: 'prerequisite' })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connectedIds.add(Number(completed.id))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endParaRPr sz="907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for (const completed of completedCourses) {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if (connectedIds.has(Number(completed.id))) continue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if (Number(completed.subjectId) !== Number(candidate.subjectId)) continue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if (Number(completed.level) &gt; Number(candidate.level)) continue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connections.push({ id: completed.id, code: completed.code,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  name: completed.name, relationship: 'same_subject' })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connectedIds.add(Number(completed.id))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endParaRPr sz="907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return { ...candidate,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completedCourseConnections: connections.slice(0, 5) }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})</a:t>
            </a:r>
          </a:p>
          <a:p>
            <a:pPr algn="l">
              <a:defRPr sz="907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07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1599154-FC4A-4EFB-B1A5-B0923770E312}"/>
              </a:ext>
            </a:extLst>
          </p:cNvPr>
          <p:cNvSpPr>
            <a:spLocks noGrp="1"/>
          </p:cNvSpPr>
          <p:nvPr/>
        </p:nvSpPr>
        <p:spPr>
          <a:xfrm>
            <a:off x="8134350" y="1657350"/>
            <a:ext cx="438150" cy="4381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C406901-43C0-46A7-A84C-7647D2EFCCF3}"/>
              </a:ext>
            </a:extLst>
          </p:cNvPr>
          <p:cNvSpPr>
            <a:spLocks noGrp="1"/>
          </p:cNvSpPr>
          <p:nvPr/>
        </p:nvSpPr>
        <p:spPr>
          <a:xfrm>
            <a:off x="8134350" y="16764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430CFD6-0A16-41B8-BD05-4F389B2B8827}"/>
              </a:ext>
            </a:extLst>
          </p:cNvPr>
          <p:cNvSpPr>
            <a:spLocks noGrp="1"/>
          </p:cNvSpPr>
          <p:nvPr/>
        </p:nvSpPr>
        <p:spPr>
          <a:xfrm>
            <a:off x="8724900" y="1638300"/>
            <a:ext cx="26479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Prerequisite match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A0A0570-A006-45DE-9DDD-1E9E72C6DCCB}"/>
              </a:ext>
            </a:extLst>
          </p:cNvPr>
          <p:cNvSpPr>
            <a:spLocks noGrp="1"/>
          </p:cNvSpPr>
          <p:nvPr/>
        </p:nvSpPr>
        <p:spPr>
          <a:xfrm>
            <a:off x="8724900" y="2076450"/>
            <a:ext cx="2647950" cy="819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Candidate prerequisites are matched directly against completed course IDs.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77B568C5-420D-4D89-8F4A-8C4973560EAF}"/>
              </a:ext>
            </a:extLst>
          </p:cNvPr>
          <p:cNvSpPr>
            <a:spLocks noGrp="1"/>
          </p:cNvSpPr>
          <p:nvPr/>
        </p:nvSpPr>
        <p:spPr>
          <a:xfrm>
            <a:off x="8134350" y="3162300"/>
            <a:ext cx="438150" cy="43815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D690597-778F-4CED-A279-F8711B67DD70}"/>
              </a:ext>
            </a:extLst>
          </p:cNvPr>
          <p:cNvSpPr>
            <a:spLocks noGrp="1"/>
          </p:cNvSpPr>
          <p:nvPr/>
        </p:nvSpPr>
        <p:spPr>
          <a:xfrm>
            <a:off x="8134350" y="318135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DF3EA8-E454-4D60-9A5B-B508A7FDAF4B}"/>
              </a:ext>
            </a:extLst>
          </p:cNvPr>
          <p:cNvSpPr>
            <a:spLocks noGrp="1"/>
          </p:cNvSpPr>
          <p:nvPr/>
        </p:nvSpPr>
        <p:spPr>
          <a:xfrm>
            <a:off x="8724900" y="3143250"/>
            <a:ext cx="26479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Same-subject link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32AAB63-DEE9-4AE5-B615-9EF13AEBA0D9}"/>
              </a:ext>
            </a:extLst>
          </p:cNvPr>
          <p:cNvSpPr>
            <a:spLocks noGrp="1"/>
          </p:cNvSpPr>
          <p:nvPr/>
        </p:nvSpPr>
        <p:spPr>
          <a:xfrm>
            <a:off x="8724900" y="3581400"/>
            <a:ext cx="264795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Connections require the same subject and a completed level no higher than the candidate.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A9290CC4-2BAC-424E-8966-103A7039F56A}"/>
              </a:ext>
            </a:extLst>
          </p:cNvPr>
          <p:cNvSpPr>
            <a:spLocks noGrp="1"/>
          </p:cNvSpPr>
          <p:nvPr/>
        </p:nvSpPr>
        <p:spPr>
          <a:xfrm>
            <a:off x="8134350" y="4762500"/>
            <a:ext cx="438150" cy="4381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6B31965-F946-468C-8BD2-F92E2559C6C3}"/>
              </a:ext>
            </a:extLst>
          </p:cNvPr>
          <p:cNvSpPr>
            <a:spLocks noGrp="1"/>
          </p:cNvSpPr>
          <p:nvPr/>
        </p:nvSpPr>
        <p:spPr>
          <a:xfrm>
            <a:off x="8134350" y="478155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D15532-227F-49D0-8C3A-E066694FF74A}"/>
              </a:ext>
            </a:extLst>
          </p:cNvPr>
          <p:cNvSpPr>
            <a:spLocks noGrp="1"/>
          </p:cNvSpPr>
          <p:nvPr/>
        </p:nvSpPr>
        <p:spPr>
          <a:xfrm>
            <a:off x="8724900" y="4743450"/>
            <a:ext cx="264795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Connection limit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80295F0-A089-4451-AEB1-FCC44C54A49E}"/>
              </a:ext>
            </a:extLst>
          </p:cNvPr>
          <p:cNvSpPr>
            <a:spLocks noGrp="1"/>
          </p:cNvSpPr>
          <p:nvPr/>
        </p:nvSpPr>
        <p:spPr>
          <a:xfrm>
            <a:off x="8724900" y="5181600"/>
            <a:ext cx="26479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Each candidate keeps no more than five relevant completed-course links.</a:t>
            </a:r>
          </a:p>
        </p:txBody>
      </p:sp>
    </p:spTree>
    <p:extLst>
      <p:ext uri="{BB962C8B-B14F-4D97-AF65-F5344CB8AC3E}">
        <p14:creationId xmlns:p14="http://schemas.microsoft.com/office/powerpoint/2010/main" val="10538691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2BD883C-EE08-4B2A-B0E8-3487F81247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96415C-CE05-4AB0-B88D-6DAF2499F804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Generate the Query Embedding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1FA566-C508-47A4-B7B9-0541EDBAB8BB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SiliconFlow BAAI/bge-m3 converts the combined context into a 1024-dimensional vector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2EB8956-740E-400C-B867-6C7328B20483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EDF3356-AB6D-429B-8663-9D5079C1C595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438150" cy="43815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72D4C3-4598-4A3D-9377-455EF8417BD7}"/>
              </a:ext>
            </a:extLst>
          </p:cNvPr>
          <p:cNvSpPr>
            <a:spLocks noGrp="1"/>
          </p:cNvSpPr>
          <p:nvPr/>
        </p:nvSpPr>
        <p:spPr>
          <a:xfrm>
            <a:off x="552450" y="169545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106CF5E-25D8-41CC-91A4-371C4A76DF2F}"/>
              </a:ext>
            </a:extLst>
          </p:cNvPr>
          <p:cNvSpPr>
            <a:spLocks noGrp="1"/>
          </p:cNvSpPr>
          <p:nvPr/>
        </p:nvSpPr>
        <p:spPr>
          <a:xfrm>
            <a:off x="1143000" y="165735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Input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400F98-8674-4E61-B147-E6D429A7A145}"/>
              </a:ext>
            </a:extLst>
          </p:cNvPr>
          <p:cNvSpPr>
            <a:spLocks noGrp="1"/>
          </p:cNvSpPr>
          <p:nvPr/>
        </p:nvSpPr>
        <p:spPr>
          <a:xfrm>
            <a:off x="1143000" y="2095500"/>
            <a:ext cx="2743200" cy="971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retrievalContext includes the query, programme, interests, goals, saved courses, and completed study.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243C032-65B6-4557-B8C8-DA0BD0BE0355}"/>
              </a:ext>
            </a:extLst>
          </p:cNvPr>
          <p:cNvSpPr>
            <a:spLocks noGrp="1"/>
          </p:cNvSpPr>
          <p:nvPr/>
        </p:nvSpPr>
        <p:spPr>
          <a:xfrm>
            <a:off x="552450" y="3371850"/>
            <a:ext cx="438150" cy="438150"/>
          </a:xfrm>
          <a:prstGeom prst="ellipse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053ED3-1692-4F91-8D2D-DDC1C5736DF0}"/>
              </a:ext>
            </a:extLst>
          </p:cNvPr>
          <p:cNvSpPr>
            <a:spLocks noGrp="1"/>
          </p:cNvSpPr>
          <p:nvPr/>
        </p:nvSpPr>
        <p:spPr>
          <a:xfrm>
            <a:off x="552450" y="33909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36F473-55EC-4D68-B5BF-D55D346E67BA}"/>
              </a:ext>
            </a:extLst>
          </p:cNvPr>
          <p:cNvSpPr>
            <a:spLocks noGrp="1"/>
          </p:cNvSpPr>
          <p:nvPr/>
        </p:nvSpPr>
        <p:spPr>
          <a:xfrm>
            <a:off x="1143000" y="3352800"/>
            <a:ext cx="27432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Call and validate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0E9286C-CC34-4FBF-95B1-2C5CE265D1F4}"/>
              </a:ext>
            </a:extLst>
          </p:cNvPr>
          <p:cNvSpPr>
            <a:spLocks noGrp="1"/>
          </p:cNvSpPr>
          <p:nvPr/>
        </p:nvSpPr>
        <p:spPr>
          <a:xfrm>
            <a:off x="1143000" y="3790950"/>
            <a:ext cx="2743200" cy="151447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Call the embedding service with an API key. The result must be an array of exactly 1024 values. Timeouts, 429s, and 5xx responses can be retried.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74D846F-ED4C-4EEA-B0E7-5FAFEE0AE4EE}"/>
              </a:ext>
            </a:extLst>
          </p:cNvPr>
          <p:cNvSpPr>
            <a:spLocks noGrp="1"/>
          </p:cNvSpPr>
          <p:nvPr/>
        </p:nvSpPr>
        <p:spPr>
          <a:xfrm>
            <a:off x="4095750" y="1428750"/>
            <a:ext cx="7524750" cy="447675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08C9FA9-5A6E-462D-A8E3-EEFE09C32A53}"/>
              </a:ext>
            </a:extLst>
          </p:cNvPr>
          <p:cNvSpPr>
            <a:spLocks noGrp="1"/>
          </p:cNvSpPr>
          <p:nvPr/>
        </p:nvSpPr>
        <p:spPr>
          <a:xfrm>
            <a:off x="4095750" y="1428750"/>
            <a:ext cx="752475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E224DB8-B031-441D-9CBF-662969BFEA2B}"/>
              </a:ext>
            </a:extLst>
          </p:cNvPr>
          <p:cNvSpPr>
            <a:spLocks noGrp="1"/>
          </p:cNvSpPr>
          <p:nvPr/>
        </p:nvSpPr>
        <p:spPr>
          <a:xfrm>
            <a:off x="4229100" y="1543050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6ABA601F-D5AA-4030-A8D5-95DE874526BB}"/>
              </a:ext>
            </a:extLst>
          </p:cNvPr>
          <p:cNvSpPr>
            <a:spLocks noGrp="1"/>
          </p:cNvSpPr>
          <p:nvPr/>
        </p:nvSpPr>
        <p:spPr>
          <a:xfrm>
            <a:off x="4381500" y="1543050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E91CD99-3407-43AE-8D43-19153CCDB017}"/>
              </a:ext>
            </a:extLst>
          </p:cNvPr>
          <p:cNvSpPr>
            <a:spLocks noGrp="1"/>
          </p:cNvSpPr>
          <p:nvPr/>
        </p:nvSpPr>
        <p:spPr>
          <a:xfrm>
            <a:off x="4533900" y="1543050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BA2877-F4C4-460B-A403-02B3E743B7D3}"/>
              </a:ext>
            </a:extLst>
          </p:cNvPr>
          <p:cNvSpPr>
            <a:spLocks noGrp="1"/>
          </p:cNvSpPr>
          <p:nvPr/>
        </p:nvSpPr>
        <p:spPr>
          <a:xfrm>
            <a:off x="4743450" y="1476375"/>
            <a:ext cx="67437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7C6C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7C6CFF"/>
                </a:solidFill>
                <a:latin typeface="Consolas"/>
                <a:ea typeface="Consolas"/>
                <a:cs typeface="Consolas"/>
              </a:rPr>
              <a:t>backend/src/services/aiService.js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711C1E1-CEE2-4386-A4BD-D4937915BBDE}"/>
              </a:ext>
            </a:extLst>
          </p:cNvPr>
          <p:cNvSpPr>
            <a:spLocks noGrp="1"/>
          </p:cNvSpPr>
          <p:nvPr/>
        </p:nvSpPr>
        <p:spPr>
          <a:xfrm>
            <a:off x="4267200" y="1847850"/>
            <a:ext cx="7200900" cy="3962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EMBEDDING_DIMENSIONS = 1024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SILICONFLOW_EMBEDDING_MODEL = 'BAAI/bge-m3'</a:t>
            </a:r>
          </a:p>
          <a:p>
            <a:endParaRPr sz="1050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response = await fetch(SILICONFLOW_EMBEDDING_URL, {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method: 'POST',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headers: {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'Content-Type': 'application/json',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Authorization: `Bearer ${apiKey}`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body: JSON.stringify({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model: SILICONFLOW_EMBEDDING_MODEL,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input: text,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encoding_format: 'float'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}),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signal: controller.signal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endParaRPr sz="1050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vector = data?.data?.[0]?.embedding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if (vector.length !== EMBEDDING_DIMENSIONS) {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throw new Error('Unexpected embedding dimensions')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defRPr sz="105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return vector</a:t>
            </a:r>
          </a:p>
        </p:txBody>
      </p:sp>
    </p:spTree>
    <p:extLst>
      <p:ext uri="{BB962C8B-B14F-4D97-AF65-F5344CB8AC3E}">
        <p14:creationId xmlns:p14="http://schemas.microsoft.com/office/powerpoint/2010/main" val="10328706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D48BC5BE-FFEF-4F37-A9F9-89A3632068F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CF50DF5-7816-43A0-95E5-22C1BF2824AA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pgvector Semantic Retrieval and Filters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F4B7C76-71A7-4DE3-A946-827729A3C664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Cosine distance ranks candidates while completed courses are excluded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D86F9D9-C06A-4927-BDB6-3C859D218500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24893C6-9074-44E8-85EC-2294FD8DA9B6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7429500" cy="476250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0000F3E-EE0D-4C3F-A1C8-1BFB02623E54}"/>
              </a:ext>
            </a:extLst>
          </p:cNvPr>
          <p:cNvSpPr>
            <a:spLocks noGrp="1"/>
          </p:cNvSpPr>
          <p:nvPr/>
        </p:nvSpPr>
        <p:spPr>
          <a:xfrm>
            <a:off x="533400" y="1381125"/>
            <a:ext cx="742950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46A617D-9734-4746-912F-CC580958BCED}"/>
              </a:ext>
            </a:extLst>
          </p:cNvPr>
          <p:cNvSpPr>
            <a:spLocks noGrp="1"/>
          </p:cNvSpPr>
          <p:nvPr/>
        </p:nvSpPr>
        <p:spPr>
          <a:xfrm>
            <a:off x="666750" y="1495425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1C50C9C-59EA-4256-A26E-CA04E6247933}"/>
              </a:ext>
            </a:extLst>
          </p:cNvPr>
          <p:cNvSpPr>
            <a:spLocks noGrp="1"/>
          </p:cNvSpPr>
          <p:nvPr/>
        </p:nvSpPr>
        <p:spPr>
          <a:xfrm>
            <a:off x="819150" y="1495425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5E760A27-DCD7-467E-A08B-0467CD4DA098}"/>
              </a:ext>
            </a:extLst>
          </p:cNvPr>
          <p:cNvSpPr>
            <a:spLocks noGrp="1"/>
          </p:cNvSpPr>
          <p:nvPr/>
        </p:nvSpPr>
        <p:spPr>
          <a:xfrm>
            <a:off x="971550" y="1495425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EC5DBA-0724-43F4-BC17-884EEA949EE6}"/>
              </a:ext>
            </a:extLst>
          </p:cNvPr>
          <p:cNvSpPr>
            <a:spLocks noGrp="1"/>
          </p:cNvSpPr>
          <p:nvPr/>
        </p:nvSpPr>
        <p:spPr>
          <a:xfrm>
            <a:off x="1181100" y="1428750"/>
            <a:ext cx="664845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backend/src/services/courseRetrievalService.js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633F2C-FA7B-4B2A-B58F-F89A6B3DFC1F}"/>
              </a:ext>
            </a:extLst>
          </p:cNvPr>
          <p:cNvSpPr>
            <a:spLocks noGrp="1"/>
          </p:cNvSpPr>
          <p:nvPr/>
        </p:nvSpPr>
        <p:spPr>
          <a:xfrm>
            <a:off x="704850" y="1800225"/>
            <a:ext cx="7105650" cy="42481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embedding = await aiService.generateEmbedding(query)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vectorString = `[${embedding.join(',')}]`</a:t>
            </a:r>
          </a:p>
          <a:p>
            <a:endParaRPr sz="1013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filters.push(`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AND NOT EXISTS (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SELECT 1 FROM "CompletedCourse" AS completed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WHERE completed."courseId" = "Course"."id"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AND completed."userId" = $${values.length}::int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)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`)</a:t>
            </a:r>
          </a:p>
          <a:p>
            <a:endParaRPr sz="1013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courses = await prisma.$queryRawUnsafe(`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SELECT id, code, name, description, credits, level,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CAST(1 - (embedding &lt;=&gt; $1::vector) AS TEXT) AS similarity_text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FROM "Course"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WHERE embedding IS NOT NULL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AND "isActive" = true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AND 1 - (embedding &lt;=&gt; $1::vector) &gt;= $2::float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${filters.join('\n')}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ORDER BY embedding &lt;=&gt; $1::vector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LIMIT $${values.length}::int</a:t>
            </a:r>
          </a:p>
          <a:p>
            <a:pPr algn="l">
              <a:defRPr sz="1013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`, ...values)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AB192934-C59E-4602-A969-083E8172CDDA}"/>
              </a:ext>
            </a:extLst>
          </p:cNvPr>
          <p:cNvSpPr>
            <a:spLocks noGrp="1"/>
          </p:cNvSpPr>
          <p:nvPr/>
        </p:nvSpPr>
        <p:spPr>
          <a:xfrm>
            <a:off x="8286750" y="1581150"/>
            <a:ext cx="438150" cy="438150"/>
          </a:xfrm>
          <a:prstGeom prst="ellipse">
            <a:avLst/>
          </a:prstGeom>
          <a:solidFill>
            <a:srgbClr val="36D9FF"/>
          </a:solidFill>
          <a:ln w="0">
            <a:solidFill>
              <a:srgbClr val="36D9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36D3F98-D6DE-496C-8CF0-30739CD5FD19}"/>
              </a:ext>
            </a:extLst>
          </p:cNvPr>
          <p:cNvSpPr>
            <a:spLocks noGrp="1"/>
          </p:cNvSpPr>
          <p:nvPr/>
        </p:nvSpPr>
        <p:spPr>
          <a:xfrm>
            <a:off x="8286750" y="16002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BE901F-4C14-45A2-A7FE-4B82F51D6472}"/>
              </a:ext>
            </a:extLst>
          </p:cNvPr>
          <p:cNvSpPr>
            <a:spLocks noGrp="1"/>
          </p:cNvSpPr>
          <p:nvPr/>
        </p:nvSpPr>
        <p:spPr>
          <a:xfrm>
            <a:off x="8877300" y="156210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Vector similarity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28F0228-23F1-4154-A440-889A12E6EE43}"/>
              </a:ext>
            </a:extLst>
          </p:cNvPr>
          <p:cNvSpPr>
            <a:spLocks noGrp="1"/>
          </p:cNvSpPr>
          <p:nvPr/>
        </p:nvSpPr>
        <p:spPr>
          <a:xfrm>
            <a:off x="8877300" y="2000250"/>
            <a:ext cx="2552700" cy="7620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The pgvector &lt;=&gt; operator calculates cosine distance.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F83F12BD-8C5E-402D-9F0B-8F41F08867DD}"/>
              </a:ext>
            </a:extLst>
          </p:cNvPr>
          <p:cNvSpPr>
            <a:spLocks noGrp="1"/>
          </p:cNvSpPr>
          <p:nvPr/>
        </p:nvSpPr>
        <p:spPr>
          <a:xfrm>
            <a:off x="8286750" y="3067050"/>
            <a:ext cx="438150" cy="4381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145821-C8B0-4CD2-820A-214568F2922B}"/>
              </a:ext>
            </a:extLst>
          </p:cNvPr>
          <p:cNvSpPr>
            <a:spLocks noGrp="1"/>
          </p:cNvSpPr>
          <p:nvPr/>
        </p:nvSpPr>
        <p:spPr>
          <a:xfrm>
            <a:off x="8286750" y="30861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E360223-E359-4178-8A63-68B308DB4915}"/>
              </a:ext>
            </a:extLst>
          </p:cNvPr>
          <p:cNvSpPr>
            <a:spLocks noGrp="1"/>
          </p:cNvSpPr>
          <p:nvPr/>
        </p:nvSpPr>
        <p:spPr>
          <a:xfrm>
            <a:off x="8877300" y="304800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Structured filters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F29A004-4C10-4F58-919A-05E4EC0D5848}"/>
              </a:ext>
            </a:extLst>
          </p:cNvPr>
          <p:cNvSpPr>
            <a:spLocks noGrp="1"/>
          </p:cNvSpPr>
          <p:nvPr/>
        </p:nvSpPr>
        <p:spPr>
          <a:xfrm>
            <a:off x="8877300" y="3486150"/>
            <a:ext cx="2552700" cy="9144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Semester, assessment type, credits, workload, and course level can refine the query.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74B39E1F-14B4-489A-AE75-D04F49000268}"/>
              </a:ext>
            </a:extLst>
          </p:cNvPr>
          <p:cNvSpPr>
            <a:spLocks noGrp="1"/>
          </p:cNvSpPr>
          <p:nvPr/>
        </p:nvSpPr>
        <p:spPr>
          <a:xfrm>
            <a:off x="8286750" y="4705350"/>
            <a:ext cx="438150" cy="4381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C10435A-8B7A-495B-9A91-9457E4732B08}"/>
              </a:ext>
            </a:extLst>
          </p:cNvPr>
          <p:cNvSpPr>
            <a:spLocks noGrp="1"/>
          </p:cNvSpPr>
          <p:nvPr/>
        </p:nvSpPr>
        <p:spPr>
          <a:xfrm>
            <a:off x="8286750" y="4724400"/>
            <a:ext cx="43815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409B41F-5FA4-4C93-8BA3-D165B52399BC}"/>
              </a:ext>
            </a:extLst>
          </p:cNvPr>
          <p:cNvSpPr>
            <a:spLocks noGrp="1"/>
          </p:cNvSpPr>
          <p:nvPr/>
        </p:nvSpPr>
        <p:spPr>
          <a:xfrm>
            <a:off x="8877300" y="4686300"/>
            <a:ext cx="2552700" cy="36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Candidate results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3BA96847-154E-4EBE-AE42-D7A8CE784682}"/>
              </a:ext>
            </a:extLst>
          </p:cNvPr>
          <p:cNvSpPr>
            <a:spLocks noGrp="1"/>
          </p:cNvSpPr>
          <p:nvPr/>
        </p:nvSpPr>
        <p:spPr>
          <a:xfrm>
            <a:off x="8877300" y="5124450"/>
            <a:ext cx="2552700" cy="8001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Courses are ranked by relevance, with a controller limit of ten candidates.</a:t>
            </a:r>
          </a:p>
        </p:txBody>
      </p:sp>
    </p:spTree>
    <p:extLst>
      <p:ext uri="{BB962C8B-B14F-4D97-AF65-F5344CB8AC3E}">
        <p14:creationId xmlns:p14="http://schemas.microsoft.com/office/powerpoint/2010/main" val="6327795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3E288D42-D7F1-4168-935F-30F419DB5A8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881639-73B6-4DA6-B6C9-87E97F141D5C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GLM-4 Generates and Validates Explanations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C7F870-C9ED-4CB7-831C-87F998A05442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The model uses only candidate data, while failures preserve semantic retrieval results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2FA1D64-B048-4075-B950-EF28AC7AD367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2C06ECB-A1B0-44ED-B2B3-CCA4090717F4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5429250" cy="468630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7DA62DF-86C2-4249-8F83-B3F4E83CD1E6}"/>
              </a:ext>
            </a:extLst>
          </p:cNvPr>
          <p:cNvSpPr>
            <a:spLocks noGrp="1"/>
          </p:cNvSpPr>
          <p:nvPr/>
        </p:nvSpPr>
        <p:spPr>
          <a:xfrm>
            <a:off x="514350" y="1390650"/>
            <a:ext cx="542925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91F1CAB-8764-4427-8D98-701196EF818B}"/>
              </a:ext>
            </a:extLst>
          </p:cNvPr>
          <p:cNvSpPr>
            <a:spLocks noGrp="1"/>
          </p:cNvSpPr>
          <p:nvPr/>
        </p:nvSpPr>
        <p:spPr>
          <a:xfrm>
            <a:off x="647700" y="1504950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F639363-BFA9-4428-9F5C-B5E523983B3C}"/>
              </a:ext>
            </a:extLst>
          </p:cNvPr>
          <p:cNvSpPr>
            <a:spLocks noGrp="1"/>
          </p:cNvSpPr>
          <p:nvPr/>
        </p:nvSpPr>
        <p:spPr>
          <a:xfrm>
            <a:off x="800100" y="1504950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3E300A81-4B98-448F-AE65-E128F0C1BCA0}"/>
              </a:ext>
            </a:extLst>
          </p:cNvPr>
          <p:cNvSpPr>
            <a:spLocks noGrp="1"/>
          </p:cNvSpPr>
          <p:nvPr/>
        </p:nvSpPr>
        <p:spPr>
          <a:xfrm>
            <a:off x="952500" y="1504950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5C3424D-7527-42E4-A702-4019DEA145AA}"/>
              </a:ext>
            </a:extLst>
          </p:cNvPr>
          <p:cNvSpPr>
            <a:spLocks noGrp="1"/>
          </p:cNvSpPr>
          <p:nvPr/>
        </p:nvSpPr>
        <p:spPr>
          <a:xfrm>
            <a:off x="1162050" y="1438275"/>
            <a:ext cx="4648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FFCC66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FFCC66"/>
                </a:solidFill>
                <a:latin typeface="Consolas"/>
                <a:ea typeface="Consolas"/>
                <a:cs typeface="Consolas"/>
              </a:rPr>
              <a:t>backend/src/controllers/aiController.js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2D4E2-85C6-4E9C-8529-8554E50059F4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5105400" cy="417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systemPrompt = `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Use only the course information supplied by the application.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Do not invent course facts or recommend courses outside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the candidate list.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When completedCourseConnections are supplied, explain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how completed courses prepare the student.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Return JSON only in the required shape.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`</a:t>
            </a:r>
          </a:p>
          <a:p>
            <a:endParaRPr sz="990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userContent = `Student requirements: ${normalizedQuery}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Student context: ${JSON.stringify(studentContext)}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Candidate courses: ${JSON.stringify(candidates)}`</a:t>
            </a:r>
          </a:p>
          <a:p>
            <a:endParaRPr sz="990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aiAnalysis = await llmService.chatCompletion({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messages: [{ role: 'system', content: systemPrompt },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       { role: 'user', content: userContent }],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temperature: 0.5,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maxTokens: 2048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endParaRPr sz="990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structuredResult = parseRecommendationOutput(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aiAnalysis, candidates, normalizedQuery</a:t>
            </a:r>
          </a:p>
          <a:p>
            <a:pPr algn="l">
              <a:defRPr sz="990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90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DF4C8A-C55E-4D1D-A7C9-E71881E6F132}"/>
              </a:ext>
            </a:extLst>
          </p:cNvPr>
          <p:cNvSpPr>
            <a:spLocks noGrp="1"/>
          </p:cNvSpPr>
          <p:nvPr/>
        </p:nvSpPr>
        <p:spPr>
          <a:xfrm>
            <a:off x="6248400" y="1390650"/>
            <a:ext cx="5429250" cy="468630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A5E9B66-B0DB-4665-8D44-76A95CFDE170}"/>
              </a:ext>
            </a:extLst>
          </p:cNvPr>
          <p:cNvSpPr>
            <a:spLocks noGrp="1"/>
          </p:cNvSpPr>
          <p:nvPr/>
        </p:nvSpPr>
        <p:spPr>
          <a:xfrm>
            <a:off x="6248400" y="1390650"/>
            <a:ext cx="542925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CDFCD62B-113C-4793-81B8-167EDD2D6000}"/>
              </a:ext>
            </a:extLst>
          </p:cNvPr>
          <p:cNvSpPr>
            <a:spLocks noGrp="1"/>
          </p:cNvSpPr>
          <p:nvPr/>
        </p:nvSpPr>
        <p:spPr>
          <a:xfrm>
            <a:off x="6381750" y="1504950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D20CBBB9-B1EC-4E1D-B507-40F751F6F04A}"/>
              </a:ext>
            </a:extLst>
          </p:cNvPr>
          <p:cNvSpPr>
            <a:spLocks noGrp="1"/>
          </p:cNvSpPr>
          <p:nvPr/>
        </p:nvSpPr>
        <p:spPr>
          <a:xfrm>
            <a:off x="6534150" y="1504950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E591271-5CF4-4B12-9832-61D31A180959}"/>
              </a:ext>
            </a:extLst>
          </p:cNvPr>
          <p:cNvSpPr>
            <a:spLocks noGrp="1"/>
          </p:cNvSpPr>
          <p:nvPr/>
        </p:nvSpPr>
        <p:spPr>
          <a:xfrm>
            <a:off x="6686550" y="1504950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148EEC-4ABF-436A-A158-C8226B6D25F0}"/>
              </a:ext>
            </a:extLst>
          </p:cNvPr>
          <p:cNvSpPr>
            <a:spLocks noGrp="1"/>
          </p:cNvSpPr>
          <p:nvPr/>
        </p:nvSpPr>
        <p:spPr>
          <a:xfrm>
            <a:off x="6896100" y="1438275"/>
            <a:ext cx="4648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7C6C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7C6CFF"/>
                </a:solidFill>
                <a:latin typeface="Consolas"/>
                <a:ea typeface="Consolas"/>
                <a:cs typeface="Consolas"/>
              </a:rPr>
              <a:t>backend/src/services/llmService.js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C86F30A-A896-46FA-A4F4-CB0314B80061}"/>
              </a:ext>
            </a:extLst>
          </p:cNvPr>
          <p:cNvSpPr>
            <a:spLocks noGrp="1"/>
          </p:cNvSpPr>
          <p:nvPr/>
        </p:nvSpPr>
        <p:spPr>
          <a:xfrm>
            <a:off x="6419850" y="1809750"/>
            <a:ext cx="5105400" cy="41719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CHAT_MODEL = process.env.ZHIPU_CHAT_MODEL || 'glm-4'</a:t>
            </a:r>
          </a:p>
          <a:p>
            <a:endParaRPr sz="938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response = await fetch(ZHIPU_URL, {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method: 'POST',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headers: {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'Content-Type': 'application/json',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Authorization: `Bearer ${apiKey}`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},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body: JSON.stringify({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model: CHAT_MODEL, messages, temperature,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...(Number.isInteger(maxTokens) &amp;&amp; maxTokens &gt; 0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? { max_tokens: maxTokens } : {})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}),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signal: controller.signal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})</a:t>
            </a:r>
          </a:p>
          <a:p>
            <a:endParaRPr sz="938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content = data.choices?.[0]?.message?.content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if (!content) throw new Error('empty content')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return content</a:t>
            </a:r>
          </a:p>
          <a:p>
            <a:endParaRPr sz="938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// aiController catch: semantic fallback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structuredResult = {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recommendations: candidates.map(course =&gt; ({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courseId: course.id,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reasons: ['This course is a semantic match...'],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completedCourseAnalysis: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buildFallbackRecommendation(course).completedCourseAnalysis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}))</a:t>
            </a:r>
          </a:p>
          <a:p>
            <a:pPr algn="l">
              <a:defRPr sz="938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938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04956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C237C7ED-1ACA-4C9C-9BA8-CB9FF1D457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185AE5-7C5D-46ED-9BBF-0E3A7BF4AFE4}"/>
              </a:ext>
            </a:extLst>
          </p:cNvPr>
          <p:cNvSpPr>
            <a:spLocks noGrp="1"/>
          </p:cNvSpPr>
          <p:nvPr/>
        </p:nvSpPr>
        <p:spPr>
          <a:xfrm>
            <a:off x="571500" y="323850"/>
            <a:ext cx="9810750" cy="5524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Backend Response and Frontend Rendering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4E2AA0-D191-4214-8018-A1D80130409A}"/>
              </a:ext>
            </a:extLst>
          </p:cNvPr>
          <p:cNvSpPr>
            <a:spLocks noGrp="1"/>
          </p:cNvSpPr>
          <p:nvPr/>
        </p:nvSpPr>
        <p:spPr>
          <a:xfrm>
            <a:off x="590550" y="876300"/>
            <a:ext cx="9906000" cy="3048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Structured JSON returns to the page and joins each candidate course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76652A-B581-47DE-AFD5-DB8199FEE1DA}"/>
              </a:ext>
            </a:extLst>
          </p:cNvPr>
          <p:cNvSpPr>
            <a:spLocks noGrp="1"/>
          </p:cNvSpPr>
          <p:nvPr/>
        </p:nvSpPr>
        <p:spPr>
          <a:xfrm>
            <a:off x="11049000" y="409575"/>
            <a:ext cx="5715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BFD746-AFB5-4F2B-B0C5-0775278F7F02}"/>
              </a:ext>
            </a:extLst>
          </p:cNvPr>
          <p:cNvSpPr>
            <a:spLocks noGrp="1"/>
          </p:cNvSpPr>
          <p:nvPr/>
        </p:nvSpPr>
        <p:spPr>
          <a:xfrm>
            <a:off x="514350" y="1381125"/>
            <a:ext cx="5429250" cy="466725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A4579F9-EEFC-4A72-9FC5-49F046B6D6EA}"/>
              </a:ext>
            </a:extLst>
          </p:cNvPr>
          <p:cNvSpPr>
            <a:spLocks noGrp="1"/>
          </p:cNvSpPr>
          <p:nvPr/>
        </p:nvSpPr>
        <p:spPr>
          <a:xfrm>
            <a:off x="514350" y="1381125"/>
            <a:ext cx="542925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FFB989D2-56E4-4BC6-A68C-384233340F4C}"/>
              </a:ext>
            </a:extLst>
          </p:cNvPr>
          <p:cNvSpPr>
            <a:spLocks noGrp="1"/>
          </p:cNvSpPr>
          <p:nvPr/>
        </p:nvSpPr>
        <p:spPr>
          <a:xfrm>
            <a:off x="647700" y="1495425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7F1F721-E6BA-4430-9FB8-1B76E13549A6}"/>
              </a:ext>
            </a:extLst>
          </p:cNvPr>
          <p:cNvSpPr>
            <a:spLocks noGrp="1"/>
          </p:cNvSpPr>
          <p:nvPr/>
        </p:nvSpPr>
        <p:spPr>
          <a:xfrm>
            <a:off x="800100" y="1495425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6446C19-25B5-47E6-991B-880BBB208332}"/>
              </a:ext>
            </a:extLst>
          </p:cNvPr>
          <p:cNvSpPr>
            <a:spLocks noGrp="1"/>
          </p:cNvSpPr>
          <p:nvPr/>
        </p:nvSpPr>
        <p:spPr>
          <a:xfrm>
            <a:off x="952500" y="1495425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6E0C18A-2F04-44DC-BE2F-05F925E99C53}"/>
              </a:ext>
            </a:extLst>
          </p:cNvPr>
          <p:cNvSpPr>
            <a:spLocks noGrp="1"/>
          </p:cNvSpPr>
          <p:nvPr/>
        </p:nvSpPr>
        <p:spPr>
          <a:xfrm>
            <a:off x="1162050" y="1428750"/>
            <a:ext cx="4648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62E3A8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62E3A8"/>
                </a:solidFill>
                <a:latin typeface="Consolas"/>
                <a:ea typeface="Consolas"/>
                <a:cs typeface="Consolas"/>
              </a:rPr>
              <a:t>backend/src/controllers/aiController.js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C18F87B-69C9-4983-852E-3973CC37D6CC}"/>
              </a:ext>
            </a:extLst>
          </p:cNvPr>
          <p:cNvSpPr>
            <a:spLocks noGrp="1"/>
          </p:cNvSpPr>
          <p:nvPr/>
        </p:nvSpPr>
        <p:spPr>
          <a:xfrm>
            <a:off x="685800" y="1800225"/>
            <a:ext cx="5105400" cy="415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res.json({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success: true,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data: {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candidateCourses: candidates,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aiRationale: structuredResult.summary,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recommendations: structuredResult.recommendations,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relevantCompletedCourses,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summary: structuredResult.summary,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mode: warning ? 'semantic' : 'ai',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disclaimer: 'Planning support only...',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...(warning ? { warning } : {})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})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C4F07FC-411C-4B70-86B8-23E4D7C6F915}"/>
              </a:ext>
            </a:extLst>
          </p:cNvPr>
          <p:cNvSpPr>
            <a:spLocks noGrp="1"/>
          </p:cNvSpPr>
          <p:nvPr/>
        </p:nvSpPr>
        <p:spPr>
          <a:xfrm>
            <a:off x="5943600" y="3181350"/>
            <a:ext cx="285750" cy="228600"/>
          </a:xfrm>
          <a:prstGeom prst="rightArrow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CB7EB35-DE2D-4E8E-BD45-5E83D8C7EF01}"/>
              </a:ext>
            </a:extLst>
          </p:cNvPr>
          <p:cNvSpPr>
            <a:spLocks noGrp="1"/>
          </p:cNvSpPr>
          <p:nvPr/>
        </p:nvSpPr>
        <p:spPr>
          <a:xfrm>
            <a:off x="6248400" y="1381125"/>
            <a:ext cx="5429250" cy="4667250"/>
          </a:xfrm>
          <a:prstGeom prst="rect">
            <a:avLst/>
          </a:prstGeom>
          <a:solidFill>
            <a:srgbClr val="0A0F1D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9F87407-8971-487B-836F-E5520A8B4EF6}"/>
              </a:ext>
            </a:extLst>
          </p:cNvPr>
          <p:cNvSpPr>
            <a:spLocks noGrp="1"/>
          </p:cNvSpPr>
          <p:nvPr/>
        </p:nvSpPr>
        <p:spPr>
          <a:xfrm>
            <a:off x="6248400" y="1381125"/>
            <a:ext cx="5429250" cy="323850"/>
          </a:xfrm>
          <a:prstGeom prst="rect">
            <a:avLst/>
          </a:prstGeom>
          <a:solidFill>
            <a:srgbClr val="151E37"/>
          </a:solidFill>
          <a:ln w="0">
            <a:solidFill>
              <a:srgbClr val="151E37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8B7925EC-806D-48A3-B9AB-58D81AC3B367}"/>
              </a:ext>
            </a:extLst>
          </p:cNvPr>
          <p:cNvSpPr>
            <a:spLocks noGrp="1"/>
          </p:cNvSpPr>
          <p:nvPr/>
        </p:nvSpPr>
        <p:spPr>
          <a:xfrm>
            <a:off x="6381750" y="1495425"/>
            <a:ext cx="95250" cy="95250"/>
          </a:xfrm>
          <a:prstGeom prst="ellipse">
            <a:avLst/>
          </a:prstGeom>
          <a:solidFill>
            <a:srgbClr val="FF7F8D"/>
          </a:solidFill>
          <a:ln w="0">
            <a:solidFill>
              <a:srgbClr val="FF7F8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419D0A40-7B6D-4EA1-8126-A25C380B8283}"/>
              </a:ext>
            </a:extLst>
          </p:cNvPr>
          <p:cNvSpPr>
            <a:spLocks noGrp="1"/>
          </p:cNvSpPr>
          <p:nvPr/>
        </p:nvSpPr>
        <p:spPr>
          <a:xfrm>
            <a:off x="6534150" y="1495425"/>
            <a:ext cx="95250" cy="95250"/>
          </a:xfrm>
          <a:prstGeom prst="ellipse">
            <a:avLst/>
          </a:prstGeom>
          <a:solidFill>
            <a:srgbClr val="FFCC66"/>
          </a:solidFill>
          <a:ln w="0">
            <a:solidFill>
              <a:srgbClr val="FFCC66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36C81A6-7A5B-49DF-B5F7-77C202C44572}"/>
              </a:ext>
            </a:extLst>
          </p:cNvPr>
          <p:cNvSpPr>
            <a:spLocks noGrp="1"/>
          </p:cNvSpPr>
          <p:nvPr/>
        </p:nvSpPr>
        <p:spPr>
          <a:xfrm>
            <a:off x="6686550" y="1495425"/>
            <a:ext cx="95250" cy="95250"/>
          </a:xfrm>
          <a:prstGeom prst="ellipse">
            <a:avLst/>
          </a:prstGeom>
          <a:solidFill>
            <a:srgbClr val="62E3A8"/>
          </a:solidFill>
          <a:ln w="0">
            <a:solidFill>
              <a:srgbClr val="62E3A8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1274371-D289-477B-B0B0-7FE1AC4BA1C6}"/>
              </a:ext>
            </a:extLst>
          </p:cNvPr>
          <p:cNvSpPr>
            <a:spLocks noGrp="1"/>
          </p:cNvSpPr>
          <p:nvPr/>
        </p:nvSpPr>
        <p:spPr>
          <a:xfrm>
            <a:off x="6896100" y="1428750"/>
            <a:ext cx="4648200" cy="2286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975" b="1">
                <a:solidFill>
                  <a:srgbClr val="36D9FF"/>
                </a:solidFill>
                <a:latin typeface="Consolas"/>
                <a:ea typeface="Consolas"/>
                <a:cs typeface="Consolas"/>
              </a:defRPr>
            </a:pPr>
            <a:r>
              <a:rPr sz="975" b="1">
                <a:solidFill>
                  <a:srgbClr val="36D9FF"/>
                </a:solidFill>
                <a:latin typeface="Consolas"/>
                <a:ea typeface="Consolas"/>
                <a:cs typeface="Consolas"/>
              </a:rPr>
              <a:t>frontend/src/views/AiRecommendation.vue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16D5A77-D148-414E-A6F1-529B2C859D1D}"/>
              </a:ext>
            </a:extLst>
          </p:cNvPr>
          <p:cNvSpPr>
            <a:spLocks noGrp="1"/>
          </p:cNvSpPr>
          <p:nvPr/>
        </p:nvSpPr>
        <p:spPr>
          <a:xfrm>
            <a:off x="6419850" y="1800225"/>
            <a:ext cx="5105400" cy="4152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courses = computed(() =&gt;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result.value?.candidateCourses || result.value?.courses || []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endParaRPr sz="1035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const courseRecommendations = computed(() =&gt; courses.value.map(course =&gt; {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const recommendation = rationalePayload.value.recommendations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.find(item =&gt; Number(item.courseId) === Number(course.id))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return {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course,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reasons: recommendation?.reasons || [],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cautions: recommendation?.cautions || [],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completedCourseAnalysis: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    recommendation?.completedCourseAnalysis || []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}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}))</a:t>
            </a:r>
          </a:p>
          <a:p>
            <a:endParaRPr sz="1035" b="0">
              <a:solidFill>
                <a:srgbClr val="D8E2FF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&lt;AiCourseRecommendationCard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v-for="item in courseRecommendations"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:course="item.course"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:reasons="item.reasons"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:cautions="item.cautions"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  :completed-course-analysis="item.completedCourseAnalysis"</a:t>
            </a:r>
          </a:p>
          <a:p>
            <a:pPr algn="l">
              <a:defRPr sz="1035" b="0">
                <a:solidFill>
                  <a:srgbClr val="D8E2FF"/>
                </a:solidFill>
                <a:latin typeface="Consolas"/>
                <a:ea typeface="Consolas"/>
                <a:cs typeface="Consolas"/>
              </a:defRPr>
            </a:pPr>
            <a:r>
              <a:rPr sz="1035" b="0">
                <a:solidFill>
                  <a:srgbClr val="D8E2FF"/>
                </a:solidFill>
                <a:latin typeface="Consolas"/>
                <a:ea typeface="Consolas"/>
                <a:cs typeface="Consolas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1350642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53FC488-BB1D-4846-AC4C-F8AB8959DEA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5905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31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F7F8FF"/>
                </a:solidFill>
                <a:latin typeface="Microsoft YaHei"/>
                <a:ea typeface="Microsoft YaHei"/>
                <a:cs typeface="Microsoft YaHei"/>
              </a:rPr>
              <a:t>Demo Video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F9505D7-35D4-4403-9EBB-0A3969EAF22D}"/>
              </a:ext>
            </a:extLst>
          </p:cNvPr>
          <p:cNvSpPr>
            <a:spLocks noGrp="1"/>
          </p:cNvSpPr>
          <p:nvPr/>
        </p:nvSpPr>
        <p:spPr>
          <a:xfrm>
            <a:off x="685800" y="971550"/>
            <a:ext cx="10820400" cy="3238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Complete AI course recommendation walkthrough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0552F0E-001C-4F7B-99AF-900F63AB4ADE}"/>
              </a:ext>
            </a:extLst>
          </p:cNvPr>
          <p:cNvSpPr>
            <a:spLocks noGrp="1"/>
          </p:cNvSpPr>
          <p:nvPr/>
        </p:nvSpPr>
        <p:spPr>
          <a:xfrm>
            <a:off x="11049000" y="457200"/>
            <a:ext cx="55245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r">
              <a:def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B72D95B-393E-43D6-B51A-A826EB386F99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10210800" cy="4514850"/>
          </a:xfrm>
          <a:prstGeom prst="rect">
            <a:avLst/>
          </a:prstGeom>
          <a:solidFill>
            <a:srgbClr val="070B16"/>
          </a:solidFill>
          <a:ln w="13335">
            <a:solidFill>
              <a:srgbClr val="2E3A6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59CD398-9658-432F-A783-4A392978DDE7}"/>
              </a:ext>
            </a:extLst>
          </p:cNvPr>
          <p:cNvSpPr>
            <a:spLocks noGrp="1"/>
          </p:cNvSpPr>
          <p:nvPr/>
        </p:nvSpPr>
        <p:spPr>
          <a:xfrm>
            <a:off x="5524500" y="3219450"/>
            <a:ext cx="1143000" cy="1143000"/>
          </a:xfrm>
          <a:prstGeom prst="ellipse">
            <a:avLst/>
          </a:prstGeom>
          <a:solidFill>
            <a:srgbClr val="7C6CFF"/>
          </a:solidFill>
          <a:ln w="0">
            <a:solidFill>
              <a:srgbClr val="7C6CF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6ACF55D-EAC2-4612-B04C-D6D139D74792}"/>
              </a:ext>
            </a:extLst>
          </p:cNvPr>
          <p:cNvSpPr>
            <a:spLocks noGrp="1"/>
          </p:cNvSpPr>
          <p:nvPr/>
        </p:nvSpPr>
        <p:spPr>
          <a:xfrm>
            <a:off x="5524500" y="3238500"/>
            <a:ext cx="1143000" cy="110490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020"/>
                </a:solidFill>
                <a:latin typeface="Microsoft YaHei"/>
                <a:ea typeface="Microsoft YaHei"/>
                <a:cs typeface="Microsoft YaHei"/>
              </a:rPr>
              <a:t>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BAE1E0-930A-4830-94F8-6F0F31B47476}"/>
              </a:ext>
            </a:extLst>
          </p:cNvPr>
          <p:cNvSpPr>
            <a:spLocks noGrp="1"/>
          </p:cNvSpPr>
          <p:nvPr/>
        </p:nvSpPr>
        <p:spPr>
          <a:xfrm>
            <a:off x="3714750" y="4533900"/>
            <a:ext cx="4762500" cy="400050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pPr algn="ctr">
              <a:defRPr sz="18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AAB4D0"/>
                </a:solidFill>
                <a:latin typeface="Microsoft YaHei"/>
                <a:ea typeface="Microsoft YaHei"/>
                <a:cs typeface="Microsoft YaHei"/>
              </a:rPr>
              <a:t>Insert the demo video here</a:t>
            </a:r>
          </a:p>
        </p:txBody>
      </p:sp>
    </p:spTree>
    <p:extLst>
      <p:ext uri="{BB962C8B-B14F-4D97-AF65-F5344CB8AC3E}">
        <p14:creationId xmlns:p14="http://schemas.microsoft.com/office/powerpoint/2010/main" val="16749397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3578</Words>
  <Application>Microsoft Office PowerPoint</Application>
  <DocSecurity>0</DocSecurity>
  <PresentationFormat>宽屏</PresentationFormat>
  <Paragraphs>520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Microsoft YaHei</vt:lpstr>
      <vt:lpstr>Calibri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Yinchen Guo</cp:lastModifiedBy>
  <cp:revision>1</cp:revision>
  <dcterms:created xsi:type="dcterms:W3CDTF">2026-09-27T00:59:28Z</dcterms:created>
  <dcterms:modified xsi:type="dcterms:W3CDTF">2026-09-27T01:04:44Z</dcterms:modified>
</cp:coreProperties>
</file>