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rgbClr val="000000"/>
        </a:solidFill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presentation follows the real source-code call sequence. Each major step includes the relevant file and a focused code excerpt.</a:t>
            </a:r>
          </a:p>
          <a:p>
            <a:endParaRPr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CourseCompass is a full-stack university course-planning application. It combines course discovery, decision support, and personal study planning in one system.</a:t>
            </a:r>
          </a:p>
          <a:p>
            <a:r>
              <a:t>Sources: README.md and frontend/src/views.</a:t>
            </a:r>
          </a:p>
          <a:p>
            <a:endParaRPr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Route metadata and backend role middleware separate the three user types. Students plan courses, administrators maintain system data, and moderators process reviews and reports.</a:t>
            </a:r>
          </a:p>
          <a:p>
            <a:r>
              <a:t>Sources: frontend/src/router/index.js and backend/src/routes.</a:t>
            </a:r>
          </a:p>
          <a:p>
            <a:endParaRPr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frontend handles interaction and presentation. Express manages authentication and business orchestration, while Prisma accesses PostgreSQL. AI recommendations use both an embedding model and a chat model, called only from the backend.</a:t>
            </a:r>
          </a:p>
          <a:p>
            <a:r>
              <a:t>Sources: README.md, frontend/package.json, and backend/package.json.</a:t>
            </a:r>
          </a:p>
          <a:p>
            <a:endParaRPr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schema is organised into three business domains. User and Course are the central entities. Association models such as SavedCourse, CompletedCourse, Review, and PlanCourse implement the business relationships.</a:t>
            </a:r>
          </a:p>
          <a:p>
            <a:r>
              <a:t>Source: backend/prisma/schema.prisma.</a:t>
            </a:r>
          </a:p>
          <a:p>
            <a:endParaRPr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shows only fields used directly by the recommendation workflow. Course.embedding stores a 1024-dimensional pgvector value. The CompletedCourse composite key prevents duplicate records for the same student and course.</a:t>
            </a:r>
          </a:p>
          <a:p>
            <a:r>
              <a:t>Source: backend/prisma/schema.prisma.</a:t>
            </a:r>
          </a:p>
          <a:p>
            <a:endParaRPr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transitions from the project overview into the demo. AI recommendations cover every major technical layer and show how completed courses contribute to personalised analysis.</a:t>
            </a:r>
          </a:p>
          <a:p>
            <a:endParaRPr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establishes the complete workflow. The following slides expand each numbered step and place the relevant source excerpt beside it.</a:t>
            </a:r>
          </a:p>
          <a:p>
            <a:endParaRPr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button click calls recommend directly. This function manages frontend state and invokes the API wrapper.</a:t>
            </a:r>
          </a:p>
          <a:p>
            <a:r>
              <a:t>Source: frontend/src/views/AiRecommendation.vue.</a:t>
            </a:r>
          </a:p>
          <a:p>
            <a:endParaRPr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frontend wrapper allows 150 seconds for the workflow. The backend then applies JWT authentication, a per-user AI rate limit, and the STUDENT role check.</a:t>
            </a:r>
          </a:p>
          <a:p>
            <a:r>
              <a:t>Sources: frontend/src/api/ai.js and backend/src/routes/aiRoutes.js.</a:t>
            </a:r>
          </a:p>
          <a:p>
            <a:endParaRPr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controller reads only information needed for course planning. Completed courses enter the retrieval context, exclude duplicate recommendations, and support later course connections.</a:t>
            </a:r>
          </a:p>
          <a:p>
            <a:r>
              <a:t>Source: backend/src/controllers/aiController.js.</a:t>
            </a:r>
          </a:p>
          <a:p>
            <a:endParaRPr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service proves that completed study contributes to recommendation analysis. It separates recorded prerequisites from broader same-subject background and avoids unsupported connections.</a:t>
            </a:r>
          </a:p>
          <a:p>
            <a:r>
              <a:t>Source: backend/src/services/completedCourseAnalysisService.js.</a:t>
            </a:r>
          </a:p>
          <a:p>
            <a:endParaRPr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chat model does not select courses directly. The service first encodes the query and background into a vector. Dimension validation ensures compatibility with Course.embedding.</a:t>
            </a:r>
          </a:p>
          <a:p>
            <a:r>
              <a:t>Source: backend/src/services/aiService.js.</a:t>
            </a:r>
          </a:p>
          <a:p>
            <a:endParaRPr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SQL passes vectors and filter values through parameters. A NOT EXISTS subquery excludes courses already completed by the current student.</a:t>
            </a:r>
          </a:p>
          <a:p>
            <a:r>
              <a:t>Source: backend/src/services/courseRetrievalService.js.</a:t>
            </a:r>
          </a:p>
          <a:p>
            <a:endParaRPr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system prompt restricts the model to candidate data. parseRecommendationOutput filters course IDs outside the retrieved set. If GLM fails, the controller still returns semantic rankings with factual fallback text.</a:t>
            </a:r>
          </a:p>
          <a:p>
            <a:r>
              <a:t>Sources: backend/src/controllers/aiController.js and backend/src/services/llmService.js.</a:t>
            </a:r>
          </a:p>
          <a:p>
            <a:endParaRPr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response contains candidate facts, AI reasons, completed-course analysis, execution mode, and a disclaimer. The frontend joins explanations to course cards by courseId.</a:t>
            </a:r>
          </a:p>
          <a:p>
            <a:r>
              <a:t>Sources: backend/src/controllers/aiController.js and frontend/src/views/AiRecommendation.vue.</a:t>
            </a:r>
          </a:p>
          <a:p>
            <a:endParaRPr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Insert a 60 to 90 second MP4 showing the query, button click, loading state, recommendations, reasons, and completed-course analysis.</a:t>
            </a:r>
          </a:p>
          <a:p>
            <a:endParaRPr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latin typeface="+mn-lt"/>
          <a:ea typeface="+mn-lt"/>
          <a:cs typeface="+mn-lt"/>
        </a:defRPr>
      </a:lvl1pPr>
      <a:lvl2pPr marL="457200" algn="l">
        <a:buNone/>
        <a:defRPr sz="1800">
          <a:latin typeface="+mn-lt"/>
          <a:ea typeface="+mn-lt"/>
          <a:cs typeface="+mn-lt"/>
        </a:defRPr>
      </a:lvl2pPr>
      <a:lvl3pPr marL="914400" algn="l">
        <a:buNone/>
        <a:defRPr sz="1800">
          <a:latin typeface="+mn-lt"/>
          <a:ea typeface="+mn-lt"/>
          <a:cs typeface="+mn-lt"/>
        </a:defRPr>
      </a:lvl3pPr>
      <a:lvl4pPr marL="1371600" algn="l">
        <a:buNone/>
        <a:defRPr sz="1800">
          <a:latin typeface="+mn-lt"/>
          <a:ea typeface="+mn-lt"/>
          <a:cs typeface="+mn-lt"/>
        </a:defRPr>
      </a:lvl4pPr>
      <a:lvl5pPr marL="1828800" algn="l">
        <a:buNone/>
        <a:defRPr sz="1800">
          <a:latin typeface="+mn-lt"/>
          <a:ea typeface="+mn-lt"/>
          <a:cs typeface="+mn-lt"/>
        </a:defRPr>
      </a:lvl5pPr>
      <a:lvl6pPr marL="2286000" algn="l">
        <a:buNone/>
        <a:defRPr sz="1800">
          <a:latin typeface="+mn-lt"/>
          <a:ea typeface="+mn-lt"/>
          <a:cs typeface="+mn-lt"/>
        </a:defRPr>
      </a:lvl6pPr>
      <a:lvl7pPr marL="2743200" algn="l">
        <a:buNone/>
        <a:defRPr sz="1800">
          <a:latin typeface="+mn-lt"/>
          <a:ea typeface="+mn-lt"/>
          <a:cs typeface="+mn-lt"/>
        </a:defRPr>
      </a:lvl7pPr>
      <a:lvl8pPr marL="3200400" algn="l">
        <a:buNone/>
        <a:defRPr sz="1800">
          <a:latin typeface="+mn-lt"/>
          <a:ea typeface="+mn-lt"/>
          <a:cs typeface="+mn-lt"/>
        </a:defRPr>
      </a:lvl8pPr>
      <a:lvl9pPr marL="3657600" algn="l">
        <a:buNone/>
        <a:defRPr sz="1800"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6F94A77-F8AB-43D7-9B8F-8F802C4F494D}"/>
              </a:ext>
            </a:extLst>
          </p:cNvPr>
          <p:cNvSpPr>
            <a:spLocks noGrp="1"/>
          </p:cNvSpPr>
          <p:nvPr/>
        </p:nvSpPr>
        <p:spPr>
          <a:xfrm>
            <a:off x="742950" y="685800"/>
            <a:ext cx="4762500" cy="342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650" b="1"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latin typeface="Microsoft YaHei"/>
                <a:ea typeface="Microsoft YaHei"/>
                <a:cs typeface="Microsoft YaHei"/>
              </a:rPr>
              <a:t>CourseCompass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473B886-0F79-4538-B0B6-22A0C49EA7F1}"/>
              </a:ext>
            </a:extLst>
          </p:cNvPr>
          <p:cNvSpPr>
            <a:spLocks noGrp="1"/>
          </p:cNvSpPr>
          <p:nvPr/>
        </p:nvSpPr>
        <p:spPr>
          <a:xfrm>
            <a:off x="1283126" y="1926926"/>
            <a:ext cx="9339998" cy="1289647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4050" b="1">
                <a:latin typeface="Microsoft YaHei"/>
                <a:ea typeface="Microsoft YaHei"/>
                <a:cs typeface="Microsoft YaHei"/>
              </a:defRPr>
            </a:pPr>
            <a:r>
              <a:rPr sz="4050" b="1" dirty="0">
                <a:latin typeface="Microsoft YaHei"/>
                <a:ea typeface="Microsoft YaHei"/>
                <a:cs typeface="Microsoft YaHei"/>
              </a:rPr>
              <a:t>AI Course</a:t>
            </a:r>
            <a:r>
              <a:rPr lang="en-US" sz="4050" b="1" dirty="0">
                <a:latin typeface="Microsoft YaHei"/>
                <a:ea typeface="Microsoft YaHei"/>
                <a:cs typeface="Microsoft YaHei"/>
              </a:rPr>
              <a:t> </a:t>
            </a:r>
            <a:r>
              <a:rPr sz="4050" b="1" dirty="0">
                <a:latin typeface="Microsoft YaHei"/>
                <a:ea typeface="Microsoft YaHei"/>
                <a:cs typeface="Microsoft YaHei"/>
              </a:rPr>
              <a:t>Recommendations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B0D1A57-4461-40B1-9A3C-2E55D64F8BF4}"/>
              </a:ext>
            </a:extLst>
          </p:cNvPr>
          <p:cNvSpPr>
            <a:spLocks noGrp="1"/>
          </p:cNvSpPr>
          <p:nvPr/>
        </p:nvSpPr>
        <p:spPr>
          <a:xfrm>
            <a:off x="781050" y="2571750"/>
            <a:ext cx="666750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2025" b="0">
                <a:latin typeface="Microsoft YaHei"/>
                <a:ea typeface="Microsoft YaHei"/>
                <a:cs typeface="Microsoft YaHei"/>
              </a:defRPr>
            </a:pPr>
            <a:endParaRPr sz="2025" b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A20D55-182B-4CD8-8090-5C53942D973E}"/>
              </a:ext>
            </a:extLst>
          </p:cNvPr>
          <p:cNvSpPr>
            <a:spLocks noGrp="1"/>
          </p:cNvSpPr>
          <p:nvPr/>
        </p:nvSpPr>
        <p:spPr>
          <a:xfrm>
            <a:off x="2828925" y="3905250"/>
            <a:ext cx="12382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350" b="1"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latin typeface="Microsoft YaHei"/>
                <a:ea typeface="Microsoft YaHei"/>
                <a:cs typeface="Microsoft YaHei"/>
              </a:rPr>
              <a:t>Frontend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EF448CC-ED66-4E92-9E5A-BEC144101C05}"/>
              </a:ext>
            </a:extLst>
          </p:cNvPr>
          <p:cNvSpPr>
            <a:spLocks noGrp="1"/>
          </p:cNvSpPr>
          <p:nvPr/>
        </p:nvSpPr>
        <p:spPr>
          <a:xfrm>
            <a:off x="4419600" y="3905250"/>
            <a:ext cx="12382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350" b="1"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latin typeface="Microsoft YaHei"/>
                <a:ea typeface="Microsoft YaHei"/>
                <a:cs typeface="Microsoft YaHei"/>
              </a:rPr>
              <a:t>Backend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4D28198-F920-45DC-BFA4-FA656DBAAF15}"/>
              </a:ext>
            </a:extLst>
          </p:cNvPr>
          <p:cNvSpPr>
            <a:spLocks noGrp="1"/>
          </p:cNvSpPr>
          <p:nvPr/>
        </p:nvSpPr>
        <p:spPr>
          <a:xfrm>
            <a:off x="6048375" y="3905250"/>
            <a:ext cx="12382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350" b="1"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latin typeface="Microsoft YaHei"/>
                <a:ea typeface="Microsoft YaHei"/>
                <a:cs typeface="Microsoft YaHei"/>
              </a:rPr>
              <a:t>Database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29FC4DF-501E-4B2F-9D2C-B4A5453AB2E6}"/>
              </a:ext>
            </a:extLst>
          </p:cNvPr>
          <p:cNvSpPr>
            <a:spLocks noGrp="1"/>
          </p:cNvSpPr>
          <p:nvPr/>
        </p:nvSpPr>
        <p:spPr>
          <a:xfrm>
            <a:off x="7753350" y="3905250"/>
            <a:ext cx="7620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350" b="1"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latin typeface="Microsoft YaHei"/>
                <a:ea typeface="Microsoft YaHei"/>
                <a:cs typeface="Microsoft YaHei"/>
              </a:rPr>
              <a:t>AI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678A083-6FFA-431E-9FF9-D64984E6AB0C}"/>
              </a:ext>
            </a:extLst>
          </p:cNvPr>
          <p:cNvSpPr>
            <a:spLocks noGrp="1"/>
          </p:cNvSpPr>
          <p:nvPr/>
        </p:nvSpPr>
        <p:spPr>
          <a:xfrm>
            <a:off x="2828925" y="4362450"/>
            <a:ext cx="58102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200" b="0">
                <a:latin typeface="Consolas"/>
                <a:ea typeface="Consolas"/>
                <a:cs typeface="Consolas"/>
              </a:defRPr>
            </a:pPr>
            <a:r>
              <a:rPr sz="1200" b="0">
                <a:latin typeface="Consolas"/>
                <a:ea typeface="Consolas"/>
                <a:cs typeface="Consolas"/>
              </a:rPr>
              <a:t>Vue  →  Express  →  Prisma / pgvector  →  SiliconFlow / GLM-4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2A19AA5-1118-4102-B6A3-52961D3E595E}"/>
              </a:ext>
            </a:extLst>
          </p:cNvPr>
          <p:cNvSpPr>
            <a:spLocks noGrp="1"/>
          </p:cNvSpPr>
          <p:nvPr/>
        </p:nvSpPr>
        <p:spPr>
          <a:xfrm>
            <a:off x="781050" y="5905500"/>
            <a:ext cx="40957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200" b="0">
                <a:latin typeface="Microsoft YaHei"/>
                <a:ea typeface="Microsoft YaHei"/>
                <a:cs typeface="Microsoft YaHei"/>
              </a:defRPr>
            </a:pPr>
            <a:endParaRPr sz="1200" b="0" dirty="0"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170451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C21DB667-4F0E-4AC9-9E0E-1D2600470F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828282"/>
            </a:solidFill>
          </a:ln>
        </p:spPr>
        <p:txBody>
          <a:bodyPr/>
          <a:lstStyle/>
          <a:p>
            <a:endParaRPr>
              <a:solidFill>
                <a:srgbClr val="000000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34207C1-D760-4FD9-83BE-AD9A9A917E9D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981075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2850" b="1"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latin typeface="Microsoft YaHei"/>
                <a:ea typeface="Microsoft YaHei"/>
                <a:cs typeface="Microsoft YaHei"/>
              </a:rPr>
              <a:t>Project Purpose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FD8932A-5EA1-4958-8543-73C79C10F077}"/>
              </a:ext>
            </a:extLst>
          </p:cNvPr>
          <p:cNvSpPr>
            <a:spLocks noGrp="1"/>
          </p:cNvSpPr>
          <p:nvPr/>
        </p:nvSpPr>
        <p:spPr>
          <a:xfrm>
            <a:off x="590550" y="876300"/>
            <a:ext cx="9906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350" b="0">
                <a:latin typeface="Microsoft YaHei"/>
                <a:ea typeface="Microsoft YaHei"/>
                <a:cs typeface="Microsoft YaHei"/>
              </a:defRPr>
            </a:pPr>
            <a:endParaRPr sz="1350" b="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D4DACDC-27F5-481F-A9E2-6BE01D33EF3F}"/>
              </a:ext>
            </a:extLst>
          </p:cNvPr>
          <p:cNvSpPr>
            <a:spLocks noGrp="1"/>
          </p:cNvSpPr>
          <p:nvPr/>
        </p:nvSpPr>
        <p:spPr>
          <a:xfrm>
            <a:off x="11049000" y="4095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buNone/>
              <a:defRPr sz="1275" b="1"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0A03AE-9963-4D56-9E3E-1A0CBE501D32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2100" b="1"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latin typeface="Microsoft YaHei"/>
                <a:ea typeface="Microsoft YaHei"/>
                <a:cs typeface="Microsoft YaHei"/>
              </a:rPr>
              <a:t>Students face fragmented information, complex prerequisites, and workloads that are difficult to compare.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0D8AAF3-F414-4F72-914F-817E8CD22499}"/>
              </a:ext>
            </a:extLst>
          </p:cNvPr>
          <p:cNvSpPr>
            <a:spLocks noGrp="1"/>
          </p:cNvSpPr>
          <p:nvPr/>
        </p:nvSpPr>
        <p:spPr>
          <a:xfrm>
            <a:off x="1066800" y="2800350"/>
            <a:ext cx="533400" cy="4953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500" b="1"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1C4E127-0F85-4403-898F-F3FAFA28AEDB}"/>
              </a:ext>
            </a:extLst>
          </p:cNvPr>
          <p:cNvSpPr>
            <a:spLocks noGrp="1"/>
          </p:cNvSpPr>
          <p:nvPr/>
        </p:nvSpPr>
        <p:spPr>
          <a:xfrm>
            <a:off x="1866900" y="2762250"/>
            <a:ext cx="24765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800" b="1"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latin typeface="Microsoft YaHei"/>
                <a:ea typeface="Microsoft YaHei"/>
                <a:cs typeface="Microsoft YaHei"/>
              </a:rPr>
              <a:t>Centralise course data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1AF0CFC-5505-4117-9A89-CCADDC125FEC}"/>
              </a:ext>
            </a:extLst>
          </p:cNvPr>
          <p:cNvSpPr>
            <a:spLocks noGrp="1"/>
          </p:cNvSpPr>
          <p:nvPr/>
        </p:nvSpPr>
        <p:spPr>
          <a:xfrm>
            <a:off x="4457700" y="2762250"/>
            <a:ext cx="657225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500" b="0"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latin typeface="Microsoft YaHei"/>
                <a:ea typeface="Microsoft YaHei"/>
                <a:cs typeface="Microsoft YaHei"/>
              </a:rPr>
              <a:t>View descriptions, credits, prerequisites, semesters, assessment types, and workload in one place.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BE665C3-A814-413F-9C1C-D6C01297AF1F}"/>
              </a:ext>
            </a:extLst>
          </p:cNvPr>
          <p:cNvSpPr>
            <a:spLocks noGrp="1"/>
          </p:cNvSpPr>
          <p:nvPr/>
        </p:nvSpPr>
        <p:spPr>
          <a:xfrm>
            <a:off x="1066800" y="3800475"/>
            <a:ext cx="533400" cy="4953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500" b="1"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D91D051-56E6-4956-B845-8570480FF9F4}"/>
              </a:ext>
            </a:extLst>
          </p:cNvPr>
          <p:cNvSpPr>
            <a:spLocks noGrp="1"/>
          </p:cNvSpPr>
          <p:nvPr/>
        </p:nvSpPr>
        <p:spPr>
          <a:xfrm>
            <a:off x="1866900" y="3762375"/>
            <a:ext cx="24765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800" b="1"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latin typeface="Microsoft YaHei"/>
                <a:ea typeface="Microsoft YaHei"/>
                <a:cs typeface="Microsoft YaHei"/>
              </a:rPr>
              <a:t>Support decisions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B4ACC48-4EE5-41F7-9F3D-B838A09A7F55}"/>
              </a:ext>
            </a:extLst>
          </p:cNvPr>
          <p:cNvSpPr>
            <a:spLocks noGrp="1"/>
          </p:cNvSpPr>
          <p:nvPr/>
        </p:nvSpPr>
        <p:spPr>
          <a:xfrm>
            <a:off x="4457700" y="3762375"/>
            <a:ext cx="657225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500" b="0"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latin typeface="Microsoft YaHei"/>
                <a:ea typeface="Microsoft YaHei"/>
                <a:cs typeface="Microsoft YaHei"/>
              </a:rPr>
              <a:t>Use search, filters, saved courses, comparisons, and student reviews to evaluate options.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7A64020-109D-482B-BDB9-4861A87CF79F}"/>
              </a:ext>
            </a:extLst>
          </p:cNvPr>
          <p:cNvSpPr>
            <a:spLocks noGrp="1"/>
          </p:cNvSpPr>
          <p:nvPr/>
        </p:nvSpPr>
        <p:spPr>
          <a:xfrm>
            <a:off x="1066800" y="4800600"/>
            <a:ext cx="533400" cy="4953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500" b="1"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403DC2F-B086-41B1-AC6D-7361CA4A22BE}"/>
              </a:ext>
            </a:extLst>
          </p:cNvPr>
          <p:cNvSpPr>
            <a:spLocks noGrp="1"/>
          </p:cNvSpPr>
          <p:nvPr/>
        </p:nvSpPr>
        <p:spPr>
          <a:xfrm>
            <a:off x="1866900" y="4762500"/>
            <a:ext cx="24765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800" b="1"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latin typeface="Microsoft YaHei"/>
                <a:ea typeface="Microsoft YaHei"/>
                <a:cs typeface="Microsoft YaHei"/>
              </a:rPr>
              <a:t>Build study plans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0920E84-5B54-48F2-A0D8-3491D2F68AAE}"/>
              </a:ext>
            </a:extLst>
          </p:cNvPr>
          <p:cNvSpPr>
            <a:spLocks noGrp="1"/>
          </p:cNvSpPr>
          <p:nvPr/>
        </p:nvSpPr>
        <p:spPr>
          <a:xfrm>
            <a:off x="4457700" y="4762500"/>
            <a:ext cx="657225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500" b="0"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latin typeface="Microsoft YaHei"/>
                <a:ea typeface="Microsoft YaHei"/>
                <a:cs typeface="Microsoft YaHei"/>
              </a:rPr>
              <a:t>Plan across semesters using completed courses, personal preferences, goals, and AI assistance.</a:t>
            </a:r>
          </a:p>
        </p:txBody>
      </p:sp>
    </p:spTree>
    <p:extLst>
      <p:ext uri="{BB962C8B-B14F-4D97-AF65-F5344CB8AC3E}">
        <p14:creationId xmlns:p14="http://schemas.microsoft.com/office/powerpoint/2010/main" val="1643132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15AE29BB-87B1-4B05-8797-CDABF33A028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828282"/>
            </a:solidFill>
          </a:ln>
        </p:spPr>
        <p:txBody>
          <a:bodyPr/>
          <a:lstStyle/>
          <a:p>
            <a:endParaRPr>
              <a:solidFill>
                <a:srgbClr val="000000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E46F1BD-E3D6-4376-8DFD-E4DAE43552D8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981075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2850" b="1"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latin typeface="Microsoft YaHei"/>
                <a:ea typeface="Microsoft YaHei"/>
                <a:cs typeface="Microsoft YaHei"/>
              </a:rPr>
              <a:t>User Roles and Core Features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F73F29E-28EE-489F-86DB-47884E07FC65}"/>
              </a:ext>
            </a:extLst>
          </p:cNvPr>
          <p:cNvSpPr>
            <a:spLocks noGrp="1"/>
          </p:cNvSpPr>
          <p:nvPr/>
        </p:nvSpPr>
        <p:spPr>
          <a:xfrm>
            <a:off x="590550" y="876300"/>
            <a:ext cx="9906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350" b="0"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latin typeface="Microsoft YaHei"/>
                <a:ea typeface="Microsoft YaHei"/>
                <a:cs typeface="Microsoft YaHei"/>
              </a:rPr>
              <a:t>The application provides separate access for students, administrators, and moderators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A8B0E85-9AF4-4688-AB69-86D8CD5D387A}"/>
              </a:ext>
            </a:extLst>
          </p:cNvPr>
          <p:cNvSpPr>
            <a:spLocks noGrp="1"/>
          </p:cNvSpPr>
          <p:nvPr/>
        </p:nvSpPr>
        <p:spPr>
          <a:xfrm>
            <a:off x="11049000" y="4095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buNone/>
              <a:defRPr sz="1275" b="1"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0B83480-BDDC-4F14-9F82-746562E97C89}"/>
              </a:ext>
            </a:extLst>
          </p:cNvPr>
          <p:cNvSpPr>
            <a:spLocks noGrp="1"/>
          </p:cNvSpPr>
          <p:nvPr/>
        </p:nvSpPr>
        <p:spPr>
          <a:xfrm>
            <a:off x="1790700" y="1524000"/>
            <a:ext cx="552450" cy="5143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500" b="1"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DE30CDF-6229-4D74-82F0-D183EBE1181C}"/>
              </a:ext>
            </a:extLst>
          </p:cNvPr>
          <p:cNvSpPr>
            <a:spLocks noGrp="1"/>
          </p:cNvSpPr>
          <p:nvPr/>
        </p:nvSpPr>
        <p:spPr>
          <a:xfrm>
            <a:off x="590550" y="2266950"/>
            <a:ext cx="29527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2100" b="1"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latin typeface="Microsoft YaHei"/>
                <a:ea typeface="Microsoft YaHei"/>
                <a:cs typeface="Microsoft YaHei"/>
              </a:rPr>
              <a:t>Student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307172B-226F-4751-83C2-88F8B0DCF98E}"/>
              </a:ext>
            </a:extLst>
          </p:cNvPr>
          <p:cNvSpPr>
            <a:spLocks noGrp="1"/>
          </p:cNvSpPr>
          <p:nvPr/>
        </p:nvSpPr>
        <p:spPr>
          <a:xfrm>
            <a:off x="590550" y="2667000"/>
            <a:ext cx="29527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350" b="1"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latin typeface="Microsoft YaHei"/>
                <a:ea typeface="Microsoft YaHei"/>
                <a:cs typeface="Microsoft YaHei"/>
              </a:rPr>
              <a:t>Course selection and planning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0827923-11FF-4C1E-96A7-A581B2C1365E}"/>
              </a:ext>
            </a:extLst>
          </p:cNvPr>
          <p:cNvSpPr>
            <a:spLocks noGrp="1"/>
          </p:cNvSpPr>
          <p:nvPr/>
        </p:nvSpPr>
        <p:spPr>
          <a:xfrm>
            <a:off x="990600" y="3371850"/>
            <a:ext cx="2152650" cy="2571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388" b="0"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latin typeface="Microsoft YaHei"/>
                <a:ea typeface="Microsoft YaHei"/>
                <a:cs typeface="Microsoft YaHei"/>
              </a:rPr>
              <a:t>Browse and search</a:t>
            </a:r>
          </a:p>
          <a:p>
            <a:pPr algn="ctr">
              <a:buNone/>
              <a:defRPr sz="1388" b="0"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latin typeface="Microsoft YaHei"/>
                <a:ea typeface="Microsoft YaHei"/>
                <a:cs typeface="Microsoft YaHei"/>
              </a:rPr>
              <a:t>Filter, save, and compare</a:t>
            </a:r>
          </a:p>
          <a:p>
            <a:pPr algn="ctr">
              <a:buNone/>
              <a:defRPr sz="1388" b="0"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latin typeface="Microsoft YaHei"/>
                <a:ea typeface="Microsoft YaHei"/>
                <a:cs typeface="Microsoft YaHei"/>
              </a:rPr>
              <a:t>Track completed study</a:t>
            </a:r>
          </a:p>
          <a:p>
            <a:pPr algn="ctr">
              <a:buNone/>
              <a:defRPr sz="1388" b="0"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latin typeface="Microsoft YaHei"/>
                <a:ea typeface="Microsoft YaHei"/>
                <a:cs typeface="Microsoft YaHei"/>
              </a:rPr>
              <a:t>Build semester plans</a:t>
            </a:r>
          </a:p>
          <a:p>
            <a:pPr algn="ctr">
              <a:buNone/>
              <a:defRPr sz="1388" b="0"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latin typeface="Microsoft YaHei"/>
                <a:ea typeface="Microsoft YaHei"/>
                <a:cs typeface="Microsoft YaHei"/>
              </a:rPr>
              <a:t>Submit reviews and reports</a:t>
            </a:r>
          </a:p>
          <a:p>
            <a:pPr algn="ctr">
              <a:buNone/>
              <a:defRPr sz="1388" b="0"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latin typeface="Microsoft YaHei"/>
                <a:ea typeface="Microsoft YaHei"/>
                <a:cs typeface="Microsoft YaHei"/>
              </a:rPr>
              <a:t>Use AI recommendations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C3D266B-29E2-4AF8-A6D0-124C673948BE}"/>
              </a:ext>
            </a:extLst>
          </p:cNvPr>
          <p:cNvSpPr>
            <a:spLocks noGrp="1"/>
          </p:cNvSpPr>
          <p:nvPr/>
        </p:nvSpPr>
        <p:spPr>
          <a:xfrm>
            <a:off x="5372100" y="1524000"/>
            <a:ext cx="552450" cy="5143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500" b="1"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C39D349-235F-49FC-9F13-03D83695F6D4}"/>
              </a:ext>
            </a:extLst>
          </p:cNvPr>
          <p:cNvSpPr>
            <a:spLocks noGrp="1"/>
          </p:cNvSpPr>
          <p:nvPr/>
        </p:nvSpPr>
        <p:spPr>
          <a:xfrm>
            <a:off x="4171950" y="2266950"/>
            <a:ext cx="29527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2100" b="1"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latin typeface="Microsoft YaHei"/>
                <a:ea typeface="Microsoft YaHei"/>
                <a:cs typeface="Microsoft YaHei"/>
              </a:rPr>
              <a:t>Administrator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A7E12B8-BADF-4F27-B6E4-D6FD6AE5C418}"/>
              </a:ext>
            </a:extLst>
          </p:cNvPr>
          <p:cNvSpPr>
            <a:spLocks noGrp="1"/>
          </p:cNvSpPr>
          <p:nvPr/>
        </p:nvSpPr>
        <p:spPr>
          <a:xfrm>
            <a:off x="4171950" y="2667000"/>
            <a:ext cx="29527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350" b="1"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latin typeface="Microsoft YaHei"/>
                <a:ea typeface="Microsoft YaHei"/>
                <a:cs typeface="Microsoft YaHei"/>
              </a:rPr>
              <a:t>Course and account management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D428C73-881C-4D5F-8899-30E0DF91FB10}"/>
              </a:ext>
            </a:extLst>
          </p:cNvPr>
          <p:cNvSpPr>
            <a:spLocks noGrp="1"/>
          </p:cNvSpPr>
          <p:nvPr/>
        </p:nvSpPr>
        <p:spPr>
          <a:xfrm>
            <a:off x="4572000" y="3371850"/>
            <a:ext cx="2152650" cy="2571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388" b="0"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latin typeface="Microsoft YaHei"/>
                <a:ea typeface="Microsoft YaHei"/>
                <a:cs typeface="Microsoft YaHei"/>
              </a:rPr>
              <a:t>Maintain course records</a:t>
            </a:r>
          </a:p>
          <a:p>
            <a:pPr algn="ctr">
              <a:buNone/>
              <a:defRPr sz="1388" b="0"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latin typeface="Microsoft YaHei"/>
                <a:ea typeface="Microsoft YaHei"/>
                <a:cs typeface="Microsoft YaHei"/>
              </a:rPr>
              <a:t>Control availability</a:t>
            </a:r>
          </a:p>
          <a:p>
            <a:pPr algn="ctr">
              <a:buNone/>
              <a:defRPr sz="1388" b="0"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latin typeface="Microsoft YaHei"/>
                <a:ea typeface="Microsoft YaHei"/>
                <a:cs typeface="Microsoft YaHei"/>
              </a:rPr>
              <a:t>View system statistics</a:t>
            </a:r>
          </a:p>
          <a:p>
            <a:pPr algn="ctr">
              <a:buNone/>
              <a:defRPr sz="1388" b="0"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latin typeface="Microsoft YaHei"/>
                <a:ea typeface="Microsoft YaHei"/>
                <a:cs typeface="Microsoft YaHei"/>
              </a:rPr>
              <a:t>Create staff accounts</a:t>
            </a:r>
          </a:p>
          <a:p>
            <a:pPr algn="ctr">
              <a:buNone/>
              <a:defRPr sz="1388" b="0"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latin typeface="Microsoft YaHei"/>
                <a:ea typeface="Microsoft YaHei"/>
                <a:cs typeface="Microsoft YaHei"/>
              </a:rPr>
              <a:t>Change user roles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FBD33B5-B9BF-4E0C-90DB-DB84C0B16F99}"/>
              </a:ext>
            </a:extLst>
          </p:cNvPr>
          <p:cNvSpPr>
            <a:spLocks noGrp="1"/>
          </p:cNvSpPr>
          <p:nvPr/>
        </p:nvSpPr>
        <p:spPr>
          <a:xfrm>
            <a:off x="8953500" y="1524000"/>
            <a:ext cx="552450" cy="5143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500" b="1"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4670542-1708-41F5-B13E-18E51102F9CF}"/>
              </a:ext>
            </a:extLst>
          </p:cNvPr>
          <p:cNvSpPr>
            <a:spLocks noGrp="1"/>
          </p:cNvSpPr>
          <p:nvPr/>
        </p:nvSpPr>
        <p:spPr>
          <a:xfrm>
            <a:off x="7753350" y="2266950"/>
            <a:ext cx="29527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2100" b="1"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latin typeface="Microsoft YaHei"/>
                <a:ea typeface="Microsoft YaHei"/>
                <a:cs typeface="Microsoft YaHei"/>
              </a:rPr>
              <a:t>Moderator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A2B0B04-89E7-49A1-B3F6-A6A88919ABAE}"/>
              </a:ext>
            </a:extLst>
          </p:cNvPr>
          <p:cNvSpPr>
            <a:spLocks noGrp="1"/>
          </p:cNvSpPr>
          <p:nvPr/>
        </p:nvSpPr>
        <p:spPr>
          <a:xfrm>
            <a:off x="7753350" y="2667000"/>
            <a:ext cx="29527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350" b="1"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latin typeface="Microsoft YaHei"/>
                <a:ea typeface="Microsoft YaHei"/>
                <a:cs typeface="Microsoft YaHei"/>
              </a:rPr>
              <a:t>Content quality control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E0A3B16-724C-415D-A7FC-4D140896BBB7}"/>
              </a:ext>
            </a:extLst>
          </p:cNvPr>
          <p:cNvSpPr>
            <a:spLocks noGrp="1"/>
          </p:cNvSpPr>
          <p:nvPr/>
        </p:nvSpPr>
        <p:spPr>
          <a:xfrm>
            <a:off x="8153400" y="3371850"/>
            <a:ext cx="2152650" cy="2571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388" b="0"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latin typeface="Microsoft YaHei"/>
                <a:ea typeface="Microsoft YaHei"/>
                <a:cs typeface="Microsoft YaHei"/>
              </a:rPr>
              <a:t>Review pending content</a:t>
            </a:r>
          </a:p>
          <a:p>
            <a:pPr algn="ctr">
              <a:buNone/>
              <a:defRPr sz="1388" b="0"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latin typeface="Microsoft YaHei"/>
                <a:ea typeface="Microsoft YaHei"/>
                <a:cs typeface="Microsoft YaHei"/>
              </a:rPr>
              <a:t>Approve or reject reviews</a:t>
            </a:r>
          </a:p>
          <a:p>
            <a:pPr algn="ctr">
              <a:buNone/>
              <a:defRPr sz="1388" b="0"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latin typeface="Microsoft YaHei"/>
                <a:ea typeface="Microsoft YaHei"/>
                <a:cs typeface="Microsoft YaHei"/>
              </a:rPr>
              <a:t>Process reports</a:t>
            </a:r>
          </a:p>
          <a:p>
            <a:pPr algn="ctr">
              <a:buNone/>
              <a:defRPr sz="1388" b="0"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latin typeface="Microsoft YaHei"/>
                <a:ea typeface="Microsoft YaHei"/>
                <a:cs typeface="Microsoft YaHei"/>
              </a:rPr>
              <a:t>Monitor moderation queues</a:t>
            </a:r>
          </a:p>
          <a:p>
            <a:pPr algn="ctr">
              <a:buNone/>
              <a:defRPr sz="1388" b="0"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latin typeface="Microsoft YaHei"/>
                <a:ea typeface="Microsoft YaHei"/>
                <a:cs typeface="Microsoft YaHei"/>
              </a:rPr>
              <a:t>Trigger notifications</a:t>
            </a:r>
          </a:p>
        </p:txBody>
      </p:sp>
    </p:spTree>
    <p:extLst>
      <p:ext uri="{BB962C8B-B14F-4D97-AF65-F5344CB8AC3E}">
        <p14:creationId xmlns:p14="http://schemas.microsoft.com/office/powerpoint/2010/main" val="1765475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B2B98974-34A1-4CCB-BC1F-C397AE97D53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828282"/>
            </a:solidFill>
          </a:ln>
        </p:spPr>
        <p:txBody>
          <a:bodyPr/>
          <a:lstStyle/>
          <a:p>
            <a:endParaRPr>
              <a:solidFill>
                <a:srgbClr val="000000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6617D02-4A11-429C-85FC-E5671AF5BB0E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981075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2850" b="1"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latin typeface="Microsoft YaHei"/>
                <a:ea typeface="Microsoft YaHei"/>
                <a:cs typeface="Microsoft YaHei"/>
              </a:rPr>
              <a:t>System Architecture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0EC1256-2973-48C0-B32C-8D2560B5AA0E}"/>
              </a:ext>
            </a:extLst>
          </p:cNvPr>
          <p:cNvSpPr>
            <a:spLocks noGrp="1"/>
          </p:cNvSpPr>
          <p:nvPr/>
        </p:nvSpPr>
        <p:spPr>
          <a:xfrm>
            <a:off x="590550" y="876300"/>
            <a:ext cx="9906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350" b="0"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latin typeface="Microsoft YaHei"/>
                <a:ea typeface="Microsoft YaHei"/>
                <a:cs typeface="Microsoft YaHei"/>
              </a:rPr>
              <a:t>The backend coordinates database retrieval and external AI services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59CC89-D5F9-447F-837E-EDF7553FB8E4}"/>
              </a:ext>
            </a:extLst>
          </p:cNvPr>
          <p:cNvSpPr>
            <a:spLocks noGrp="1"/>
          </p:cNvSpPr>
          <p:nvPr/>
        </p:nvSpPr>
        <p:spPr>
          <a:xfrm>
            <a:off x="11049000" y="4095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buNone/>
              <a:defRPr sz="1275" b="1"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584454D-CACB-4BCD-8900-663FB09681A1}"/>
              </a:ext>
            </a:extLst>
          </p:cNvPr>
          <p:cNvSpPr>
            <a:spLocks noGrp="1"/>
          </p:cNvSpPr>
          <p:nvPr/>
        </p:nvSpPr>
        <p:spPr>
          <a:xfrm>
            <a:off x="685800" y="2190750"/>
            <a:ext cx="20383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875" b="1"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latin typeface="Microsoft YaHei"/>
                <a:ea typeface="Microsoft YaHei"/>
                <a:cs typeface="Microsoft YaHei"/>
              </a:rPr>
              <a:t>Web Frontend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4659485-4258-40AC-A32E-F231051D16D8}"/>
              </a:ext>
            </a:extLst>
          </p:cNvPr>
          <p:cNvSpPr>
            <a:spLocks noGrp="1"/>
          </p:cNvSpPr>
          <p:nvPr/>
        </p:nvSpPr>
        <p:spPr>
          <a:xfrm>
            <a:off x="742950" y="3105150"/>
            <a:ext cx="1924050" cy="1143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500" b="0"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latin typeface="Microsoft YaHei"/>
                <a:ea typeface="Microsoft YaHei"/>
                <a:cs typeface="Microsoft YaHei"/>
              </a:rPr>
              <a:t>Vue 3 + Vite</a:t>
            </a:r>
          </a:p>
          <a:p>
            <a:pPr algn="ctr">
              <a:buNone/>
              <a:defRPr sz="1500" b="0"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latin typeface="Microsoft YaHei"/>
                <a:ea typeface="Microsoft YaHei"/>
                <a:cs typeface="Microsoft YaHei"/>
              </a:rPr>
              <a:t>Vue Router + Pinia</a:t>
            </a:r>
          </a:p>
          <a:p>
            <a:pPr algn="ctr">
              <a:buNone/>
              <a:defRPr sz="1500" b="0"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latin typeface="Microsoft YaHei"/>
                <a:ea typeface="Microsoft YaHei"/>
                <a:cs typeface="Microsoft YaHei"/>
              </a:rPr>
              <a:t>Element Plus + Axios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E3E305A9-444C-4B9F-ACE6-CD064429D9D9}"/>
              </a:ext>
            </a:extLst>
          </p:cNvPr>
          <p:cNvSpPr>
            <a:spLocks noGrp="1"/>
          </p:cNvSpPr>
          <p:nvPr/>
        </p:nvSpPr>
        <p:spPr>
          <a:xfrm>
            <a:off x="2962275" y="3048000"/>
            <a:ext cx="428625" cy="266700"/>
          </a:xfrm>
          <a:prstGeom prst="rightArrow">
            <a:avLst/>
          </a:prstGeom>
          <a:solidFill>
            <a:srgbClr val="FFFFFF"/>
          </a:solidFill>
          <a:ln w="0">
            <a:solidFill>
              <a:srgbClr val="3B3B3B"/>
            </a:solidFill>
          </a:ln>
        </p:spPr>
        <p:txBody>
          <a:bodyPr/>
          <a:lstStyle/>
          <a:p>
            <a:endParaRPr>
              <a:solidFill>
                <a:srgbClr val="000000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3F9C3EA-062A-4F1D-9940-1526BB97B5DF}"/>
              </a:ext>
            </a:extLst>
          </p:cNvPr>
          <p:cNvSpPr>
            <a:spLocks noGrp="1"/>
          </p:cNvSpPr>
          <p:nvPr/>
        </p:nvSpPr>
        <p:spPr>
          <a:xfrm>
            <a:off x="3657600" y="2190750"/>
            <a:ext cx="20383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875" b="1"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latin typeface="Microsoft YaHei"/>
                <a:ea typeface="Microsoft YaHei"/>
                <a:cs typeface="Microsoft YaHei"/>
              </a:rPr>
              <a:t>Backend API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C80379D-3780-417A-A6B0-C8D981258FEF}"/>
              </a:ext>
            </a:extLst>
          </p:cNvPr>
          <p:cNvSpPr>
            <a:spLocks noGrp="1"/>
          </p:cNvSpPr>
          <p:nvPr/>
        </p:nvSpPr>
        <p:spPr>
          <a:xfrm>
            <a:off x="3714750" y="3105150"/>
            <a:ext cx="1924050" cy="1143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500" b="0"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latin typeface="Microsoft YaHei"/>
                <a:ea typeface="Microsoft YaHei"/>
                <a:cs typeface="Microsoft YaHei"/>
              </a:rPr>
              <a:t>Node.js + Express</a:t>
            </a:r>
          </a:p>
          <a:p>
            <a:pPr algn="ctr">
              <a:buNone/>
              <a:defRPr sz="1500" b="0"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latin typeface="Microsoft YaHei"/>
                <a:ea typeface="Microsoft YaHei"/>
                <a:cs typeface="Microsoft YaHei"/>
              </a:rPr>
              <a:t>JWT and role checks</a:t>
            </a:r>
          </a:p>
          <a:p>
            <a:pPr algn="ctr">
              <a:buNone/>
              <a:defRPr sz="1500" b="0"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latin typeface="Microsoft YaHei"/>
                <a:ea typeface="Microsoft YaHei"/>
                <a:cs typeface="Microsoft YaHei"/>
              </a:rPr>
              <a:t>Services and rate limits</a:t>
            </a: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7D915FAD-09BB-4DE6-A0A4-104ACA8CE4FB}"/>
              </a:ext>
            </a:extLst>
          </p:cNvPr>
          <p:cNvSpPr>
            <a:spLocks noGrp="1"/>
          </p:cNvSpPr>
          <p:nvPr/>
        </p:nvSpPr>
        <p:spPr>
          <a:xfrm>
            <a:off x="5934075" y="3048000"/>
            <a:ext cx="428625" cy="266700"/>
          </a:xfrm>
          <a:prstGeom prst="rightArrow">
            <a:avLst/>
          </a:prstGeom>
          <a:solidFill>
            <a:srgbClr val="FFFFFF"/>
          </a:solidFill>
          <a:ln w="0">
            <a:solidFill>
              <a:srgbClr val="3B3B3B"/>
            </a:solidFill>
          </a:ln>
        </p:spPr>
        <p:txBody>
          <a:bodyPr/>
          <a:lstStyle/>
          <a:p>
            <a:endParaRPr>
              <a:solidFill>
                <a:srgbClr val="000000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D6AED8A-72BB-4535-8DC4-4C3FC985FDAF}"/>
              </a:ext>
            </a:extLst>
          </p:cNvPr>
          <p:cNvSpPr>
            <a:spLocks noGrp="1"/>
          </p:cNvSpPr>
          <p:nvPr/>
        </p:nvSpPr>
        <p:spPr>
          <a:xfrm>
            <a:off x="6629400" y="2190750"/>
            <a:ext cx="20383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875" b="1"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latin typeface="Microsoft YaHei"/>
                <a:ea typeface="Microsoft YaHei"/>
                <a:cs typeface="Microsoft YaHei"/>
              </a:rPr>
              <a:t>Data Layer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50C6C46-6522-471F-A9A4-F7DE3116F018}"/>
              </a:ext>
            </a:extLst>
          </p:cNvPr>
          <p:cNvSpPr>
            <a:spLocks noGrp="1"/>
          </p:cNvSpPr>
          <p:nvPr/>
        </p:nvSpPr>
        <p:spPr>
          <a:xfrm>
            <a:off x="6686550" y="3105150"/>
            <a:ext cx="1924050" cy="1143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500" b="0"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latin typeface="Microsoft YaHei"/>
                <a:ea typeface="Microsoft YaHei"/>
                <a:cs typeface="Microsoft YaHei"/>
              </a:rPr>
              <a:t>Prisma ORM</a:t>
            </a:r>
          </a:p>
          <a:p>
            <a:pPr algn="ctr">
              <a:buNone/>
              <a:defRPr sz="1500" b="0"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latin typeface="Microsoft YaHei"/>
                <a:ea typeface="Microsoft YaHei"/>
                <a:cs typeface="Microsoft YaHei"/>
              </a:rPr>
              <a:t>PostgreSQL / Supabase</a:t>
            </a:r>
          </a:p>
          <a:p>
            <a:pPr algn="ctr">
              <a:buNone/>
              <a:defRPr sz="1500" b="0"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latin typeface="Microsoft YaHei"/>
                <a:ea typeface="Microsoft YaHei"/>
                <a:cs typeface="Microsoft YaHei"/>
              </a:rPr>
              <a:t>pgvector search</a:t>
            </a:r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8FF70E7C-755B-4B19-8D9E-1E7FD8588D64}"/>
              </a:ext>
            </a:extLst>
          </p:cNvPr>
          <p:cNvSpPr>
            <a:spLocks noGrp="1"/>
          </p:cNvSpPr>
          <p:nvPr/>
        </p:nvSpPr>
        <p:spPr>
          <a:xfrm>
            <a:off x="8905875" y="3048000"/>
            <a:ext cx="428625" cy="266700"/>
          </a:xfrm>
          <a:prstGeom prst="rightArrow">
            <a:avLst/>
          </a:prstGeom>
          <a:solidFill>
            <a:srgbClr val="FFFFFF"/>
          </a:solidFill>
          <a:ln w="0">
            <a:solidFill>
              <a:srgbClr val="3B3B3B"/>
            </a:solidFill>
          </a:ln>
        </p:spPr>
        <p:txBody>
          <a:bodyPr/>
          <a:lstStyle/>
          <a:p>
            <a:endParaRPr>
              <a:solidFill>
                <a:srgbClr val="000000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9B8134A-2197-4C34-810D-A9971C6F43CE}"/>
              </a:ext>
            </a:extLst>
          </p:cNvPr>
          <p:cNvSpPr>
            <a:spLocks noGrp="1"/>
          </p:cNvSpPr>
          <p:nvPr/>
        </p:nvSpPr>
        <p:spPr>
          <a:xfrm>
            <a:off x="9601200" y="2190750"/>
            <a:ext cx="1905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875" b="1"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latin typeface="Microsoft YaHei"/>
                <a:ea typeface="Microsoft YaHei"/>
                <a:cs typeface="Microsoft YaHei"/>
              </a:rPr>
              <a:t>AI Services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75212AB-6217-4B52-9FE8-567D85CD2CE8}"/>
              </a:ext>
            </a:extLst>
          </p:cNvPr>
          <p:cNvSpPr>
            <a:spLocks noGrp="1"/>
          </p:cNvSpPr>
          <p:nvPr/>
        </p:nvSpPr>
        <p:spPr>
          <a:xfrm>
            <a:off x="9658350" y="3105150"/>
            <a:ext cx="1790700" cy="1143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500" b="0"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latin typeface="Microsoft YaHei"/>
                <a:ea typeface="Microsoft YaHei"/>
                <a:cs typeface="Microsoft YaHei"/>
              </a:rPr>
              <a:t>BAAI/bge-m3</a:t>
            </a:r>
          </a:p>
          <a:p>
            <a:pPr algn="ctr">
              <a:buNone/>
              <a:defRPr sz="1500" b="0"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latin typeface="Microsoft YaHei"/>
                <a:ea typeface="Microsoft YaHei"/>
                <a:cs typeface="Microsoft YaHei"/>
              </a:rPr>
              <a:t>1024-D embeddings</a:t>
            </a:r>
          </a:p>
          <a:p>
            <a:pPr algn="ctr">
              <a:buNone/>
              <a:defRPr sz="1500" b="0"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latin typeface="Microsoft YaHei"/>
                <a:ea typeface="Microsoft YaHei"/>
                <a:cs typeface="Microsoft YaHei"/>
              </a:rPr>
              <a:t>Zhipu GLM-4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38551B5-12AF-4539-9F28-B0B68FB41B55}"/>
              </a:ext>
            </a:extLst>
          </p:cNvPr>
          <p:cNvSpPr>
            <a:spLocks noGrp="1"/>
          </p:cNvSpPr>
          <p:nvPr/>
        </p:nvSpPr>
        <p:spPr>
          <a:xfrm>
            <a:off x="838200" y="5276850"/>
            <a:ext cx="10515600" cy="4953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500" b="0">
                <a:latin typeface="Microsoft YaHei"/>
                <a:ea typeface="Microsoft YaHei"/>
                <a:cs typeface="Microsoft YaHei"/>
              </a:defRPr>
            </a:pPr>
            <a:endParaRPr sz="1500" b="0" dirty="0"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490677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CB745FC2-245A-47B9-B445-3D6424B2F4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828282"/>
            </a:solidFill>
          </a:ln>
        </p:spPr>
        <p:txBody>
          <a:bodyPr/>
          <a:lstStyle/>
          <a:p>
            <a:endParaRPr>
              <a:solidFill>
                <a:srgbClr val="000000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4E1328F-2F0D-4096-AB2D-76AE4ED47A01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981075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2850" b="1"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latin typeface="Microsoft YaHei"/>
                <a:ea typeface="Microsoft YaHei"/>
                <a:cs typeface="Microsoft YaHei"/>
              </a:rPr>
              <a:t>Prisma Data Model Overview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AB92B62-F51A-47BF-8EC8-F723D8D698A4}"/>
              </a:ext>
            </a:extLst>
          </p:cNvPr>
          <p:cNvSpPr>
            <a:spLocks noGrp="1"/>
          </p:cNvSpPr>
          <p:nvPr/>
        </p:nvSpPr>
        <p:spPr>
          <a:xfrm>
            <a:off x="590550" y="876300"/>
            <a:ext cx="9906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350" b="0"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latin typeface="Microsoft YaHei"/>
                <a:ea typeface="Microsoft YaHei"/>
                <a:cs typeface="Microsoft YaHei"/>
              </a:rPr>
              <a:t>schema.prisma defines PostgreSQL tables, relationships, constraints, enums, and indexes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B1388B8-6DD7-46C4-A21A-5BDA514834F2}"/>
              </a:ext>
            </a:extLst>
          </p:cNvPr>
          <p:cNvSpPr>
            <a:spLocks noGrp="1"/>
          </p:cNvSpPr>
          <p:nvPr/>
        </p:nvSpPr>
        <p:spPr>
          <a:xfrm>
            <a:off x="11049000" y="4095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buNone/>
              <a:defRPr sz="1275" b="1"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212E083-81EE-405D-A908-54E4C855AC92}"/>
              </a:ext>
            </a:extLst>
          </p:cNvPr>
          <p:cNvSpPr>
            <a:spLocks noGrp="1"/>
          </p:cNvSpPr>
          <p:nvPr/>
        </p:nvSpPr>
        <p:spPr>
          <a:xfrm>
            <a:off x="742950" y="1809750"/>
            <a:ext cx="29337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875" b="1"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latin typeface="Microsoft YaHei"/>
                <a:ea typeface="Microsoft YaHei"/>
                <a:cs typeface="Microsoft YaHei"/>
              </a:rPr>
              <a:t>Student Learning State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4023A5B-40AC-4B1E-AE81-91FE464BD904}"/>
              </a:ext>
            </a:extLst>
          </p:cNvPr>
          <p:cNvSpPr>
            <a:spLocks noGrp="1"/>
          </p:cNvSpPr>
          <p:nvPr/>
        </p:nvSpPr>
        <p:spPr>
          <a:xfrm>
            <a:off x="895350" y="2609850"/>
            <a:ext cx="2628900" cy="1428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500" b="1">
                <a:latin typeface="Consolas"/>
                <a:ea typeface="Consolas"/>
                <a:cs typeface="Consolas"/>
              </a:defRPr>
            </a:pPr>
            <a:r>
              <a:rPr sz="1500" b="1">
                <a:latin typeface="Consolas"/>
                <a:ea typeface="Consolas"/>
                <a:cs typeface="Consolas"/>
              </a:rPr>
              <a:t>User</a:t>
            </a:r>
          </a:p>
          <a:p>
            <a:pPr algn="ctr">
              <a:buNone/>
              <a:defRPr sz="1500" b="1">
                <a:latin typeface="Consolas"/>
                <a:ea typeface="Consolas"/>
                <a:cs typeface="Consolas"/>
              </a:defRPr>
            </a:pPr>
            <a:r>
              <a:rPr sz="1500" b="1">
                <a:latin typeface="Consolas"/>
                <a:ea typeface="Consolas"/>
                <a:cs typeface="Consolas"/>
              </a:rPr>
              <a:t>SavedCourse</a:t>
            </a:r>
          </a:p>
          <a:p>
            <a:pPr algn="ctr">
              <a:buNone/>
              <a:defRPr sz="1500" b="1">
                <a:latin typeface="Consolas"/>
                <a:ea typeface="Consolas"/>
                <a:cs typeface="Consolas"/>
              </a:defRPr>
            </a:pPr>
            <a:r>
              <a:rPr sz="1500" b="1">
                <a:latin typeface="Consolas"/>
                <a:ea typeface="Consolas"/>
                <a:cs typeface="Consolas"/>
              </a:rPr>
              <a:t>CompletedCourse</a:t>
            </a:r>
          </a:p>
          <a:p>
            <a:pPr algn="ctr">
              <a:buNone/>
              <a:defRPr sz="1500" b="1">
                <a:latin typeface="Consolas"/>
                <a:ea typeface="Consolas"/>
                <a:cs typeface="Consolas"/>
              </a:defRPr>
            </a:pPr>
            <a:r>
              <a:rPr sz="1500" b="1">
                <a:latin typeface="Consolas"/>
                <a:ea typeface="Consolas"/>
                <a:cs typeface="Consolas"/>
              </a:rPr>
              <a:t>SemesterPlan + PlanCourse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3239988-E293-4624-89A8-5B475CAA5E28}"/>
              </a:ext>
            </a:extLst>
          </p:cNvPr>
          <p:cNvSpPr>
            <a:spLocks noGrp="1"/>
          </p:cNvSpPr>
          <p:nvPr/>
        </p:nvSpPr>
        <p:spPr>
          <a:xfrm>
            <a:off x="838200" y="4267200"/>
            <a:ext cx="2743200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350" b="0"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latin typeface="Microsoft YaHei"/>
                <a:ea typeface="Microsoft YaHei"/>
                <a:cs typeface="Microsoft YaHei"/>
              </a:rPr>
              <a:t>Profiles, saved courses, completed study, and multi-semester plans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4460A78B-F06A-45BA-97A1-60C0DD55A8B3}"/>
              </a:ext>
            </a:extLst>
          </p:cNvPr>
          <p:cNvSpPr>
            <a:spLocks noGrp="1"/>
          </p:cNvSpPr>
          <p:nvPr/>
        </p:nvSpPr>
        <p:spPr>
          <a:xfrm>
            <a:off x="4010025" y="3276600"/>
            <a:ext cx="342900" cy="238125"/>
          </a:xfrm>
          <a:prstGeom prst="rightArrow">
            <a:avLst/>
          </a:prstGeom>
          <a:solidFill>
            <a:srgbClr val="FFFFFF"/>
          </a:solidFill>
          <a:ln w="0">
            <a:solidFill>
              <a:srgbClr val="3B3B3B"/>
            </a:solidFill>
          </a:ln>
        </p:spPr>
        <p:txBody>
          <a:bodyPr/>
          <a:lstStyle/>
          <a:p>
            <a:endParaRPr>
              <a:solidFill>
                <a:srgbClr val="000000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F5942DD-8658-41BE-BD1A-A5C819C2A75B}"/>
              </a:ext>
            </a:extLst>
          </p:cNvPr>
          <p:cNvSpPr>
            <a:spLocks noGrp="1"/>
          </p:cNvSpPr>
          <p:nvPr/>
        </p:nvSpPr>
        <p:spPr>
          <a:xfrm>
            <a:off x="4629150" y="1809750"/>
            <a:ext cx="29337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875" b="1"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latin typeface="Microsoft YaHei"/>
                <a:ea typeface="Microsoft YaHei"/>
                <a:cs typeface="Microsoft YaHei"/>
              </a:rPr>
              <a:t>Course Catalogue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1E08A46-7FB1-419C-A6B4-BD8DECC0F0FA}"/>
              </a:ext>
            </a:extLst>
          </p:cNvPr>
          <p:cNvSpPr>
            <a:spLocks noGrp="1"/>
          </p:cNvSpPr>
          <p:nvPr/>
        </p:nvSpPr>
        <p:spPr>
          <a:xfrm>
            <a:off x="4781550" y="2609850"/>
            <a:ext cx="2628900" cy="1428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500" b="1">
                <a:latin typeface="Consolas"/>
                <a:ea typeface="Consolas"/>
                <a:cs typeface="Consolas"/>
              </a:defRPr>
            </a:pPr>
            <a:r>
              <a:rPr sz="1500" b="1">
                <a:latin typeface="Consolas"/>
                <a:ea typeface="Consolas"/>
                <a:cs typeface="Consolas"/>
              </a:rPr>
              <a:t>Course</a:t>
            </a:r>
          </a:p>
          <a:p>
            <a:pPr algn="ctr">
              <a:buNone/>
              <a:defRPr sz="1500" b="1">
                <a:latin typeface="Consolas"/>
                <a:ea typeface="Consolas"/>
                <a:cs typeface="Consolas"/>
              </a:defRPr>
            </a:pPr>
            <a:r>
              <a:rPr sz="1500" b="1">
                <a:latin typeface="Consolas"/>
                <a:ea typeface="Consolas"/>
                <a:cs typeface="Consolas"/>
              </a:rPr>
              <a:t>Subject</a:t>
            </a:r>
          </a:p>
          <a:p>
            <a:pPr algn="ctr">
              <a:buNone/>
              <a:defRPr sz="1500" b="1">
                <a:latin typeface="Consolas"/>
                <a:ea typeface="Consolas"/>
                <a:cs typeface="Consolas"/>
              </a:defRPr>
            </a:pPr>
            <a:r>
              <a:rPr sz="1500" b="1">
                <a:latin typeface="Consolas"/>
                <a:ea typeface="Consolas"/>
                <a:cs typeface="Consolas"/>
              </a:rPr>
              <a:t>Course.prerequisites</a:t>
            </a:r>
          </a:p>
          <a:p>
            <a:pPr algn="ctr">
              <a:buNone/>
              <a:defRPr sz="1500" b="1">
                <a:latin typeface="Consolas"/>
                <a:ea typeface="Consolas"/>
                <a:cs typeface="Consolas"/>
              </a:defRPr>
            </a:pPr>
            <a:r>
              <a:rPr sz="1500" b="1">
                <a:latin typeface="Consolas"/>
                <a:ea typeface="Consolas"/>
                <a:cs typeface="Consolas"/>
              </a:rPr>
              <a:t>embedding vector(1024)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19F248A-6023-4554-8685-CF1BA5D7E4DB}"/>
              </a:ext>
            </a:extLst>
          </p:cNvPr>
          <p:cNvSpPr>
            <a:spLocks noGrp="1"/>
          </p:cNvSpPr>
          <p:nvPr/>
        </p:nvSpPr>
        <p:spPr>
          <a:xfrm>
            <a:off x="4724400" y="4267200"/>
            <a:ext cx="2743200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350" b="0"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latin typeface="Microsoft YaHei"/>
                <a:ea typeface="Microsoft YaHei"/>
                <a:cs typeface="Microsoft YaHei"/>
              </a:rPr>
              <a:t>Course facts, subjects, prerequisite self-relations, and semantic vectors</a:t>
            </a:r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4433D0B1-7D02-4F3A-967B-D5C177210B2B}"/>
              </a:ext>
            </a:extLst>
          </p:cNvPr>
          <p:cNvSpPr>
            <a:spLocks noGrp="1"/>
          </p:cNvSpPr>
          <p:nvPr/>
        </p:nvSpPr>
        <p:spPr>
          <a:xfrm>
            <a:off x="7896225" y="3276600"/>
            <a:ext cx="342900" cy="238125"/>
          </a:xfrm>
          <a:prstGeom prst="rightArrow">
            <a:avLst/>
          </a:prstGeom>
          <a:solidFill>
            <a:srgbClr val="FFFFFF"/>
          </a:solidFill>
          <a:ln w="0">
            <a:solidFill>
              <a:srgbClr val="3B3B3B"/>
            </a:solidFill>
          </a:ln>
        </p:spPr>
        <p:txBody>
          <a:bodyPr/>
          <a:lstStyle/>
          <a:p>
            <a:endParaRPr>
              <a:solidFill>
                <a:srgbClr val="000000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48A4ADC-F421-46BB-8C4C-F7678269C962}"/>
              </a:ext>
            </a:extLst>
          </p:cNvPr>
          <p:cNvSpPr>
            <a:spLocks noGrp="1"/>
          </p:cNvSpPr>
          <p:nvPr/>
        </p:nvSpPr>
        <p:spPr>
          <a:xfrm>
            <a:off x="8515350" y="1809750"/>
            <a:ext cx="29337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875" b="1"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latin typeface="Microsoft YaHei"/>
                <a:ea typeface="Microsoft YaHei"/>
                <a:cs typeface="Microsoft YaHei"/>
              </a:rPr>
              <a:t>Reviews and Alerts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8C724B3-52CD-4AFA-8143-50868D4D57EA}"/>
              </a:ext>
            </a:extLst>
          </p:cNvPr>
          <p:cNvSpPr>
            <a:spLocks noGrp="1"/>
          </p:cNvSpPr>
          <p:nvPr/>
        </p:nvSpPr>
        <p:spPr>
          <a:xfrm>
            <a:off x="8667750" y="2609850"/>
            <a:ext cx="2628900" cy="1428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500" b="1">
                <a:latin typeface="Consolas"/>
                <a:ea typeface="Consolas"/>
                <a:cs typeface="Consolas"/>
              </a:defRPr>
            </a:pPr>
            <a:r>
              <a:rPr sz="1500" b="1">
                <a:latin typeface="Consolas"/>
                <a:ea typeface="Consolas"/>
                <a:cs typeface="Consolas"/>
              </a:rPr>
              <a:t>Review</a:t>
            </a:r>
          </a:p>
          <a:p>
            <a:pPr algn="ctr">
              <a:buNone/>
              <a:defRPr sz="1500" b="1">
                <a:latin typeface="Consolas"/>
                <a:ea typeface="Consolas"/>
                <a:cs typeface="Consolas"/>
              </a:defRPr>
            </a:pPr>
            <a:r>
              <a:rPr sz="1500" b="1">
                <a:latin typeface="Consolas"/>
                <a:ea typeface="Consolas"/>
                <a:cs typeface="Consolas"/>
              </a:rPr>
              <a:t>ReviewReport</a:t>
            </a:r>
          </a:p>
          <a:p>
            <a:pPr algn="ctr">
              <a:buNone/>
              <a:defRPr sz="1500" b="1">
                <a:latin typeface="Consolas"/>
                <a:ea typeface="Consolas"/>
                <a:cs typeface="Consolas"/>
              </a:defRPr>
            </a:pPr>
            <a:r>
              <a:rPr sz="1500" b="1">
                <a:latin typeface="Consolas"/>
                <a:ea typeface="Consolas"/>
                <a:cs typeface="Consolas"/>
              </a:rPr>
              <a:t>Notification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38327E7-0AFC-463B-AC23-60B149BC9C46}"/>
              </a:ext>
            </a:extLst>
          </p:cNvPr>
          <p:cNvSpPr>
            <a:spLocks noGrp="1"/>
          </p:cNvSpPr>
          <p:nvPr/>
        </p:nvSpPr>
        <p:spPr>
          <a:xfrm>
            <a:off x="8610600" y="4267200"/>
            <a:ext cx="2743200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350" b="0"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latin typeface="Microsoft YaHei"/>
                <a:ea typeface="Microsoft YaHei"/>
                <a:cs typeface="Microsoft YaHei"/>
              </a:rPr>
              <a:t>Course reviews, report moderation status, and in-app notifications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0D11E69-F616-4D45-BD4B-BC6CCFED0824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108204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425" b="1">
                <a:latin typeface="Microsoft YaHei"/>
                <a:ea typeface="Microsoft YaHei"/>
                <a:cs typeface="Microsoft YaHei"/>
              </a:defRPr>
            </a:pPr>
            <a:endParaRPr sz="1425" b="1" dirty="0"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773450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AB842B31-8A3E-47BE-B1E9-A50C764F58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828282"/>
            </a:solidFill>
          </a:ln>
        </p:spPr>
        <p:txBody>
          <a:bodyPr/>
          <a:lstStyle/>
          <a:p>
            <a:endParaRPr>
              <a:solidFill>
                <a:srgbClr val="000000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673AE70-A093-4079-B062-96B42DC5ACFD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981075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2850" b="1"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latin typeface="Microsoft YaHei"/>
                <a:ea typeface="Microsoft YaHei"/>
                <a:cs typeface="Microsoft YaHei"/>
              </a:rPr>
              <a:t>Schema Fields Used by AI Recommendations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00D189F-4E5B-4985-83C2-ACCA24FE2BF8}"/>
              </a:ext>
            </a:extLst>
          </p:cNvPr>
          <p:cNvSpPr>
            <a:spLocks noGrp="1"/>
          </p:cNvSpPr>
          <p:nvPr/>
        </p:nvSpPr>
        <p:spPr>
          <a:xfrm>
            <a:off x="590550" y="876300"/>
            <a:ext cx="9906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350" b="0"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latin typeface="Microsoft YaHei"/>
                <a:ea typeface="Microsoft YaHei"/>
                <a:cs typeface="Microsoft YaHei"/>
              </a:rPr>
              <a:t>The workflow reads learning context and course facts, then searches Course.embedding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4E8B410-46A1-4874-A982-36EE367D02D8}"/>
              </a:ext>
            </a:extLst>
          </p:cNvPr>
          <p:cNvSpPr>
            <a:spLocks noGrp="1"/>
          </p:cNvSpPr>
          <p:nvPr/>
        </p:nvSpPr>
        <p:spPr>
          <a:xfrm>
            <a:off x="11049000" y="4095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buNone/>
              <a:defRPr sz="1275" b="1"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CE1EFFA-AD00-41F1-B3C2-62EAB4114917}"/>
              </a:ext>
            </a:extLst>
          </p:cNvPr>
          <p:cNvSpPr>
            <a:spLocks noGrp="1"/>
          </p:cNvSpPr>
          <p:nvPr/>
        </p:nvSpPr>
        <p:spPr>
          <a:xfrm>
            <a:off x="1162050" y="1400175"/>
            <a:ext cx="64579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975" b="1">
                <a:latin typeface="Consolas"/>
                <a:ea typeface="Consolas"/>
                <a:cs typeface="Consolas"/>
              </a:defRPr>
            </a:pPr>
            <a:r>
              <a:rPr sz="975" b="1">
                <a:latin typeface="Consolas"/>
                <a:ea typeface="Consolas"/>
                <a:cs typeface="Consolas"/>
              </a:rPr>
              <a:t>backend/prisma/schema.prisma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D1CEC52-6B5B-46B8-B955-0C3ABBD236A1}"/>
              </a:ext>
            </a:extLst>
          </p:cNvPr>
          <p:cNvSpPr>
            <a:spLocks noGrp="1"/>
          </p:cNvSpPr>
          <p:nvPr/>
        </p:nvSpPr>
        <p:spPr>
          <a:xfrm>
            <a:off x="685800" y="1771650"/>
            <a:ext cx="6915150" cy="42481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885" b="0">
                <a:latin typeface="Consolas"/>
                <a:ea typeface="Consolas"/>
                <a:cs typeface="Consolas"/>
              </a:defRPr>
            </a:pPr>
            <a:r>
              <a:rPr sz="885" b="0">
                <a:latin typeface="Consolas"/>
                <a:ea typeface="Consolas"/>
                <a:cs typeface="Consolas"/>
              </a:rPr>
              <a:t>model User {</a:t>
            </a:r>
          </a:p>
          <a:p>
            <a:pPr algn="l">
              <a:buNone/>
              <a:defRPr sz="885" b="0">
                <a:latin typeface="Consolas"/>
                <a:ea typeface="Consolas"/>
                <a:cs typeface="Consolas"/>
              </a:defRPr>
            </a:pPr>
            <a:r>
              <a:rPr sz="885" b="0">
                <a:latin typeface="Consolas"/>
                <a:ea typeface="Consolas"/>
                <a:cs typeface="Consolas"/>
              </a:rPr>
              <a:t>  id                  Int      @id @default(autoincrement())</a:t>
            </a:r>
          </a:p>
          <a:p>
            <a:pPr algn="l">
              <a:buNone/>
              <a:defRPr sz="885" b="0">
                <a:latin typeface="Consolas"/>
                <a:ea typeface="Consolas"/>
                <a:cs typeface="Consolas"/>
              </a:defRPr>
            </a:pPr>
            <a:r>
              <a:rPr sz="885" b="0">
                <a:latin typeface="Consolas"/>
                <a:ea typeface="Consolas"/>
                <a:cs typeface="Consolas"/>
              </a:rPr>
              <a:t>  major               String?</a:t>
            </a:r>
          </a:p>
          <a:p>
            <a:pPr algn="l">
              <a:buNone/>
              <a:defRPr sz="885" b="0">
                <a:latin typeface="Consolas"/>
                <a:ea typeface="Consolas"/>
                <a:cs typeface="Consolas"/>
              </a:defRPr>
            </a:pPr>
            <a:r>
              <a:rPr sz="885" b="0">
                <a:latin typeface="Consolas"/>
                <a:ea typeface="Consolas"/>
                <a:cs typeface="Consolas"/>
              </a:rPr>
              <a:t>  studyYear           Int?</a:t>
            </a:r>
          </a:p>
          <a:p>
            <a:pPr algn="l">
              <a:buNone/>
              <a:defRPr sz="885" b="0">
                <a:latin typeface="Consolas"/>
                <a:ea typeface="Consolas"/>
                <a:cs typeface="Consolas"/>
              </a:defRPr>
            </a:pPr>
            <a:r>
              <a:rPr sz="885" b="0">
                <a:latin typeface="Consolas"/>
                <a:ea typeface="Consolas"/>
                <a:cs typeface="Consolas"/>
              </a:rPr>
              <a:t>  interests           String[] @default([])</a:t>
            </a:r>
          </a:p>
          <a:p>
            <a:pPr algn="l">
              <a:buNone/>
              <a:defRPr sz="885" b="0">
                <a:latin typeface="Consolas"/>
                <a:ea typeface="Consolas"/>
                <a:cs typeface="Consolas"/>
              </a:defRPr>
            </a:pPr>
            <a:r>
              <a:rPr sz="885" b="0">
                <a:latin typeface="Consolas"/>
                <a:ea typeface="Consolas"/>
                <a:cs typeface="Consolas"/>
              </a:rPr>
              <a:t>  goals               String[] @default([])</a:t>
            </a:r>
          </a:p>
          <a:p>
            <a:pPr algn="l">
              <a:buNone/>
              <a:defRPr sz="885" b="0">
                <a:latin typeface="Consolas"/>
                <a:ea typeface="Consolas"/>
                <a:cs typeface="Consolas"/>
              </a:defRPr>
            </a:pPr>
            <a:r>
              <a:rPr sz="885" b="0">
                <a:latin typeface="Consolas"/>
                <a:ea typeface="Consolas"/>
                <a:cs typeface="Consolas"/>
              </a:rPr>
              <a:t>  planningPreferences Json?</a:t>
            </a:r>
          </a:p>
          <a:p>
            <a:pPr algn="l">
              <a:buNone/>
              <a:defRPr sz="885" b="0">
                <a:latin typeface="Consolas"/>
                <a:ea typeface="Consolas"/>
                <a:cs typeface="Consolas"/>
              </a:defRPr>
            </a:pPr>
            <a:r>
              <a:rPr sz="885" b="0">
                <a:latin typeface="Consolas"/>
                <a:ea typeface="Consolas"/>
                <a:cs typeface="Consolas"/>
              </a:rPr>
              <a:t>  savedCourses        SavedCourse[]</a:t>
            </a:r>
          </a:p>
          <a:p>
            <a:pPr algn="l">
              <a:buNone/>
              <a:defRPr sz="885" b="0">
                <a:latin typeface="Consolas"/>
                <a:ea typeface="Consolas"/>
                <a:cs typeface="Consolas"/>
              </a:defRPr>
            </a:pPr>
            <a:r>
              <a:rPr sz="885" b="0">
                <a:latin typeface="Consolas"/>
                <a:ea typeface="Consolas"/>
                <a:cs typeface="Consolas"/>
              </a:rPr>
              <a:t>  completedCourses    CompletedCourse[]</a:t>
            </a:r>
          </a:p>
          <a:p>
            <a:pPr algn="l">
              <a:buNone/>
              <a:defRPr sz="885" b="0">
                <a:latin typeface="Consolas"/>
                <a:ea typeface="Consolas"/>
                <a:cs typeface="Consolas"/>
              </a:defRPr>
            </a:pPr>
            <a:r>
              <a:rPr sz="885" b="0">
                <a:latin typeface="Consolas"/>
                <a:ea typeface="Consolas"/>
                <a:cs typeface="Consolas"/>
              </a:rPr>
              <a:t>}</a:t>
            </a:r>
          </a:p>
          <a:p>
            <a:endParaRPr sz="885" b="0">
              <a:latin typeface="Consolas"/>
              <a:ea typeface="Consolas"/>
              <a:cs typeface="Consolas"/>
            </a:endParaRPr>
          </a:p>
          <a:p>
            <a:pPr algn="l">
              <a:buNone/>
              <a:defRPr sz="885" b="0">
                <a:latin typeface="Consolas"/>
                <a:ea typeface="Consolas"/>
                <a:cs typeface="Consolas"/>
              </a:defRPr>
            </a:pPr>
            <a:r>
              <a:rPr sz="885" b="0">
                <a:latin typeface="Consolas"/>
                <a:ea typeface="Consolas"/>
                <a:cs typeface="Consolas"/>
              </a:rPr>
              <a:t>model Course {</a:t>
            </a:r>
          </a:p>
          <a:p>
            <a:pPr algn="l">
              <a:buNone/>
              <a:defRPr sz="885" b="0">
                <a:latin typeface="Consolas"/>
                <a:ea typeface="Consolas"/>
                <a:cs typeface="Consolas"/>
              </a:defRPr>
            </a:pPr>
            <a:r>
              <a:rPr sz="885" b="0">
                <a:latin typeface="Consolas"/>
                <a:ea typeface="Consolas"/>
                <a:cs typeface="Consolas"/>
              </a:rPr>
              <a:t>  id               Int              @id @default(autoincrement())</a:t>
            </a:r>
          </a:p>
          <a:p>
            <a:pPr algn="l">
              <a:buNone/>
              <a:defRPr sz="885" b="0">
                <a:latin typeface="Consolas"/>
                <a:ea typeface="Consolas"/>
                <a:cs typeface="Consolas"/>
              </a:defRPr>
            </a:pPr>
            <a:r>
              <a:rPr sz="885" b="0">
                <a:latin typeface="Consolas"/>
                <a:ea typeface="Consolas"/>
                <a:cs typeface="Consolas"/>
              </a:rPr>
              <a:t>  code             String           @unique</a:t>
            </a:r>
          </a:p>
          <a:p>
            <a:pPr algn="l">
              <a:buNone/>
              <a:defRPr sz="885" b="0">
                <a:latin typeface="Consolas"/>
                <a:ea typeface="Consolas"/>
                <a:cs typeface="Consolas"/>
              </a:defRPr>
            </a:pPr>
            <a:r>
              <a:rPr sz="885" b="0">
                <a:latin typeface="Consolas"/>
                <a:ea typeface="Consolas"/>
                <a:cs typeface="Consolas"/>
              </a:rPr>
              <a:t>  description      String?</a:t>
            </a:r>
          </a:p>
          <a:p>
            <a:pPr algn="l">
              <a:buNone/>
              <a:defRPr sz="885" b="0">
                <a:latin typeface="Consolas"/>
                <a:ea typeface="Consolas"/>
                <a:cs typeface="Consolas"/>
              </a:defRPr>
            </a:pPr>
            <a:r>
              <a:rPr sz="885" b="0">
                <a:latin typeface="Consolas"/>
                <a:ea typeface="Consolas"/>
                <a:cs typeface="Consolas"/>
              </a:rPr>
              <a:t>  credits          Int</a:t>
            </a:r>
          </a:p>
          <a:p>
            <a:pPr algn="l">
              <a:buNone/>
              <a:defRPr sz="885" b="0">
                <a:latin typeface="Consolas"/>
                <a:ea typeface="Consolas"/>
                <a:cs typeface="Consolas"/>
              </a:defRPr>
            </a:pPr>
            <a:r>
              <a:rPr sz="885" b="0">
                <a:latin typeface="Consolas"/>
                <a:ea typeface="Consolas"/>
                <a:cs typeface="Consolas"/>
              </a:rPr>
              <a:t>  workloadHours    Int?</a:t>
            </a:r>
          </a:p>
          <a:p>
            <a:pPr algn="l">
              <a:buNone/>
              <a:defRPr sz="885" b="0">
                <a:latin typeface="Consolas"/>
                <a:ea typeface="Consolas"/>
                <a:cs typeface="Consolas"/>
              </a:defRPr>
            </a:pPr>
            <a:r>
              <a:rPr sz="885" b="0">
                <a:latin typeface="Consolas"/>
                <a:ea typeface="Consolas"/>
                <a:cs typeface="Consolas"/>
              </a:rPr>
              <a:t>  offeredSemesters CourseSemester[] @default([])</a:t>
            </a:r>
          </a:p>
          <a:p>
            <a:pPr algn="l">
              <a:buNone/>
              <a:defRPr sz="885" b="0">
                <a:latin typeface="Consolas"/>
                <a:ea typeface="Consolas"/>
                <a:cs typeface="Consolas"/>
              </a:defRPr>
            </a:pPr>
            <a:r>
              <a:rPr sz="885" b="0">
                <a:latin typeface="Consolas"/>
                <a:ea typeface="Consolas"/>
                <a:cs typeface="Consolas"/>
              </a:rPr>
              <a:t>  assessmentTypes  AssessmentType[] @default([])</a:t>
            </a:r>
          </a:p>
          <a:p>
            <a:pPr algn="l">
              <a:buNone/>
              <a:defRPr sz="885" b="0">
                <a:latin typeface="Consolas"/>
                <a:ea typeface="Consolas"/>
                <a:cs typeface="Consolas"/>
              </a:defRPr>
            </a:pPr>
            <a:r>
              <a:rPr sz="885" b="0">
                <a:latin typeface="Consolas"/>
                <a:ea typeface="Consolas"/>
                <a:cs typeface="Consolas"/>
              </a:rPr>
              <a:t>  subjectId        Int?</a:t>
            </a:r>
          </a:p>
          <a:p>
            <a:pPr algn="l">
              <a:buNone/>
              <a:defRPr sz="885" b="0">
                <a:latin typeface="Consolas"/>
                <a:ea typeface="Consolas"/>
                <a:cs typeface="Consolas"/>
              </a:defRPr>
            </a:pPr>
            <a:r>
              <a:rPr sz="885" b="0">
                <a:latin typeface="Consolas"/>
                <a:ea typeface="Consolas"/>
                <a:cs typeface="Consolas"/>
              </a:rPr>
              <a:t>  embedding        Unsupported("vector(1024)")?</a:t>
            </a:r>
          </a:p>
          <a:p>
            <a:pPr algn="l">
              <a:buNone/>
              <a:defRPr sz="885" b="0">
                <a:latin typeface="Consolas"/>
                <a:ea typeface="Consolas"/>
                <a:cs typeface="Consolas"/>
              </a:defRPr>
            </a:pPr>
            <a:r>
              <a:rPr sz="885" b="0">
                <a:latin typeface="Consolas"/>
                <a:ea typeface="Consolas"/>
                <a:cs typeface="Consolas"/>
              </a:rPr>
              <a:t>  prerequisites    Course[] @relation("CoursePrerequisites")</a:t>
            </a:r>
          </a:p>
          <a:p>
            <a:pPr algn="l">
              <a:buNone/>
              <a:defRPr sz="885" b="0">
                <a:latin typeface="Consolas"/>
                <a:ea typeface="Consolas"/>
                <a:cs typeface="Consolas"/>
              </a:defRPr>
            </a:pPr>
            <a:r>
              <a:rPr sz="885" b="0">
                <a:latin typeface="Consolas"/>
                <a:ea typeface="Consolas"/>
                <a:cs typeface="Consolas"/>
              </a:rPr>
              <a:t>}</a:t>
            </a:r>
          </a:p>
          <a:p>
            <a:endParaRPr sz="885" b="0">
              <a:latin typeface="Consolas"/>
              <a:ea typeface="Consolas"/>
              <a:cs typeface="Consolas"/>
            </a:endParaRPr>
          </a:p>
          <a:p>
            <a:pPr algn="l">
              <a:buNone/>
              <a:defRPr sz="885" b="0">
                <a:latin typeface="Consolas"/>
                <a:ea typeface="Consolas"/>
                <a:cs typeface="Consolas"/>
              </a:defRPr>
            </a:pPr>
            <a:r>
              <a:rPr sz="885" b="0">
                <a:latin typeface="Consolas"/>
                <a:ea typeface="Consolas"/>
                <a:cs typeface="Consolas"/>
              </a:rPr>
              <a:t>model CompletedCourse {</a:t>
            </a:r>
          </a:p>
          <a:p>
            <a:pPr algn="l">
              <a:buNone/>
              <a:defRPr sz="885" b="0">
                <a:latin typeface="Consolas"/>
                <a:ea typeface="Consolas"/>
                <a:cs typeface="Consolas"/>
              </a:defRPr>
            </a:pPr>
            <a:r>
              <a:rPr sz="885" b="0">
                <a:latin typeface="Consolas"/>
                <a:ea typeface="Consolas"/>
                <a:cs typeface="Consolas"/>
              </a:rPr>
              <a:t>  userId   Int</a:t>
            </a:r>
          </a:p>
          <a:p>
            <a:pPr algn="l">
              <a:buNone/>
              <a:defRPr sz="885" b="0">
                <a:latin typeface="Consolas"/>
                <a:ea typeface="Consolas"/>
                <a:cs typeface="Consolas"/>
              </a:defRPr>
            </a:pPr>
            <a:r>
              <a:rPr sz="885" b="0">
                <a:latin typeface="Consolas"/>
                <a:ea typeface="Consolas"/>
                <a:cs typeface="Consolas"/>
              </a:rPr>
              <a:t>  courseId Int</a:t>
            </a:r>
          </a:p>
          <a:p>
            <a:pPr algn="l">
              <a:buNone/>
              <a:defRPr sz="885" b="0">
                <a:latin typeface="Consolas"/>
                <a:ea typeface="Consolas"/>
                <a:cs typeface="Consolas"/>
              </a:defRPr>
            </a:pPr>
            <a:r>
              <a:rPr sz="885" b="0">
                <a:latin typeface="Consolas"/>
                <a:ea typeface="Consolas"/>
                <a:cs typeface="Consolas"/>
              </a:rPr>
              <a:t>  user     User   @relation(fields: [userId], references: [id])</a:t>
            </a:r>
          </a:p>
          <a:p>
            <a:pPr algn="l">
              <a:buNone/>
              <a:defRPr sz="885" b="0">
                <a:latin typeface="Consolas"/>
                <a:ea typeface="Consolas"/>
                <a:cs typeface="Consolas"/>
              </a:defRPr>
            </a:pPr>
            <a:r>
              <a:rPr sz="885" b="0">
                <a:latin typeface="Consolas"/>
                <a:ea typeface="Consolas"/>
                <a:cs typeface="Consolas"/>
              </a:rPr>
              <a:t>  course   Course @relation(fields: [courseId], references: [id])</a:t>
            </a:r>
          </a:p>
          <a:p>
            <a:pPr algn="l">
              <a:buNone/>
              <a:defRPr sz="885" b="0">
                <a:latin typeface="Consolas"/>
                <a:ea typeface="Consolas"/>
                <a:cs typeface="Consolas"/>
              </a:defRPr>
            </a:pPr>
            <a:r>
              <a:rPr sz="885" b="0">
                <a:latin typeface="Consolas"/>
                <a:ea typeface="Consolas"/>
                <a:cs typeface="Consolas"/>
              </a:rPr>
              <a:t>  @@id([userId, courseId])</a:t>
            </a:r>
          </a:p>
          <a:p>
            <a:pPr algn="l">
              <a:buNone/>
              <a:defRPr sz="885" b="0">
                <a:latin typeface="Consolas"/>
                <a:ea typeface="Consolas"/>
                <a:cs typeface="Consolas"/>
              </a:defRPr>
            </a:pPr>
            <a:r>
              <a:rPr sz="885" b="0"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8A0F5A1-A7A2-4E68-A7D7-68669E54A917}"/>
              </a:ext>
            </a:extLst>
          </p:cNvPr>
          <p:cNvSpPr>
            <a:spLocks noGrp="1"/>
          </p:cNvSpPr>
          <p:nvPr/>
        </p:nvSpPr>
        <p:spPr>
          <a:xfrm>
            <a:off x="8096250" y="1562100"/>
            <a:ext cx="4381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500" b="1"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21CA517-47F3-4A1B-ABA7-8F82A2A05664}"/>
              </a:ext>
            </a:extLst>
          </p:cNvPr>
          <p:cNvSpPr>
            <a:spLocks noGrp="1"/>
          </p:cNvSpPr>
          <p:nvPr/>
        </p:nvSpPr>
        <p:spPr>
          <a:xfrm>
            <a:off x="8686800" y="1524000"/>
            <a:ext cx="27432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800" b="1"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latin typeface="Microsoft YaHei"/>
                <a:ea typeface="Microsoft YaHei"/>
                <a:cs typeface="Microsoft YaHei"/>
              </a:rPr>
              <a:t>Personal Context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5585E71-27DC-4915-BBA8-E0739AF4743E}"/>
              </a:ext>
            </a:extLst>
          </p:cNvPr>
          <p:cNvSpPr>
            <a:spLocks noGrp="1"/>
          </p:cNvSpPr>
          <p:nvPr/>
        </p:nvSpPr>
        <p:spPr>
          <a:xfrm>
            <a:off x="8686800" y="1962150"/>
            <a:ext cx="2743200" cy="8191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425" b="0"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latin typeface="Microsoft YaHei"/>
                <a:ea typeface="Microsoft YaHei"/>
                <a:cs typeface="Microsoft YaHei"/>
              </a:rPr>
              <a:t>User supplies programme, study year, interests, goals, and planning preferences.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215270B-F789-4131-AB1F-849072997C6A}"/>
              </a:ext>
            </a:extLst>
          </p:cNvPr>
          <p:cNvSpPr>
            <a:spLocks noGrp="1"/>
          </p:cNvSpPr>
          <p:nvPr/>
        </p:nvSpPr>
        <p:spPr>
          <a:xfrm>
            <a:off x="8096250" y="3009900"/>
            <a:ext cx="4381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500" b="1"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E6140DA-4305-413B-8765-6D3FA140CD00}"/>
              </a:ext>
            </a:extLst>
          </p:cNvPr>
          <p:cNvSpPr>
            <a:spLocks noGrp="1"/>
          </p:cNvSpPr>
          <p:nvPr/>
        </p:nvSpPr>
        <p:spPr>
          <a:xfrm>
            <a:off x="8686800" y="2971800"/>
            <a:ext cx="27432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800" b="1"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latin typeface="Microsoft YaHei"/>
                <a:ea typeface="Microsoft YaHei"/>
                <a:cs typeface="Microsoft YaHei"/>
              </a:rPr>
              <a:t>Candidate Facts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2EFB585-4B13-4692-9DE9-B1DD3C865F06}"/>
              </a:ext>
            </a:extLst>
          </p:cNvPr>
          <p:cNvSpPr>
            <a:spLocks noGrp="1"/>
          </p:cNvSpPr>
          <p:nvPr/>
        </p:nvSpPr>
        <p:spPr>
          <a:xfrm>
            <a:off x="8686800" y="3409950"/>
            <a:ext cx="27432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425" b="0"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latin typeface="Microsoft YaHei"/>
                <a:ea typeface="Microsoft YaHei"/>
                <a:cs typeface="Microsoft YaHei"/>
              </a:rPr>
              <a:t>Course supplies descriptions, credits, semesters, workload, assessments, and prerequisites.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C8AA156-D3F2-4E04-9F1F-131A01295C73}"/>
              </a:ext>
            </a:extLst>
          </p:cNvPr>
          <p:cNvSpPr>
            <a:spLocks noGrp="1"/>
          </p:cNvSpPr>
          <p:nvPr/>
        </p:nvSpPr>
        <p:spPr>
          <a:xfrm>
            <a:off x="8096250" y="4610100"/>
            <a:ext cx="4381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500" b="1"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0380D06-3E8E-43B1-A75B-C94AC76A9C7D}"/>
              </a:ext>
            </a:extLst>
          </p:cNvPr>
          <p:cNvSpPr>
            <a:spLocks noGrp="1"/>
          </p:cNvSpPr>
          <p:nvPr/>
        </p:nvSpPr>
        <p:spPr>
          <a:xfrm>
            <a:off x="8686800" y="4572000"/>
            <a:ext cx="27432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800" b="1"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latin typeface="Microsoft YaHei"/>
                <a:ea typeface="Microsoft YaHei"/>
                <a:cs typeface="Microsoft YaHei"/>
              </a:rPr>
              <a:t>Completed Study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E681C6A-D26C-429F-8DB8-2A5EA773ADAF}"/>
              </a:ext>
            </a:extLst>
          </p:cNvPr>
          <p:cNvSpPr>
            <a:spLocks noGrp="1"/>
          </p:cNvSpPr>
          <p:nvPr/>
        </p:nvSpPr>
        <p:spPr>
          <a:xfrm>
            <a:off x="8686800" y="5010150"/>
            <a:ext cx="2743200" cy="914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425" b="0"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latin typeface="Microsoft YaHei"/>
                <a:ea typeface="Microsoft YaHei"/>
                <a:cs typeface="Microsoft YaHei"/>
              </a:rPr>
              <a:t>CompletedCourse records verified course completion with a composite primary key.</a:t>
            </a:r>
          </a:p>
        </p:txBody>
      </p:sp>
    </p:spTree>
    <p:extLst>
      <p:ext uri="{BB962C8B-B14F-4D97-AF65-F5344CB8AC3E}">
        <p14:creationId xmlns:p14="http://schemas.microsoft.com/office/powerpoint/2010/main" val="1180847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A07D3E4F-38B5-435E-AB0E-05F85090177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828282"/>
            </a:solidFill>
          </a:ln>
        </p:spPr>
        <p:txBody>
          <a:bodyPr/>
          <a:lstStyle/>
          <a:p>
            <a:endParaRPr>
              <a:solidFill>
                <a:srgbClr val="000000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7DB960A-4401-4BD7-B47F-075A83FF176B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981075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2850" b="1"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latin typeface="Microsoft YaHei"/>
                <a:ea typeface="Microsoft YaHei"/>
                <a:cs typeface="Microsoft YaHei"/>
              </a:rPr>
              <a:t>Demo Focus: AI Course Recommendations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E9C96C2-77E4-4A6E-9446-D2E72A924AD2}"/>
              </a:ext>
            </a:extLst>
          </p:cNvPr>
          <p:cNvSpPr>
            <a:spLocks noGrp="1"/>
          </p:cNvSpPr>
          <p:nvPr/>
        </p:nvSpPr>
        <p:spPr>
          <a:xfrm>
            <a:off x="590550" y="876300"/>
            <a:ext cx="9906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350" b="0"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latin typeface="Microsoft YaHei"/>
                <a:ea typeface="Microsoft YaHei"/>
                <a:cs typeface="Microsoft YaHei"/>
              </a:rPr>
              <a:t>One workflow connects the frontend, backend, database, and AI services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AA35008-62A7-4A4A-A3B4-259AAB9A40D8}"/>
              </a:ext>
            </a:extLst>
          </p:cNvPr>
          <p:cNvSpPr>
            <a:spLocks noGrp="1"/>
          </p:cNvSpPr>
          <p:nvPr/>
        </p:nvSpPr>
        <p:spPr>
          <a:xfrm>
            <a:off x="11049000" y="4095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buNone/>
              <a:defRPr sz="1275" b="1"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70F7BF7-E58E-4420-BBDF-E42480A160C4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342900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2025" b="1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latin typeface="Microsoft YaHei"/>
                <a:ea typeface="Microsoft YaHei"/>
                <a:cs typeface="Microsoft YaHei"/>
              </a:rPr>
              <a:t>Why this feature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F00608A-FD29-4F1F-89A9-5AD338A3D17B}"/>
              </a:ext>
            </a:extLst>
          </p:cNvPr>
          <p:cNvSpPr>
            <a:spLocks noGrp="1"/>
          </p:cNvSpPr>
          <p:nvPr/>
        </p:nvSpPr>
        <p:spPr>
          <a:xfrm>
            <a:off x="685800" y="2019300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575" b="0"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latin typeface="Microsoft YaHei"/>
                <a:ea typeface="Microsoft YaHei"/>
                <a:cs typeface="Microsoft YaHei"/>
              </a:rPr>
              <a:t>It combines student profiles, completed courses, catalogue data, vector retrieval, and grounded model explanations.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94A722F-0089-4548-964A-7FE3FA763CEB}"/>
              </a:ext>
            </a:extLst>
          </p:cNvPr>
          <p:cNvSpPr>
            <a:spLocks noGrp="1"/>
          </p:cNvSpPr>
          <p:nvPr/>
        </p:nvSpPr>
        <p:spPr>
          <a:xfrm>
            <a:off x="1885950" y="3162300"/>
            <a:ext cx="5143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500" b="1"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BE16C3B-CEF4-4ED6-B296-D2A8B1DFFA9B}"/>
              </a:ext>
            </a:extLst>
          </p:cNvPr>
          <p:cNvSpPr>
            <a:spLocks noGrp="1"/>
          </p:cNvSpPr>
          <p:nvPr/>
        </p:nvSpPr>
        <p:spPr>
          <a:xfrm>
            <a:off x="723900" y="3867150"/>
            <a:ext cx="28384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950" b="1"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latin typeface="Microsoft YaHei"/>
                <a:ea typeface="Microsoft YaHei"/>
                <a:cs typeface="Microsoft YaHei"/>
              </a:rPr>
              <a:t>Input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54FEA6-9C2B-4201-B0A4-F0058FE1AF28}"/>
              </a:ext>
            </a:extLst>
          </p:cNvPr>
          <p:cNvSpPr>
            <a:spLocks noGrp="1"/>
          </p:cNvSpPr>
          <p:nvPr/>
        </p:nvSpPr>
        <p:spPr>
          <a:xfrm>
            <a:off x="838200" y="4324350"/>
            <a:ext cx="26098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425" b="0"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latin typeface="Microsoft YaHei"/>
                <a:ea typeface="Microsoft YaHei"/>
                <a:cs typeface="Microsoft YaHei"/>
              </a:rPr>
              <a:t>The student describes interests, background, and preferences in natural language</a:t>
            </a: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D17E6B48-8787-48BF-B727-B8082F00EC48}"/>
              </a:ext>
            </a:extLst>
          </p:cNvPr>
          <p:cNvSpPr>
            <a:spLocks noGrp="1"/>
          </p:cNvSpPr>
          <p:nvPr/>
        </p:nvSpPr>
        <p:spPr>
          <a:xfrm>
            <a:off x="3600450" y="3267075"/>
            <a:ext cx="552450" cy="266700"/>
          </a:xfrm>
          <a:prstGeom prst="rightArrow">
            <a:avLst/>
          </a:prstGeom>
          <a:solidFill>
            <a:srgbClr val="FFFFFF"/>
          </a:solidFill>
          <a:ln w="0">
            <a:solidFill>
              <a:srgbClr val="3B3B3B"/>
            </a:solidFill>
          </a:ln>
        </p:spPr>
        <p:txBody>
          <a:bodyPr/>
          <a:lstStyle/>
          <a:p>
            <a:endParaRPr>
              <a:solidFill>
                <a:srgbClr val="000000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8C2682A-489C-46CB-8DB9-5B2685783335}"/>
              </a:ext>
            </a:extLst>
          </p:cNvPr>
          <p:cNvSpPr>
            <a:spLocks noGrp="1"/>
          </p:cNvSpPr>
          <p:nvPr/>
        </p:nvSpPr>
        <p:spPr>
          <a:xfrm>
            <a:off x="5667375" y="3162300"/>
            <a:ext cx="5143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500" b="1"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C3BC666-D62E-4F83-A018-44F8E8876B97}"/>
              </a:ext>
            </a:extLst>
          </p:cNvPr>
          <p:cNvSpPr>
            <a:spLocks noGrp="1"/>
          </p:cNvSpPr>
          <p:nvPr/>
        </p:nvSpPr>
        <p:spPr>
          <a:xfrm>
            <a:off x="4505325" y="3867150"/>
            <a:ext cx="28384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950" b="1"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latin typeface="Microsoft YaHei"/>
                <a:ea typeface="Microsoft YaHei"/>
                <a:cs typeface="Microsoft YaHei"/>
              </a:rPr>
              <a:t>Processing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24B414F-E310-4BCF-9715-C09918DB47E5}"/>
              </a:ext>
            </a:extLst>
          </p:cNvPr>
          <p:cNvSpPr>
            <a:spLocks noGrp="1"/>
          </p:cNvSpPr>
          <p:nvPr/>
        </p:nvSpPr>
        <p:spPr>
          <a:xfrm>
            <a:off x="4619625" y="4324350"/>
            <a:ext cx="26098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425" b="0"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latin typeface="Microsoft YaHei"/>
                <a:ea typeface="Microsoft YaHei"/>
                <a:cs typeface="Microsoft YaHei"/>
              </a:rPr>
              <a:t>The system builds context, retrieves real courses, and generates explanations</a:t>
            </a:r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773F4C2C-4501-4DBA-92E6-DEFC193F7D0D}"/>
              </a:ext>
            </a:extLst>
          </p:cNvPr>
          <p:cNvSpPr>
            <a:spLocks noGrp="1"/>
          </p:cNvSpPr>
          <p:nvPr/>
        </p:nvSpPr>
        <p:spPr>
          <a:xfrm>
            <a:off x="7381875" y="3267075"/>
            <a:ext cx="552450" cy="266700"/>
          </a:xfrm>
          <a:prstGeom prst="rightArrow">
            <a:avLst/>
          </a:prstGeom>
          <a:solidFill>
            <a:srgbClr val="FFFFFF"/>
          </a:solidFill>
          <a:ln w="0">
            <a:solidFill>
              <a:srgbClr val="3B3B3B"/>
            </a:solidFill>
          </a:ln>
        </p:spPr>
        <p:txBody>
          <a:bodyPr/>
          <a:lstStyle/>
          <a:p>
            <a:endParaRPr>
              <a:solidFill>
                <a:srgbClr val="000000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0572C30-00E3-48CD-97F1-1A2187084A34}"/>
              </a:ext>
            </a:extLst>
          </p:cNvPr>
          <p:cNvSpPr>
            <a:spLocks noGrp="1"/>
          </p:cNvSpPr>
          <p:nvPr/>
        </p:nvSpPr>
        <p:spPr>
          <a:xfrm>
            <a:off x="9448800" y="3162300"/>
            <a:ext cx="5143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500" b="1"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89CA3CC-B123-4FA0-BA1D-C386C8A0064A}"/>
              </a:ext>
            </a:extLst>
          </p:cNvPr>
          <p:cNvSpPr>
            <a:spLocks noGrp="1"/>
          </p:cNvSpPr>
          <p:nvPr/>
        </p:nvSpPr>
        <p:spPr>
          <a:xfrm>
            <a:off x="8286750" y="3867150"/>
            <a:ext cx="28384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950" b="1"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latin typeface="Microsoft YaHei"/>
                <a:ea typeface="Microsoft YaHei"/>
                <a:cs typeface="Microsoft YaHei"/>
              </a:rPr>
              <a:t>Output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67D8A1B-6D0F-4848-BCE3-77A6245B9312}"/>
              </a:ext>
            </a:extLst>
          </p:cNvPr>
          <p:cNvSpPr>
            <a:spLocks noGrp="1"/>
          </p:cNvSpPr>
          <p:nvPr/>
        </p:nvSpPr>
        <p:spPr>
          <a:xfrm>
            <a:off x="8401050" y="4324350"/>
            <a:ext cx="26098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425" b="0"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latin typeface="Microsoft YaHei"/>
                <a:ea typeface="Microsoft YaHei"/>
                <a:cs typeface="Microsoft YaHei"/>
              </a:rPr>
              <a:t>The page shows courses, reasons, cautions, and completed-course analysis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323E41D-F076-450C-805D-2B35048AB17B}"/>
              </a:ext>
            </a:extLst>
          </p:cNvPr>
          <p:cNvSpPr>
            <a:spLocks noGrp="1"/>
          </p:cNvSpPr>
          <p:nvPr/>
        </p:nvSpPr>
        <p:spPr>
          <a:xfrm>
            <a:off x="685800" y="5848350"/>
            <a:ext cx="108204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500" b="1">
                <a:latin typeface="Microsoft YaHei"/>
                <a:ea typeface="Microsoft YaHei"/>
                <a:cs typeface="Microsoft YaHei"/>
              </a:defRPr>
            </a:pPr>
            <a:endParaRPr sz="1500" b="1" dirty="0"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162250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273AE654-95A8-40DE-9CAA-39722B5DF0A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828282"/>
            </a:solidFill>
          </a:ln>
        </p:spPr>
        <p:txBody>
          <a:bodyPr/>
          <a:lstStyle/>
          <a:p>
            <a:endParaRPr>
              <a:solidFill>
                <a:srgbClr val="000000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4219C06-8812-4D33-82E3-5E832FE7A51D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981075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2850" b="1"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latin typeface="Microsoft YaHei"/>
                <a:ea typeface="Microsoft YaHei"/>
                <a:cs typeface="Microsoft YaHei"/>
              </a:rPr>
              <a:t>End-to-End Call Chain and Source Entry Points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D0650A3-725B-4A14-A906-2D448F7F8A71}"/>
              </a:ext>
            </a:extLst>
          </p:cNvPr>
          <p:cNvSpPr>
            <a:spLocks noGrp="1"/>
          </p:cNvSpPr>
          <p:nvPr/>
        </p:nvSpPr>
        <p:spPr>
          <a:xfrm>
            <a:off x="590550" y="876300"/>
            <a:ext cx="9906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350" b="0"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latin typeface="Microsoft YaHei"/>
                <a:ea typeface="Microsoft YaHei"/>
                <a:cs typeface="Microsoft YaHei"/>
              </a:rPr>
              <a:t>Each node maps to a real file or function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7F9A22B-C81F-4B64-8B35-7C1D645A1CE1}"/>
              </a:ext>
            </a:extLst>
          </p:cNvPr>
          <p:cNvSpPr>
            <a:spLocks noGrp="1"/>
          </p:cNvSpPr>
          <p:nvPr/>
        </p:nvSpPr>
        <p:spPr>
          <a:xfrm>
            <a:off x="11049000" y="4095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buNone/>
              <a:defRPr sz="1275" b="1"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D63300C-2751-4359-A7FC-246138A952FD}"/>
              </a:ext>
            </a:extLst>
          </p:cNvPr>
          <p:cNvSpPr>
            <a:spLocks noGrp="1"/>
          </p:cNvSpPr>
          <p:nvPr/>
        </p:nvSpPr>
        <p:spPr>
          <a:xfrm>
            <a:off x="1000125" y="1752600"/>
            <a:ext cx="5143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500" b="1"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6879AFB-D3C2-4E64-96ED-943990386E3C}"/>
              </a:ext>
            </a:extLst>
          </p:cNvPr>
          <p:cNvSpPr>
            <a:spLocks noGrp="1"/>
          </p:cNvSpPr>
          <p:nvPr/>
        </p:nvSpPr>
        <p:spPr>
          <a:xfrm>
            <a:off x="447675" y="2457450"/>
            <a:ext cx="16383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575" b="1"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latin typeface="Microsoft YaHei"/>
                <a:ea typeface="Microsoft YaHei"/>
                <a:cs typeface="Microsoft YaHei"/>
              </a:rPr>
              <a:t>Button Event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3016936-3516-4883-A32F-18CE14BB61E4}"/>
              </a:ext>
            </a:extLst>
          </p:cNvPr>
          <p:cNvSpPr>
            <a:spLocks noGrp="1"/>
          </p:cNvSpPr>
          <p:nvPr/>
        </p:nvSpPr>
        <p:spPr>
          <a:xfrm>
            <a:off x="447675" y="2876550"/>
            <a:ext cx="163830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863" b="0">
                <a:latin typeface="Consolas"/>
                <a:ea typeface="Consolas"/>
                <a:cs typeface="Consolas"/>
              </a:defRPr>
            </a:pPr>
            <a:r>
              <a:rPr sz="863" b="0">
                <a:latin typeface="Consolas"/>
                <a:ea typeface="Consolas"/>
                <a:cs typeface="Consolas"/>
              </a:rPr>
              <a:t>AiRecommendation.vue</a:t>
            </a:r>
          </a:p>
          <a:p>
            <a:pPr algn="ctr">
              <a:buNone/>
              <a:defRPr sz="863" b="0">
                <a:latin typeface="Consolas"/>
                <a:ea typeface="Consolas"/>
                <a:cs typeface="Consolas"/>
              </a:defRPr>
            </a:pPr>
            <a:r>
              <a:rPr sz="863" b="0">
                <a:latin typeface="Consolas"/>
                <a:ea typeface="Consolas"/>
                <a:cs typeface="Consolas"/>
              </a:rPr>
              <a:t>recommend()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EFA377E2-EC79-47B1-90ED-853F1183CCF8}"/>
              </a:ext>
            </a:extLst>
          </p:cNvPr>
          <p:cNvSpPr>
            <a:spLocks noGrp="1"/>
          </p:cNvSpPr>
          <p:nvPr/>
        </p:nvSpPr>
        <p:spPr>
          <a:xfrm>
            <a:off x="2076450" y="1866900"/>
            <a:ext cx="333375" cy="238125"/>
          </a:xfrm>
          <a:prstGeom prst="rightArrow">
            <a:avLst/>
          </a:prstGeom>
          <a:solidFill>
            <a:srgbClr val="FFFFFF"/>
          </a:solidFill>
          <a:ln w="0">
            <a:solidFill>
              <a:srgbClr val="3B3B3B"/>
            </a:solidFill>
          </a:ln>
        </p:spPr>
        <p:txBody>
          <a:bodyPr/>
          <a:lstStyle/>
          <a:p>
            <a:endParaRPr>
              <a:solidFill>
                <a:srgbClr val="000000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2CC3CB4-8DE3-419E-BB81-4C5365150E5B}"/>
              </a:ext>
            </a:extLst>
          </p:cNvPr>
          <p:cNvSpPr>
            <a:spLocks noGrp="1"/>
          </p:cNvSpPr>
          <p:nvPr/>
        </p:nvSpPr>
        <p:spPr>
          <a:xfrm>
            <a:off x="2943225" y="1752600"/>
            <a:ext cx="5143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500" b="1"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7913A13-839A-42AE-B640-A8539C75ECF2}"/>
              </a:ext>
            </a:extLst>
          </p:cNvPr>
          <p:cNvSpPr>
            <a:spLocks noGrp="1"/>
          </p:cNvSpPr>
          <p:nvPr/>
        </p:nvSpPr>
        <p:spPr>
          <a:xfrm>
            <a:off x="2390775" y="2457450"/>
            <a:ext cx="16383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575" b="1"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latin typeface="Microsoft YaHei"/>
                <a:ea typeface="Microsoft YaHei"/>
                <a:cs typeface="Microsoft YaHei"/>
              </a:rPr>
              <a:t>HTTP Request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8D69022-F733-45F5-96C3-E90A92074167}"/>
              </a:ext>
            </a:extLst>
          </p:cNvPr>
          <p:cNvSpPr>
            <a:spLocks noGrp="1"/>
          </p:cNvSpPr>
          <p:nvPr/>
        </p:nvSpPr>
        <p:spPr>
          <a:xfrm>
            <a:off x="2390775" y="2876550"/>
            <a:ext cx="163830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863" b="0">
                <a:latin typeface="Consolas"/>
                <a:ea typeface="Consolas"/>
                <a:cs typeface="Consolas"/>
              </a:defRPr>
            </a:pPr>
            <a:r>
              <a:rPr sz="863" b="0">
                <a:latin typeface="Consolas"/>
                <a:ea typeface="Consolas"/>
                <a:cs typeface="Consolas"/>
              </a:rPr>
              <a:t>api/ai.js</a:t>
            </a:r>
          </a:p>
          <a:p>
            <a:pPr algn="ctr">
              <a:buNone/>
              <a:defRPr sz="863" b="0">
                <a:latin typeface="Consolas"/>
                <a:ea typeface="Consolas"/>
                <a:cs typeface="Consolas"/>
              </a:defRPr>
            </a:pPr>
            <a:r>
              <a:rPr sz="863" b="0">
                <a:latin typeface="Consolas"/>
                <a:ea typeface="Consolas"/>
                <a:cs typeface="Consolas"/>
              </a:rPr>
              <a:t>getCourseRecommendations()</a:t>
            </a: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972DB076-4693-402B-8094-E45929F387D2}"/>
              </a:ext>
            </a:extLst>
          </p:cNvPr>
          <p:cNvSpPr>
            <a:spLocks noGrp="1"/>
          </p:cNvSpPr>
          <p:nvPr/>
        </p:nvSpPr>
        <p:spPr>
          <a:xfrm>
            <a:off x="4019550" y="1866900"/>
            <a:ext cx="333375" cy="238125"/>
          </a:xfrm>
          <a:prstGeom prst="rightArrow">
            <a:avLst/>
          </a:prstGeom>
          <a:solidFill>
            <a:srgbClr val="FFFFFF"/>
          </a:solidFill>
          <a:ln w="0">
            <a:solidFill>
              <a:srgbClr val="3B3B3B"/>
            </a:solidFill>
          </a:ln>
        </p:spPr>
        <p:txBody>
          <a:bodyPr/>
          <a:lstStyle/>
          <a:p>
            <a:endParaRPr>
              <a:solidFill>
                <a:srgbClr val="000000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7456B4E-991C-44B9-B5CF-10BBA16D3A5D}"/>
              </a:ext>
            </a:extLst>
          </p:cNvPr>
          <p:cNvSpPr>
            <a:spLocks noGrp="1"/>
          </p:cNvSpPr>
          <p:nvPr/>
        </p:nvSpPr>
        <p:spPr>
          <a:xfrm>
            <a:off x="4886325" y="1752600"/>
            <a:ext cx="5143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500" b="1"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70CEF82-65B5-40CE-9A51-F81C6DC7184A}"/>
              </a:ext>
            </a:extLst>
          </p:cNvPr>
          <p:cNvSpPr>
            <a:spLocks noGrp="1"/>
          </p:cNvSpPr>
          <p:nvPr/>
        </p:nvSpPr>
        <p:spPr>
          <a:xfrm>
            <a:off x="4333875" y="2457450"/>
            <a:ext cx="16383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575" b="1"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latin typeface="Microsoft YaHei"/>
                <a:ea typeface="Microsoft YaHei"/>
                <a:cs typeface="Microsoft YaHei"/>
              </a:rPr>
              <a:t>Route Guards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8BA0995-BA04-49C9-93B0-680FB6D27CFB}"/>
              </a:ext>
            </a:extLst>
          </p:cNvPr>
          <p:cNvSpPr>
            <a:spLocks noGrp="1"/>
          </p:cNvSpPr>
          <p:nvPr/>
        </p:nvSpPr>
        <p:spPr>
          <a:xfrm>
            <a:off x="4333875" y="2876550"/>
            <a:ext cx="163830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863" b="0">
                <a:latin typeface="Consolas"/>
                <a:ea typeface="Consolas"/>
                <a:cs typeface="Consolas"/>
              </a:defRPr>
            </a:pPr>
            <a:r>
              <a:rPr sz="863" b="0">
                <a:latin typeface="Consolas"/>
                <a:ea typeface="Consolas"/>
                <a:cs typeface="Consolas"/>
              </a:rPr>
              <a:t>aiRoutes.js</a:t>
            </a:r>
          </a:p>
          <a:p>
            <a:pPr algn="ctr">
              <a:buNone/>
              <a:defRPr sz="863" b="0">
                <a:latin typeface="Consolas"/>
                <a:ea typeface="Consolas"/>
                <a:cs typeface="Consolas"/>
              </a:defRPr>
            </a:pPr>
            <a:r>
              <a:rPr sz="863" b="0">
                <a:latin typeface="Consolas"/>
                <a:ea typeface="Consolas"/>
                <a:cs typeface="Consolas"/>
              </a:rPr>
              <a:t>/recommend</a:t>
            </a:r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A0327E9D-F604-4B51-9D71-381CEE5EFA30}"/>
              </a:ext>
            </a:extLst>
          </p:cNvPr>
          <p:cNvSpPr>
            <a:spLocks noGrp="1"/>
          </p:cNvSpPr>
          <p:nvPr/>
        </p:nvSpPr>
        <p:spPr>
          <a:xfrm>
            <a:off x="5962650" y="1866900"/>
            <a:ext cx="333375" cy="238125"/>
          </a:xfrm>
          <a:prstGeom prst="rightArrow">
            <a:avLst/>
          </a:prstGeom>
          <a:solidFill>
            <a:srgbClr val="FFFFFF"/>
          </a:solidFill>
          <a:ln w="0">
            <a:solidFill>
              <a:srgbClr val="3B3B3B"/>
            </a:solidFill>
          </a:ln>
        </p:spPr>
        <p:txBody>
          <a:bodyPr/>
          <a:lstStyle/>
          <a:p>
            <a:endParaRPr>
              <a:solidFill>
                <a:srgbClr val="000000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14F2052-303B-4D1C-9798-D3B0418FDB2D}"/>
              </a:ext>
            </a:extLst>
          </p:cNvPr>
          <p:cNvSpPr>
            <a:spLocks noGrp="1"/>
          </p:cNvSpPr>
          <p:nvPr/>
        </p:nvSpPr>
        <p:spPr>
          <a:xfrm>
            <a:off x="6829425" y="1752600"/>
            <a:ext cx="5143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500" b="1"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93E6E21-3CC1-48B1-AE5B-F93C1F391241}"/>
              </a:ext>
            </a:extLst>
          </p:cNvPr>
          <p:cNvSpPr>
            <a:spLocks noGrp="1"/>
          </p:cNvSpPr>
          <p:nvPr/>
        </p:nvSpPr>
        <p:spPr>
          <a:xfrm>
            <a:off x="6276975" y="2457450"/>
            <a:ext cx="16383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575" b="1"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latin typeface="Microsoft YaHei"/>
                <a:ea typeface="Microsoft YaHei"/>
                <a:cs typeface="Microsoft YaHei"/>
              </a:rPr>
              <a:t>Build Context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89DD240-F120-4DB3-8E3B-704763F0F985}"/>
              </a:ext>
            </a:extLst>
          </p:cNvPr>
          <p:cNvSpPr>
            <a:spLocks noGrp="1"/>
          </p:cNvSpPr>
          <p:nvPr/>
        </p:nvSpPr>
        <p:spPr>
          <a:xfrm>
            <a:off x="6276975" y="2876550"/>
            <a:ext cx="163830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863" b="0">
                <a:latin typeface="Consolas"/>
                <a:ea typeface="Consolas"/>
                <a:cs typeface="Consolas"/>
              </a:defRPr>
            </a:pPr>
            <a:r>
              <a:rPr sz="863" b="0">
                <a:latin typeface="Consolas"/>
                <a:ea typeface="Consolas"/>
                <a:cs typeface="Consolas"/>
              </a:rPr>
              <a:t>aiController.js</a:t>
            </a:r>
          </a:p>
          <a:p>
            <a:pPr algn="ctr">
              <a:buNone/>
              <a:defRPr sz="863" b="0">
                <a:latin typeface="Consolas"/>
                <a:ea typeface="Consolas"/>
                <a:cs typeface="Consolas"/>
              </a:defRPr>
            </a:pPr>
            <a:r>
              <a:rPr sz="863" b="0">
                <a:latin typeface="Consolas"/>
                <a:ea typeface="Consolas"/>
                <a:cs typeface="Consolas"/>
              </a:rPr>
              <a:t>aiRecommendCourses()</a:t>
            </a:r>
          </a:p>
        </p:txBody>
      </p:sp>
      <p:sp>
        <p:nvSpPr>
          <p:cNvPr id="24" name="箭头: 右 23">
            <a:extLst>
              <a:ext uri="{FF2B5EF4-FFF2-40B4-BE49-F238E27FC236}">
                <a16:creationId xmlns:a16="http://schemas.microsoft.com/office/drawing/2014/main" id="{95C5E4C7-7409-444B-88B6-766B3EC8C89C}"/>
              </a:ext>
            </a:extLst>
          </p:cNvPr>
          <p:cNvSpPr>
            <a:spLocks noGrp="1"/>
          </p:cNvSpPr>
          <p:nvPr/>
        </p:nvSpPr>
        <p:spPr>
          <a:xfrm>
            <a:off x="7905750" y="1866900"/>
            <a:ext cx="333375" cy="238125"/>
          </a:xfrm>
          <a:prstGeom prst="rightArrow">
            <a:avLst/>
          </a:prstGeom>
          <a:solidFill>
            <a:srgbClr val="FFFFFF"/>
          </a:solidFill>
          <a:ln w="0">
            <a:solidFill>
              <a:srgbClr val="3B3B3B"/>
            </a:solidFill>
          </a:ln>
        </p:spPr>
        <p:txBody>
          <a:bodyPr/>
          <a:lstStyle/>
          <a:p>
            <a:endParaRPr>
              <a:solidFill>
                <a:srgbClr val="000000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934F656-BBA4-42B6-A5D7-19AAA869F283}"/>
              </a:ext>
            </a:extLst>
          </p:cNvPr>
          <p:cNvSpPr>
            <a:spLocks noGrp="1"/>
          </p:cNvSpPr>
          <p:nvPr/>
        </p:nvSpPr>
        <p:spPr>
          <a:xfrm>
            <a:off x="8772525" y="1752600"/>
            <a:ext cx="5143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500" b="1"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F12A659-F5A3-41AE-8345-96FA69EB7EF5}"/>
              </a:ext>
            </a:extLst>
          </p:cNvPr>
          <p:cNvSpPr>
            <a:spLocks noGrp="1"/>
          </p:cNvSpPr>
          <p:nvPr/>
        </p:nvSpPr>
        <p:spPr>
          <a:xfrm>
            <a:off x="8220075" y="2457450"/>
            <a:ext cx="16383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575" b="1"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latin typeface="Microsoft YaHei"/>
                <a:ea typeface="Microsoft YaHei"/>
                <a:cs typeface="Microsoft YaHei"/>
              </a:rPr>
              <a:t>Vector Search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7E78848-9E4E-4C4A-90FD-09970AEF79FA}"/>
              </a:ext>
            </a:extLst>
          </p:cNvPr>
          <p:cNvSpPr>
            <a:spLocks noGrp="1"/>
          </p:cNvSpPr>
          <p:nvPr/>
        </p:nvSpPr>
        <p:spPr>
          <a:xfrm>
            <a:off x="8220075" y="2876550"/>
            <a:ext cx="163830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863" b="0">
                <a:latin typeface="Consolas"/>
                <a:ea typeface="Consolas"/>
                <a:cs typeface="Consolas"/>
              </a:defRPr>
            </a:pPr>
            <a:r>
              <a:rPr sz="863" b="0">
                <a:latin typeface="Consolas"/>
                <a:ea typeface="Consolas"/>
                <a:cs typeface="Consolas"/>
              </a:rPr>
              <a:t>courseRetrievalService.js</a:t>
            </a:r>
          </a:p>
          <a:p>
            <a:pPr algn="ctr">
              <a:buNone/>
              <a:defRPr sz="863" b="0">
                <a:latin typeface="Consolas"/>
                <a:ea typeface="Consolas"/>
                <a:cs typeface="Consolas"/>
              </a:defRPr>
            </a:pPr>
            <a:r>
              <a:rPr sz="863" b="0">
                <a:latin typeface="Consolas"/>
                <a:ea typeface="Consolas"/>
                <a:cs typeface="Consolas"/>
              </a:rPr>
              <a:t>semanticSearchCourses()</a:t>
            </a:r>
          </a:p>
        </p:txBody>
      </p:sp>
      <p:sp>
        <p:nvSpPr>
          <p:cNvPr id="29" name="箭头: 右 28">
            <a:extLst>
              <a:ext uri="{FF2B5EF4-FFF2-40B4-BE49-F238E27FC236}">
                <a16:creationId xmlns:a16="http://schemas.microsoft.com/office/drawing/2014/main" id="{4471CC96-8260-46FB-BFD2-537A406AA0A0}"/>
              </a:ext>
            </a:extLst>
          </p:cNvPr>
          <p:cNvSpPr>
            <a:spLocks noGrp="1"/>
          </p:cNvSpPr>
          <p:nvPr/>
        </p:nvSpPr>
        <p:spPr>
          <a:xfrm>
            <a:off x="9848850" y="1866900"/>
            <a:ext cx="333375" cy="238125"/>
          </a:xfrm>
          <a:prstGeom prst="rightArrow">
            <a:avLst/>
          </a:prstGeom>
          <a:solidFill>
            <a:srgbClr val="FFFFFF"/>
          </a:solidFill>
          <a:ln w="0">
            <a:solidFill>
              <a:srgbClr val="3B3B3B"/>
            </a:solidFill>
          </a:ln>
        </p:spPr>
        <p:txBody>
          <a:bodyPr/>
          <a:lstStyle/>
          <a:p>
            <a:endParaRPr>
              <a:solidFill>
                <a:srgbClr val="000000"/>
              </a:solidFill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5883AE42-2B71-40AC-B47A-8F54FD585A13}"/>
              </a:ext>
            </a:extLst>
          </p:cNvPr>
          <p:cNvSpPr>
            <a:spLocks noGrp="1"/>
          </p:cNvSpPr>
          <p:nvPr/>
        </p:nvSpPr>
        <p:spPr>
          <a:xfrm>
            <a:off x="10715625" y="1733550"/>
            <a:ext cx="514350" cy="514350"/>
          </a:xfrm>
          <a:prstGeom prst="ellipse">
            <a:avLst/>
          </a:prstGeom>
          <a:solidFill>
            <a:srgbClr val="B6B6B6"/>
          </a:solidFill>
          <a:ln w="0">
            <a:solidFill>
              <a:srgbClr val="B6B6B6"/>
            </a:solidFill>
          </a:ln>
        </p:spPr>
        <p:txBody>
          <a:bodyPr/>
          <a:lstStyle/>
          <a:p>
            <a:endParaRPr>
              <a:solidFill>
                <a:srgbClr val="000000"/>
              </a:solidFill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63A4E1C-6D08-47A1-BD97-615325D6C6E9}"/>
              </a:ext>
            </a:extLst>
          </p:cNvPr>
          <p:cNvSpPr>
            <a:spLocks noGrp="1"/>
          </p:cNvSpPr>
          <p:nvPr/>
        </p:nvSpPr>
        <p:spPr>
          <a:xfrm>
            <a:off x="10163175" y="2457450"/>
            <a:ext cx="16383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575" b="1"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latin typeface="Microsoft YaHei"/>
                <a:ea typeface="Microsoft YaHei"/>
                <a:cs typeface="Microsoft YaHei"/>
              </a:rPr>
              <a:t>AI and Render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DD12C64-9957-429E-BF0D-1F817BE9A8AE}"/>
              </a:ext>
            </a:extLst>
          </p:cNvPr>
          <p:cNvSpPr>
            <a:spLocks noGrp="1"/>
          </p:cNvSpPr>
          <p:nvPr/>
        </p:nvSpPr>
        <p:spPr>
          <a:xfrm>
            <a:off x="10163175" y="2876550"/>
            <a:ext cx="163830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863" b="0">
                <a:latin typeface="Consolas"/>
                <a:ea typeface="Consolas"/>
                <a:cs typeface="Consolas"/>
              </a:defRPr>
            </a:pPr>
            <a:r>
              <a:rPr sz="863" b="0">
                <a:latin typeface="Consolas"/>
                <a:ea typeface="Consolas"/>
                <a:cs typeface="Consolas"/>
              </a:rPr>
              <a:t>llmService.js</a:t>
            </a:r>
          </a:p>
          <a:p>
            <a:pPr algn="ctr">
              <a:buNone/>
              <a:defRPr sz="863" b="0">
                <a:latin typeface="Consolas"/>
                <a:ea typeface="Consolas"/>
                <a:cs typeface="Consolas"/>
              </a:defRPr>
            </a:pPr>
            <a:r>
              <a:rPr sz="863" b="0">
                <a:latin typeface="Consolas"/>
                <a:ea typeface="Consolas"/>
                <a:cs typeface="Consolas"/>
              </a:rPr>
              <a:t>RecommendationCard.vue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6CB9C7B-B9ED-491B-AE36-831FA98EC5D6}"/>
              </a:ext>
            </a:extLst>
          </p:cNvPr>
          <p:cNvSpPr>
            <a:spLocks noGrp="1"/>
          </p:cNvSpPr>
          <p:nvPr/>
        </p:nvSpPr>
        <p:spPr>
          <a:xfrm>
            <a:off x="1028700" y="4229100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575" b="1"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latin typeface="Microsoft YaHei"/>
                <a:ea typeface="Microsoft YaHei"/>
                <a:cs typeface="Microsoft YaHei"/>
              </a:rPr>
              <a:t>Core constraint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C5B2961-A5AF-4D20-B4B2-8CEDBD641F9C}"/>
              </a:ext>
            </a:extLst>
          </p:cNvPr>
          <p:cNvSpPr>
            <a:spLocks noGrp="1"/>
          </p:cNvSpPr>
          <p:nvPr/>
        </p:nvSpPr>
        <p:spPr>
          <a:xfrm>
            <a:off x="1028700" y="4629150"/>
            <a:ext cx="9858375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500" b="0"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latin typeface="Microsoft YaHei"/>
                <a:ea typeface="Microsoft YaHei"/>
                <a:cs typeface="Microsoft YaHei"/>
              </a:rPr>
              <a:t>Vector search selects candidates from the database first. GLM-4 explains those candidates, and the controller rejects any courseId outside the retrieved set.</a:t>
            </a:r>
          </a:p>
        </p:txBody>
      </p:sp>
    </p:spTree>
    <p:extLst>
      <p:ext uri="{BB962C8B-B14F-4D97-AF65-F5344CB8AC3E}">
        <p14:creationId xmlns:p14="http://schemas.microsoft.com/office/powerpoint/2010/main" val="631463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C08623A9-0D0B-4772-80AA-6291F34F447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828282"/>
            </a:solidFill>
          </a:ln>
        </p:spPr>
        <p:txBody>
          <a:bodyPr/>
          <a:lstStyle/>
          <a:p>
            <a:endParaRPr>
              <a:solidFill>
                <a:srgbClr val="000000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8E21FC8-F33B-41B3-90CA-C583F3977EFA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981075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2850" b="1"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latin typeface="Microsoft YaHei"/>
                <a:ea typeface="Microsoft YaHei"/>
                <a:cs typeface="Microsoft YaHei"/>
              </a:rPr>
              <a:t>Frontend Button Triggers the Request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CB8611-05F6-4E5A-8B9F-BEFAD41C3A13}"/>
              </a:ext>
            </a:extLst>
          </p:cNvPr>
          <p:cNvSpPr>
            <a:spLocks noGrp="1"/>
          </p:cNvSpPr>
          <p:nvPr/>
        </p:nvSpPr>
        <p:spPr>
          <a:xfrm>
            <a:off x="590550" y="876300"/>
            <a:ext cx="9906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350" b="0"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latin typeface="Microsoft YaHei"/>
                <a:ea typeface="Microsoft YaHei"/>
                <a:cs typeface="Microsoft YaHei"/>
              </a:rPr>
              <a:t>The Vue component manages input, loading state, results, and errors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1B65D7B-FF1E-4D64-A0BB-3A1B61C0B659}"/>
              </a:ext>
            </a:extLst>
          </p:cNvPr>
          <p:cNvSpPr>
            <a:spLocks noGrp="1"/>
          </p:cNvSpPr>
          <p:nvPr/>
        </p:nvSpPr>
        <p:spPr>
          <a:xfrm>
            <a:off x="11049000" y="4095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buNone/>
              <a:defRPr sz="1275" b="1"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6C033DE-4267-4479-9D68-9D1B08D535D3}"/>
              </a:ext>
            </a:extLst>
          </p:cNvPr>
          <p:cNvSpPr>
            <a:spLocks noGrp="1"/>
          </p:cNvSpPr>
          <p:nvPr/>
        </p:nvSpPr>
        <p:spPr>
          <a:xfrm>
            <a:off x="590550" y="1695450"/>
            <a:ext cx="4381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500" b="1"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0A9E3BD-52D9-4305-8BC8-623D2A4B22A0}"/>
              </a:ext>
            </a:extLst>
          </p:cNvPr>
          <p:cNvSpPr>
            <a:spLocks noGrp="1"/>
          </p:cNvSpPr>
          <p:nvPr/>
        </p:nvSpPr>
        <p:spPr>
          <a:xfrm>
            <a:off x="1181100" y="1657350"/>
            <a:ext cx="27432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800" b="1"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latin typeface="Microsoft YaHei"/>
                <a:ea typeface="Microsoft YaHei"/>
                <a:cs typeface="Microsoft YaHei"/>
              </a:rPr>
              <a:t>User action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0EC9306-0B06-477F-BC2D-4D1EF618BDA9}"/>
              </a:ext>
            </a:extLst>
          </p:cNvPr>
          <p:cNvSpPr>
            <a:spLocks noGrp="1"/>
          </p:cNvSpPr>
          <p:nvPr/>
        </p:nvSpPr>
        <p:spPr>
          <a:xfrm>
            <a:off x="1181100" y="2095500"/>
            <a:ext cx="2743200" cy="990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425" b="0"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latin typeface="Microsoft YaHei"/>
                <a:ea typeface="Microsoft YaHei"/>
                <a:cs typeface="Microsoft YaHei"/>
              </a:rPr>
              <a:t>Click Generate recommendations or press Ctrl + Enter.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F61B4C8-9EF0-4BFA-AF93-E931EC1EF810}"/>
              </a:ext>
            </a:extLst>
          </p:cNvPr>
          <p:cNvSpPr>
            <a:spLocks noGrp="1"/>
          </p:cNvSpPr>
          <p:nvPr/>
        </p:nvSpPr>
        <p:spPr>
          <a:xfrm>
            <a:off x="590550" y="3352800"/>
            <a:ext cx="4381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500" b="1"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07522F2-88EC-402D-A510-BADE6B169B84}"/>
              </a:ext>
            </a:extLst>
          </p:cNvPr>
          <p:cNvSpPr>
            <a:spLocks noGrp="1"/>
          </p:cNvSpPr>
          <p:nvPr/>
        </p:nvSpPr>
        <p:spPr>
          <a:xfrm>
            <a:off x="1181100" y="3314700"/>
            <a:ext cx="27432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800" b="1"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latin typeface="Microsoft YaHei"/>
                <a:ea typeface="Microsoft YaHei"/>
                <a:cs typeface="Microsoft YaHei"/>
              </a:rPr>
              <a:t>recommend()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4AB53C6-261E-4D24-96FA-760AFAEAC01C}"/>
              </a:ext>
            </a:extLst>
          </p:cNvPr>
          <p:cNvSpPr>
            <a:spLocks noGrp="1"/>
          </p:cNvSpPr>
          <p:nvPr/>
        </p:nvSpPr>
        <p:spPr>
          <a:xfrm>
            <a:off x="1181100" y="3752850"/>
            <a:ext cx="2743200" cy="1371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425" b="0"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latin typeface="Microsoft YaHei"/>
                <a:ea typeface="Microsoft YaHei"/>
                <a:cs typeface="Microsoft YaHei"/>
              </a:rPr>
              <a:t>Validate the query, clear old results, and enable loading. Store returned data or display backend and timeout errors.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FADCFEF-28B9-4AF2-B096-D4A98F79FEFB}"/>
              </a:ext>
            </a:extLst>
          </p:cNvPr>
          <p:cNvSpPr>
            <a:spLocks noGrp="1"/>
          </p:cNvSpPr>
          <p:nvPr/>
        </p:nvSpPr>
        <p:spPr>
          <a:xfrm>
            <a:off x="4838700" y="1476375"/>
            <a:ext cx="66484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975" b="1">
                <a:latin typeface="Consolas"/>
                <a:ea typeface="Consolas"/>
                <a:cs typeface="Consolas"/>
              </a:defRPr>
            </a:pPr>
            <a:r>
              <a:rPr sz="975" b="1">
                <a:latin typeface="Consolas"/>
                <a:ea typeface="Consolas"/>
                <a:cs typeface="Consolas"/>
              </a:rPr>
              <a:t>frontend/src/views/AiRecommendation.vue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D9D3607-F10C-48CF-B658-612A1D68C3B7}"/>
              </a:ext>
            </a:extLst>
          </p:cNvPr>
          <p:cNvSpPr>
            <a:spLocks noGrp="1"/>
          </p:cNvSpPr>
          <p:nvPr/>
        </p:nvSpPr>
        <p:spPr>
          <a:xfrm>
            <a:off x="4362450" y="1847850"/>
            <a:ext cx="7105650" cy="3962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088" b="0">
                <a:latin typeface="Consolas"/>
                <a:ea typeface="Consolas"/>
                <a:cs typeface="Consolas"/>
              </a:defRPr>
            </a:pPr>
            <a:r>
              <a:rPr sz="1088" b="0">
                <a:latin typeface="Consolas"/>
                <a:ea typeface="Consolas"/>
                <a:cs typeface="Consolas"/>
              </a:rPr>
              <a:t>&lt;el-input v-model="query" @keyup.ctrl.enter="recommend" /&gt;</a:t>
            </a:r>
          </a:p>
          <a:p>
            <a:pPr algn="l">
              <a:buNone/>
              <a:defRPr sz="1088" b="0">
                <a:latin typeface="Consolas"/>
                <a:ea typeface="Consolas"/>
                <a:cs typeface="Consolas"/>
              </a:defRPr>
            </a:pPr>
            <a:r>
              <a:rPr sz="1088" b="0">
                <a:latin typeface="Consolas"/>
                <a:ea typeface="Consolas"/>
                <a:cs typeface="Consolas"/>
              </a:rPr>
              <a:t>&lt;el-button :loading="loading" @click="recommend"&gt;</a:t>
            </a:r>
          </a:p>
          <a:p>
            <a:pPr algn="l">
              <a:buNone/>
              <a:defRPr sz="1088" b="0">
                <a:latin typeface="Consolas"/>
                <a:ea typeface="Consolas"/>
                <a:cs typeface="Consolas"/>
              </a:defRPr>
            </a:pPr>
            <a:r>
              <a:rPr sz="1088" b="0">
                <a:latin typeface="Consolas"/>
                <a:ea typeface="Consolas"/>
                <a:cs typeface="Consolas"/>
              </a:rPr>
              <a:t>  ✨ Generate recommendations</a:t>
            </a:r>
          </a:p>
          <a:p>
            <a:pPr algn="l">
              <a:buNone/>
              <a:defRPr sz="1088" b="0">
                <a:latin typeface="Consolas"/>
                <a:ea typeface="Consolas"/>
                <a:cs typeface="Consolas"/>
              </a:defRPr>
            </a:pPr>
            <a:r>
              <a:rPr sz="1088" b="0">
                <a:latin typeface="Consolas"/>
                <a:ea typeface="Consolas"/>
                <a:cs typeface="Consolas"/>
              </a:rPr>
              <a:t>&lt;/el-button&gt;</a:t>
            </a:r>
          </a:p>
          <a:p>
            <a:endParaRPr sz="1088" b="0">
              <a:latin typeface="Consolas"/>
              <a:ea typeface="Consolas"/>
              <a:cs typeface="Consolas"/>
            </a:endParaRPr>
          </a:p>
          <a:p>
            <a:pPr algn="l">
              <a:buNone/>
              <a:defRPr sz="1088" b="0">
                <a:latin typeface="Consolas"/>
                <a:ea typeface="Consolas"/>
                <a:cs typeface="Consolas"/>
              </a:defRPr>
            </a:pPr>
            <a:r>
              <a:rPr sz="1088" b="0">
                <a:latin typeface="Consolas"/>
                <a:ea typeface="Consolas"/>
                <a:cs typeface="Consolas"/>
              </a:rPr>
              <a:t>async function recommend() {</a:t>
            </a:r>
          </a:p>
          <a:p>
            <a:pPr algn="l">
              <a:buNone/>
              <a:defRPr sz="1088" b="0">
                <a:latin typeface="Consolas"/>
                <a:ea typeface="Consolas"/>
                <a:cs typeface="Consolas"/>
              </a:defRPr>
            </a:pPr>
            <a:r>
              <a:rPr sz="1088" b="0">
                <a:latin typeface="Consolas"/>
                <a:ea typeface="Consolas"/>
                <a:cs typeface="Consolas"/>
              </a:rPr>
              <a:t>  if (!query.value.trim()) return</a:t>
            </a:r>
          </a:p>
          <a:p>
            <a:pPr algn="l">
              <a:buNone/>
              <a:defRPr sz="1088" b="0">
                <a:latin typeface="Consolas"/>
                <a:ea typeface="Consolas"/>
                <a:cs typeface="Consolas"/>
              </a:defRPr>
            </a:pPr>
            <a:r>
              <a:rPr sz="1088" b="0">
                <a:latin typeface="Consolas"/>
                <a:ea typeface="Consolas"/>
                <a:cs typeface="Consolas"/>
              </a:rPr>
              <a:t>  loading.value = true</a:t>
            </a:r>
          </a:p>
          <a:p>
            <a:pPr algn="l">
              <a:buNone/>
              <a:defRPr sz="1088" b="0">
                <a:latin typeface="Consolas"/>
                <a:ea typeface="Consolas"/>
                <a:cs typeface="Consolas"/>
              </a:defRPr>
            </a:pPr>
            <a:r>
              <a:rPr sz="1088" b="0">
                <a:latin typeface="Consolas"/>
                <a:ea typeface="Consolas"/>
                <a:cs typeface="Consolas"/>
              </a:rPr>
              <a:t>  error.value = ''</a:t>
            </a:r>
          </a:p>
          <a:p>
            <a:pPr algn="l">
              <a:buNone/>
              <a:defRPr sz="1088" b="0">
                <a:latin typeface="Consolas"/>
                <a:ea typeface="Consolas"/>
                <a:cs typeface="Consolas"/>
              </a:defRPr>
            </a:pPr>
            <a:r>
              <a:rPr sz="1088" b="0">
                <a:latin typeface="Consolas"/>
                <a:ea typeface="Consolas"/>
                <a:cs typeface="Consolas"/>
              </a:rPr>
              <a:t>  result.value = null</a:t>
            </a:r>
          </a:p>
          <a:p>
            <a:pPr algn="l">
              <a:buNone/>
              <a:defRPr sz="1088" b="0">
                <a:latin typeface="Consolas"/>
                <a:ea typeface="Consolas"/>
                <a:cs typeface="Consolas"/>
              </a:defRPr>
            </a:pPr>
            <a:r>
              <a:rPr sz="1088" b="0">
                <a:latin typeface="Consolas"/>
                <a:ea typeface="Consolas"/>
                <a:cs typeface="Consolas"/>
              </a:rPr>
              <a:t>  try {</a:t>
            </a:r>
          </a:p>
          <a:p>
            <a:pPr algn="l">
              <a:buNone/>
              <a:defRPr sz="1088" b="0">
                <a:latin typeface="Consolas"/>
                <a:ea typeface="Consolas"/>
                <a:cs typeface="Consolas"/>
              </a:defRPr>
            </a:pPr>
            <a:r>
              <a:rPr sz="1088" b="0">
                <a:latin typeface="Consolas"/>
                <a:ea typeface="Consolas"/>
                <a:cs typeface="Consolas"/>
              </a:rPr>
              <a:t>    result.value = await getCourseRecommendations(query.value)</a:t>
            </a:r>
          </a:p>
          <a:p>
            <a:pPr algn="l">
              <a:buNone/>
              <a:defRPr sz="1088" b="0">
                <a:latin typeface="Consolas"/>
                <a:ea typeface="Consolas"/>
                <a:cs typeface="Consolas"/>
              </a:defRPr>
            </a:pPr>
            <a:r>
              <a:rPr sz="1088" b="0">
                <a:latin typeface="Consolas"/>
                <a:ea typeface="Consolas"/>
                <a:cs typeface="Consolas"/>
              </a:rPr>
              <a:t>  } catch (err) {</a:t>
            </a:r>
          </a:p>
          <a:p>
            <a:pPr algn="l">
              <a:buNone/>
              <a:defRPr sz="1088" b="0">
                <a:latin typeface="Consolas"/>
                <a:ea typeface="Consolas"/>
                <a:cs typeface="Consolas"/>
              </a:defRPr>
            </a:pPr>
            <a:r>
              <a:rPr sz="1088" b="0">
                <a:latin typeface="Consolas"/>
                <a:ea typeface="Consolas"/>
                <a:cs typeface="Consolas"/>
              </a:rPr>
              <a:t>    error.value = err.response?.data?.error</a:t>
            </a:r>
          </a:p>
          <a:p>
            <a:pPr algn="l">
              <a:buNone/>
              <a:defRPr sz="1088" b="0">
                <a:latin typeface="Consolas"/>
                <a:ea typeface="Consolas"/>
                <a:cs typeface="Consolas"/>
              </a:defRPr>
            </a:pPr>
            <a:r>
              <a:rPr sz="1088" b="0">
                <a:latin typeface="Consolas"/>
                <a:ea typeface="Consolas"/>
                <a:cs typeface="Consolas"/>
              </a:rPr>
              <a:t>      || err.response?.data?.message</a:t>
            </a:r>
          </a:p>
          <a:p>
            <a:pPr algn="l">
              <a:buNone/>
              <a:defRPr sz="1088" b="0">
                <a:latin typeface="Consolas"/>
                <a:ea typeface="Consolas"/>
                <a:cs typeface="Consolas"/>
              </a:defRPr>
            </a:pPr>
            <a:r>
              <a:rPr sz="1088" b="0">
                <a:latin typeface="Consolas"/>
                <a:ea typeface="Consolas"/>
                <a:cs typeface="Consolas"/>
              </a:rPr>
              <a:t>      || (err.code === 'ECONNABORTED' ? timeoutMessage : null)</a:t>
            </a:r>
          </a:p>
          <a:p>
            <a:pPr algn="l">
              <a:buNone/>
              <a:defRPr sz="1088" b="0">
                <a:latin typeface="Consolas"/>
                <a:ea typeface="Consolas"/>
                <a:cs typeface="Consolas"/>
              </a:defRPr>
            </a:pPr>
            <a:r>
              <a:rPr sz="1088" b="0">
                <a:latin typeface="Consolas"/>
                <a:ea typeface="Consolas"/>
                <a:cs typeface="Consolas"/>
              </a:rPr>
              <a:t>  } finally {</a:t>
            </a:r>
          </a:p>
          <a:p>
            <a:pPr algn="l">
              <a:buNone/>
              <a:defRPr sz="1088" b="0">
                <a:latin typeface="Consolas"/>
                <a:ea typeface="Consolas"/>
                <a:cs typeface="Consolas"/>
              </a:defRPr>
            </a:pPr>
            <a:r>
              <a:rPr sz="1088" b="0">
                <a:latin typeface="Consolas"/>
                <a:ea typeface="Consolas"/>
                <a:cs typeface="Consolas"/>
              </a:rPr>
              <a:t>    loading.value = false</a:t>
            </a:r>
          </a:p>
          <a:p>
            <a:pPr algn="l">
              <a:buNone/>
              <a:defRPr sz="1088" b="0">
                <a:latin typeface="Consolas"/>
                <a:ea typeface="Consolas"/>
                <a:cs typeface="Consolas"/>
              </a:defRPr>
            </a:pPr>
            <a:r>
              <a:rPr sz="1088" b="0">
                <a:latin typeface="Consolas"/>
                <a:ea typeface="Consolas"/>
                <a:cs typeface="Consolas"/>
              </a:rPr>
              <a:t>  }</a:t>
            </a:r>
          </a:p>
          <a:p>
            <a:pPr algn="l">
              <a:buNone/>
              <a:defRPr sz="1088" b="0">
                <a:latin typeface="Consolas"/>
                <a:ea typeface="Consolas"/>
                <a:cs typeface="Consolas"/>
              </a:defRPr>
            </a:pPr>
            <a:r>
              <a:rPr sz="1088" b="0">
                <a:latin typeface="Consolas"/>
                <a:ea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4273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E1D8FCC7-F490-436A-961A-DE62F3E5F2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828282"/>
            </a:solidFill>
          </a:ln>
        </p:spPr>
        <p:txBody>
          <a:bodyPr/>
          <a:lstStyle/>
          <a:p>
            <a:endParaRPr>
              <a:solidFill>
                <a:srgbClr val="000000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80BB78E-7887-4864-8A95-17E83F5C11F2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981075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2850" b="1"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latin typeface="Microsoft YaHei"/>
                <a:ea typeface="Microsoft YaHei"/>
                <a:cs typeface="Microsoft YaHei"/>
              </a:rPr>
              <a:t>API Wrapper and Express Route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3B21E90-814C-4840-A446-74DA0A24B52C}"/>
              </a:ext>
            </a:extLst>
          </p:cNvPr>
          <p:cNvSpPr>
            <a:spLocks noGrp="1"/>
          </p:cNvSpPr>
          <p:nvPr/>
        </p:nvSpPr>
        <p:spPr>
          <a:xfrm>
            <a:off x="590550" y="876300"/>
            <a:ext cx="9906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350" b="0"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latin typeface="Microsoft YaHei"/>
                <a:ea typeface="Microsoft YaHei"/>
                <a:cs typeface="Microsoft YaHei"/>
              </a:rPr>
              <a:t>Authentication, rate limiting, and role checks protect the recommendation endpoint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06459B4-7D63-4945-BF66-EFFD7F819C3F}"/>
              </a:ext>
            </a:extLst>
          </p:cNvPr>
          <p:cNvSpPr>
            <a:spLocks noGrp="1"/>
          </p:cNvSpPr>
          <p:nvPr/>
        </p:nvSpPr>
        <p:spPr>
          <a:xfrm>
            <a:off x="11049000" y="4095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buNone/>
              <a:defRPr sz="1275" b="1"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AA84000-FB5A-4503-B4EC-8EBBB65F9A76}"/>
              </a:ext>
            </a:extLst>
          </p:cNvPr>
          <p:cNvSpPr>
            <a:spLocks noGrp="1"/>
          </p:cNvSpPr>
          <p:nvPr/>
        </p:nvSpPr>
        <p:spPr>
          <a:xfrm>
            <a:off x="1200150" y="1476375"/>
            <a:ext cx="4572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975" b="1">
                <a:latin typeface="Consolas"/>
                <a:ea typeface="Consolas"/>
                <a:cs typeface="Consolas"/>
              </a:defRPr>
            </a:pPr>
            <a:r>
              <a:rPr sz="975" b="1">
                <a:latin typeface="Consolas"/>
                <a:ea typeface="Consolas"/>
                <a:cs typeface="Consolas"/>
              </a:rPr>
              <a:t>frontend/src/api/ai.js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D64D715-435B-434D-B4AF-70B7D03E41CC}"/>
              </a:ext>
            </a:extLst>
          </p:cNvPr>
          <p:cNvSpPr>
            <a:spLocks noGrp="1"/>
          </p:cNvSpPr>
          <p:nvPr/>
        </p:nvSpPr>
        <p:spPr>
          <a:xfrm>
            <a:off x="723900" y="1847850"/>
            <a:ext cx="5029200" cy="3390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125" b="0">
                <a:latin typeface="Consolas"/>
                <a:ea typeface="Consolas"/>
                <a:cs typeface="Consolas"/>
              </a:defRPr>
            </a:pPr>
            <a:r>
              <a:rPr sz="1125" b="0">
                <a:latin typeface="Consolas"/>
                <a:ea typeface="Consolas"/>
                <a:cs typeface="Consolas"/>
              </a:rPr>
              <a:t>import request from './request'</a:t>
            </a:r>
          </a:p>
          <a:p>
            <a:endParaRPr sz="1125" b="0">
              <a:latin typeface="Consolas"/>
              <a:ea typeface="Consolas"/>
              <a:cs typeface="Consolas"/>
            </a:endParaRPr>
          </a:p>
          <a:p>
            <a:pPr algn="l">
              <a:buNone/>
              <a:defRPr sz="1125" b="0">
                <a:latin typeface="Consolas"/>
                <a:ea typeface="Consolas"/>
                <a:cs typeface="Consolas"/>
              </a:defRPr>
            </a:pPr>
            <a:r>
              <a:rPr sz="1125" b="0">
                <a:latin typeface="Consolas"/>
                <a:ea typeface="Consolas"/>
                <a:cs typeface="Consolas"/>
              </a:rPr>
              <a:t>export async function getCourseRecommendations(</a:t>
            </a:r>
          </a:p>
          <a:p>
            <a:pPr algn="l">
              <a:buNone/>
              <a:defRPr sz="1125" b="0">
                <a:latin typeface="Consolas"/>
                <a:ea typeface="Consolas"/>
                <a:cs typeface="Consolas"/>
              </a:defRPr>
            </a:pPr>
            <a:r>
              <a:rPr sz="1125" b="0">
                <a:latin typeface="Consolas"/>
                <a:ea typeface="Consolas"/>
                <a:cs typeface="Consolas"/>
              </a:rPr>
              <a:t>  query, filters = {}</a:t>
            </a:r>
          </a:p>
          <a:p>
            <a:pPr algn="l">
              <a:buNone/>
              <a:defRPr sz="1125" b="0">
                <a:latin typeface="Consolas"/>
                <a:ea typeface="Consolas"/>
                <a:cs typeface="Consolas"/>
              </a:defRPr>
            </a:pPr>
            <a:r>
              <a:rPr sz="1125" b="0">
                <a:latin typeface="Consolas"/>
                <a:ea typeface="Consolas"/>
                <a:cs typeface="Consolas"/>
              </a:rPr>
              <a:t>) {</a:t>
            </a:r>
          </a:p>
          <a:p>
            <a:pPr algn="l">
              <a:buNone/>
              <a:defRPr sz="1125" b="0">
                <a:latin typeface="Consolas"/>
                <a:ea typeface="Consolas"/>
                <a:cs typeface="Consolas"/>
              </a:defRPr>
            </a:pPr>
            <a:r>
              <a:rPr sz="1125" b="0">
                <a:latin typeface="Consolas"/>
                <a:ea typeface="Consolas"/>
                <a:cs typeface="Consolas"/>
              </a:rPr>
              <a:t>  const response = await request.post(</a:t>
            </a:r>
          </a:p>
          <a:p>
            <a:pPr algn="l">
              <a:buNone/>
              <a:defRPr sz="1125" b="0">
                <a:latin typeface="Consolas"/>
                <a:ea typeface="Consolas"/>
                <a:cs typeface="Consolas"/>
              </a:defRPr>
            </a:pPr>
            <a:r>
              <a:rPr sz="1125" b="0">
                <a:latin typeface="Consolas"/>
                <a:ea typeface="Consolas"/>
                <a:cs typeface="Consolas"/>
              </a:rPr>
              <a:t>    '/ai/recommend',</a:t>
            </a:r>
          </a:p>
          <a:p>
            <a:pPr algn="l">
              <a:buNone/>
              <a:defRPr sz="1125" b="0">
                <a:latin typeface="Consolas"/>
                <a:ea typeface="Consolas"/>
                <a:cs typeface="Consolas"/>
              </a:defRPr>
            </a:pPr>
            <a:r>
              <a:rPr sz="1125" b="0">
                <a:latin typeface="Consolas"/>
                <a:ea typeface="Consolas"/>
                <a:cs typeface="Consolas"/>
              </a:rPr>
              <a:t>    { query, ...filters },</a:t>
            </a:r>
          </a:p>
          <a:p>
            <a:pPr algn="l">
              <a:buNone/>
              <a:defRPr sz="1125" b="0">
                <a:latin typeface="Consolas"/>
                <a:ea typeface="Consolas"/>
                <a:cs typeface="Consolas"/>
              </a:defRPr>
            </a:pPr>
            <a:r>
              <a:rPr sz="1125" b="0">
                <a:latin typeface="Consolas"/>
                <a:ea typeface="Consolas"/>
                <a:cs typeface="Consolas"/>
              </a:rPr>
              <a:t>    { timeout: 150000 }</a:t>
            </a:r>
          </a:p>
          <a:p>
            <a:pPr algn="l">
              <a:buNone/>
              <a:defRPr sz="1125" b="0">
                <a:latin typeface="Consolas"/>
                <a:ea typeface="Consolas"/>
                <a:cs typeface="Consolas"/>
              </a:defRPr>
            </a:pPr>
            <a:r>
              <a:rPr sz="1125" b="0">
                <a:latin typeface="Consolas"/>
                <a:ea typeface="Consolas"/>
                <a:cs typeface="Consolas"/>
              </a:rPr>
              <a:t>  )</a:t>
            </a:r>
          </a:p>
          <a:p>
            <a:pPr algn="l">
              <a:buNone/>
              <a:defRPr sz="1125" b="0">
                <a:latin typeface="Consolas"/>
                <a:ea typeface="Consolas"/>
                <a:cs typeface="Consolas"/>
              </a:defRPr>
            </a:pPr>
            <a:r>
              <a:rPr sz="1125" b="0">
                <a:latin typeface="Consolas"/>
                <a:ea typeface="Consolas"/>
                <a:cs typeface="Consolas"/>
              </a:rPr>
              <a:t>  return response.data</a:t>
            </a:r>
          </a:p>
          <a:p>
            <a:pPr algn="l">
              <a:buNone/>
              <a:defRPr sz="1125" b="0">
                <a:latin typeface="Consolas"/>
                <a:ea typeface="Consolas"/>
                <a:cs typeface="Consolas"/>
              </a:defRPr>
            </a:pPr>
            <a:r>
              <a:rPr sz="1125" b="0"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A908D9C5-4192-4332-9985-7A963777F571}"/>
              </a:ext>
            </a:extLst>
          </p:cNvPr>
          <p:cNvSpPr>
            <a:spLocks noGrp="1"/>
          </p:cNvSpPr>
          <p:nvPr/>
        </p:nvSpPr>
        <p:spPr>
          <a:xfrm>
            <a:off x="5953125" y="3105150"/>
            <a:ext cx="285750" cy="228600"/>
          </a:xfrm>
          <a:prstGeom prst="rightArrow">
            <a:avLst/>
          </a:prstGeom>
          <a:solidFill>
            <a:srgbClr val="FFFFFF"/>
          </a:solidFill>
          <a:ln w="0">
            <a:solidFill>
              <a:srgbClr val="828282"/>
            </a:solidFill>
          </a:ln>
        </p:spPr>
        <p:txBody>
          <a:bodyPr/>
          <a:lstStyle/>
          <a:p>
            <a:endParaRPr>
              <a:solidFill>
                <a:srgbClr val="000000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87F98EE-F10C-4517-9FD8-22AC6D04B7B9}"/>
              </a:ext>
            </a:extLst>
          </p:cNvPr>
          <p:cNvSpPr>
            <a:spLocks noGrp="1"/>
          </p:cNvSpPr>
          <p:nvPr/>
        </p:nvSpPr>
        <p:spPr>
          <a:xfrm>
            <a:off x="6953250" y="1476375"/>
            <a:ext cx="45339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975" b="1">
                <a:latin typeface="Consolas"/>
                <a:ea typeface="Consolas"/>
                <a:cs typeface="Consolas"/>
              </a:defRPr>
            </a:pPr>
            <a:r>
              <a:rPr sz="975" b="1">
                <a:latin typeface="Consolas"/>
                <a:ea typeface="Consolas"/>
                <a:cs typeface="Consolas"/>
              </a:rPr>
              <a:t>backend/src/routes/aiRoutes.js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438569C-4F48-44A0-B16A-4752C34F18F0}"/>
              </a:ext>
            </a:extLst>
          </p:cNvPr>
          <p:cNvSpPr>
            <a:spLocks noGrp="1"/>
          </p:cNvSpPr>
          <p:nvPr/>
        </p:nvSpPr>
        <p:spPr>
          <a:xfrm>
            <a:off x="6477000" y="1847850"/>
            <a:ext cx="4991100" cy="3390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125" b="0">
                <a:latin typeface="Consolas"/>
                <a:ea typeface="Consolas"/>
                <a:cs typeface="Consolas"/>
              </a:defRPr>
            </a:pPr>
            <a:r>
              <a:rPr sz="1125" b="0">
                <a:latin typeface="Consolas"/>
                <a:ea typeface="Consolas"/>
                <a:cs typeface="Consolas"/>
              </a:rPr>
              <a:t>const { verifyToken } = require('../middlewares/authMiddleware')</a:t>
            </a:r>
          </a:p>
          <a:p>
            <a:pPr algn="l">
              <a:buNone/>
              <a:defRPr sz="1125" b="0">
                <a:latin typeface="Consolas"/>
                <a:ea typeface="Consolas"/>
                <a:cs typeface="Consolas"/>
              </a:defRPr>
            </a:pPr>
            <a:r>
              <a:rPr sz="1125" b="0">
                <a:latin typeface="Consolas"/>
                <a:ea typeface="Consolas"/>
                <a:cs typeface="Consolas"/>
              </a:rPr>
              <a:t>const { requireRole } = require('../middlewares/roleMiddleware')</a:t>
            </a:r>
          </a:p>
          <a:p>
            <a:pPr algn="l">
              <a:buNone/>
              <a:defRPr sz="1125" b="0">
                <a:latin typeface="Consolas"/>
                <a:ea typeface="Consolas"/>
                <a:cs typeface="Consolas"/>
              </a:defRPr>
            </a:pPr>
            <a:r>
              <a:rPr sz="1125" b="0">
                <a:latin typeface="Consolas"/>
                <a:ea typeface="Consolas"/>
                <a:cs typeface="Consolas"/>
              </a:rPr>
              <a:t>const { aiRateLimit } = require('../middlewares/aiRateLimit')</a:t>
            </a:r>
          </a:p>
          <a:p>
            <a:endParaRPr sz="1125" b="0">
              <a:latin typeface="Consolas"/>
              <a:ea typeface="Consolas"/>
              <a:cs typeface="Consolas"/>
            </a:endParaRPr>
          </a:p>
          <a:p>
            <a:pPr algn="l">
              <a:buNone/>
              <a:defRPr sz="1125" b="0">
                <a:latin typeface="Consolas"/>
                <a:ea typeface="Consolas"/>
                <a:cs typeface="Consolas"/>
              </a:defRPr>
            </a:pPr>
            <a:r>
              <a:rPr sz="1125" b="0">
                <a:latin typeface="Consolas"/>
                <a:ea typeface="Consolas"/>
                <a:cs typeface="Consolas"/>
              </a:rPr>
              <a:t>router.use(verifyToken)</a:t>
            </a:r>
          </a:p>
          <a:p>
            <a:pPr algn="l">
              <a:buNone/>
              <a:defRPr sz="1125" b="0">
                <a:latin typeface="Consolas"/>
                <a:ea typeface="Consolas"/>
                <a:cs typeface="Consolas"/>
              </a:defRPr>
            </a:pPr>
            <a:r>
              <a:rPr sz="1125" b="0">
                <a:latin typeface="Consolas"/>
                <a:ea typeface="Consolas"/>
                <a:cs typeface="Consolas"/>
              </a:rPr>
              <a:t>router.use(aiRateLimit)</a:t>
            </a:r>
          </a:p>
          <a:p>
            <a:endParaRPr sz="1125" b="0">
              <a:latin typeface="Consolas"/>
              <a:ea typeface="Consolas"/>
              <a:cs typeface="Consolas"/>
            </a:endParaRPr>
          </a:p>
          <a:p>
            <a:pPr algn="l">
              <a:buNone/>
              <a:defRPr sz="1125" b="0">
                <a:latin typeface="Consolas"/>
                <a:ea typeface="Consolas"/>
                <a:cs typeface="Consolas"/>
              </a:defRPr>
            </a:pPr>
            <a:r>
              <a:rPr sz="1125" b="0">
                <a:latin typeface="Consolas"/>
                <a:ea typeface="Consolas"/>
                <a:cs typeface="Consolas"/>
              </a:rPr>
              <a:t>router.post('/recommend',</a:t>
            </a:r>
          </a:p>
          <a:p>
            <a:pPr algn="l">
              <a:buNone/>
              <a:defRPr sz="1125" b="0">
                <a:latin typeface="Consolas"/>
                <a:ea typeface="Consolas"/>
                <a:cs typeface="Consolas"/>
              </a:defRPr>
            </a:pPr>
            <a:r>
              <a:rPr sz="1125" b="0">
                <a:latin typeface="Consolas"/>
                <a:ea typeface="Consolas"/>
                <a:cs typeface="Consolas"/>
              </a:rPr>
              <a:t>  requireRole('STUDENT'),</a:t>
            </a:r>
          </a:p>
          <a:p>
            <a:pPr algn="l">
              <a:buNone/>
              <a:defRPr sz="1125" b="0">
                <a:latin typeface="Consolas"/>
                <a:ea typeface="Consolas"/>
                <a:cs typeface="Consolas"/>
              </a:defRPr>
            </a:pPr>
            <a:r>
              <a:rPr sz="1125" b="0">
                <a:latin typeface="Consolas"/>
                <a:ea typeface="Consolas"/>
                <a:cs typeface="Consolas"/>
              </a:rPr>
              <a:t>  aiController.aiRecommendCourses</a:t>
            </a:r>
          </a:p>
          <a:p>
            <a:pPr algn="l">
              <a:buNone/>
              <a:defRPr sz="1125" b="0">
                <a:latin typeface="Consolas"/>
                <a:ea typeface="Consolas"/>
                <a:cs typeface="Consolas"/>
              </a:defRPr>
            </a:pPr>
            <a:r>
              <a:rPr sz="1125" b="0"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24322D5-4BB2-474D-8433-B12822FAB62E}"/>
              </a:ext>
            </a:extLst>
          </p:cNvPr>
          <p:cNvSpPr>
            <a:spLocks noGrp="1"/>
          </p:cNvSpPr>
          <p:nvPr/>
        </p:nvSpPr>
        <p:spPr>
          <a:xfrm>
            <a:off x="714375" y="56388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575" b="1">
                <a:latin typeface="Consolas"/>
                <a:ea typeface="Consolas"/>
                <a:cs typeface="Consolas"/>
              </a:defRPr>
            </a:pPr>
            <a:r>
              <a:rPr sz="1575" b="1">
                <a:latin typeface="Consolas"/>
                <a:ea typeface="Consolas"/>
                <a:cs typeface="Consolas"/>
              </a:rPr>
              <a:t>POST /ai/recommend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F035B1A-A94B-4E6B-8D59-10C1FFAB86C0}"/>
              </a:ext>
            </a:extLst>
          </p:cNvPr>
          <p:cNvSpPr>
            <a:spLocks noGrp="1"/>
          </p:cNvSpPr>
          <p:nvPr/>
        </p:nvSpPr>
        <p:spPr>
          <a:xfrm>
            <a:off x="3524250" y="5638800"/>
            <a:ext cx="78105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425" b="0"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latin typeface="Microsoft YaHei"/>
                <a:ea typeface="Microsoft YaHei"/>
                <a:cs typeface="Microsoft YaHei"/>
              </a:rPr>
              <a:t>JWT verification     Per-user rate limit     STUDENT role required</a:t>
            </a:r>
          </a:p>
        </p:txBody>
      </p:sp>
    </p:spTree>
    <p:extLst>
      <p:ext uri="{BB962C8B-B14F-4D97-AF65-F5344CB8AC3E}">
        <p14:creationId xmlns:p14="http://schemas.microsoft.com/office/powerpoint/2010/main" val="294254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A0258359-AFF9-4862-B291-9B1405E2D89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828282"/>
            </a:solidFill>
          </a:ln>
        </p:spPr>
        <p:txBody>
          <a:bodyPr/>
          <a:lstStyle/>
          <a:p>
            <a:endParaRPr>
              <a:solidFill>
                <a:srgbClr val="000000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0FBE545-62BA-4F07-94FD-5956AF4C107E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981075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2850" b="1"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latin typeface="Microsoft YaHei"/>
                <a:ea typeface="Microsoft YaHei"/>
                <a:cs typeface="Microsoft YaHei"/>
              </a:rPr>
              <a:t>Database Read and Recommendation Context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9F17382-AC42-4D1C-BCE6-E4B789C72E55}"/>
              </a:ext>
            </a:extLst>
          </p:cNvPr>
          <p:cNvSpPr>
            <a:spLocks noGrp="1"/>
          </p:cNvSpPr>
          <p:nvPr/>
        </p:nvSpPr>
        <p:spPr>
          <a:xfrm>
            <a:off x="590550" y="876300"/>
            <a:ext cx="9906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350" b="0"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latin typeface="Microsoft YaHei"/>
                <a:ea typeface="Microsoft YaHei"/>
                <a:cs typeface="Microsoft YaHei"/>
              </a:rPr>
              <a:t>Prisma loads planning data and the controller creates a non-identifying studentContext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FC24666-01D7-49BD-BB23-8116012F3D71}"/>
              </a:ext>
            </a:extLst>
          </p:cNvPr>
          <p:cNvSpPr>
            <a:spLocks noGrp="1"/>
          </p:cNvSpPr>
          <p:nvPr/>
        </p:nvSpPr>
        <p:spPr>
          <a:xfrm>
            <a:off x="11049000" y="4095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buNone/>
              <a:defRPr sz="1275" b="1"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2A0BC81-3D2B-46D0-816D-8D3B470E4828}"/>
              </a:ext>
            </a:extLst>
          </p:cNvPr>
          <p:cNvSpPr>
            <a:spLocks noGrp="1"/>
          </p:cNvSpPr>
          <p:nvPr/>
        </p:nvSpPr>
        <p:spPr>
          <a:xfrm>
            <a:off x="552450" y="1600200"/>
            <a:ext cx="4381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500" b="1"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C0F2A35-DA36-48D4-83B6-A11271E9A7EF}"/>
              </a:ext>
            </a:extLst>
          </p:cNvPr>
          <p:cNvSpPr>
            <a:spLocks noGrp="1"/>
          </p:cNvSpPr>
          <p:nvPr/>
        </p:nvSpPr>
        <p:spPr>
          <a:xfrm>
            <a:off x="1143000" y="1562100"/>
            <a:ext cx="27432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800" b="1"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latin typeface="Microsoft YaHei"/>
                <a:ea typeface="Microsoft YaHei"/>
                <a:cs typeface="Microsoft YaHei"/>
              </a:rPr>
              <a:t>Load student data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71745EC-0F20-4827-BB93-03FE4D89E6F2}"/>
              </a:ext>
            </a:extLst>
          </p:cNvPr>
          <p:cNvSpPr>
            <a:spLocks noGrp="1"/>
          </p:cNvSpPr>
          <p:nvPr/>
        </p:nvSpPr>
        <p:spPr>
          <a:xfrm>
            <a:off x="1143000" y="2000250"/>
            <a:ext cx="2743200" cy="1028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425" b="0"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latin typeface="Microsoft YaHei"/>
                <a:ea typeface="Microsoft YaHei"/>
                <a:cs typeface="Microsoft YaHei"/>
              </a:rPr>
              <a:t>Query programme, year, interests, goals, preferences, saved courses, and completed courses by req.user.id.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E61B29-BE74-4845-A2A1-11CE26E4F4B7}"/>
              </a:ext>
            </a:extLst>
          </p:cNvPr>
          <p:cNvSpPr>
            <a:spLocks noGrp="1"/>
          </p:cNvSpPr>
          <p:nvPr/>
        </p:nvSpPr>
        <p:spPr>
          <a:xfrm>
            <a:off x="552450" y="3314700"/>
            <a:ext cx="4381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500" b="1"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6A6DE9B-677F-4C7D-857C-3143830CA524}"/>
              </a:ext>
            </a:extLst>
          </p:cNvPr>
          <p:cNvSpPr>
            <a:spLocks noGrp="1"/>
          </p:cNvSpPr>
          <p:nvPr/>
        </p:nvSpPr>
        <p:spPr>
          <a:xfrm>
            <a:off x="1143000" y="3276600"/>
            <a:ext cx="27432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800" b="1"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latin typeface="Microsoft YaHei"/>
                <a:ea typeface="Microsoft YaHei"/>
                <a:cs typeface="Microsoft YaHei"/>
              </a:rPr>
              <a:t>Build retrieval text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AC12988-AEE3-47F7-AE6A-602C00995E8D}"/>
              </a:ext>
            </a:extLst>
          </p:cNvPr>
          <p:cNvSpPr>
            <a:spLocks noGrp="1"/>
          </p:cNvSpPr>
          <p:nvPr/>
        </p:nvSpPr>
        <p:spPr>
          <a:xfrm>
            <a:off x="1143000" y="3714750"/>
            <a:ext cx="2743200" cy="1466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425" b="0"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latin typeface="Microsoft YaHei"/>
                <a:ea typeface="Microsoft YaHei"/>
                <a:cs typeface="Microsoft YaHei"/>
              </a:rPr>
              <a:t>Combine the query and learning background into retrievalContext. Email, name, and password fields do not enter the AI workflow.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4AE1CC3-4CCD-490B-B963-5F067E10C4AB}"/>
              </a:ext>
            </a:extLst>
          </p:cNvPr>
          <p:cNvSpPr>
            <a:spLocks noGrp="1"/>
          </p:cNvSpPr>
          <p:nvPr/>
        </p:nvSpPr>
        <p:spPr>
          <a:xfrm>
            <a:off x="4743450" y="1400175"/>
            <a:ext cx="67437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975" b="1">
                <a:latin typeface="Consolas"/>
                <a:ea typeface="Consolas"/>
                <a:cs typeface="Consolas"/>
              </a:defRPr>
            </a:pPr>
            <a:r>
              <a:rPr sz="975" b="1">
                <a:latin typeface="Consolas"/>
                <a:ea typeface="Consolas"/>
                <a:cs typeface="Consolas"/>
              </a:rPr>
              <a:t>backend/src/controllers/aiController.js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08B2643-41A9-4494-A686-6FDF601D4BCC}"/>
              </a:ext>
            </a:extLst>
          </p:cNvPr>
          <p:cNvSpPr>
            <a:spLocks noGrp="1"/>
          </p:cNvSpPr>
          <p:nvPr/>
        </p:nvSpPr>
        <p:spPr>
          <a:xfrm>
            <a:off x="4267200" y="1771650"/>
            <a:ext cx="7200900" cy="421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990" b="0">
                <a:latin typeface="Consolas"/>
                <a:ea typeface="Consolas"/>
                <a:cs typeface="Consolas"/>
              </a:defRPr>
            </a:pPr>
            <a:r>
              <a:rPr sz="990" b="0">
                <a:latin typeface="Consolas"/>
                <a:ea typeface="Consolas"/>
                <a:cs typeface="Consolas"/>
              </a:rPr>
              <a:t>const profile = await prisma.user.findUnique({</a:t>
            </a:r>
          </a:p>
          <a:p>
            <a:pPr algn="l">
              <a:buNone/>
              <a:defRPr sz="990" b="0">
                <a:latin typeface="Consolas"/>
                <a:ea typeface="Consolas"/>
                <a:cs typeface="Consolas"/>
              </a:defRPr>
            </a:pPr>
            <a:r>
              <a:rPr sz="990" b="0">
                <a:latin typeface="Consolas"/>
                <a:ea typeface="Consolas"/>
                <a:cs typeface="Consolas"/>
              </a:rPr>
              <a:t>  where: { id: req.user.id },</a:t>
            </a:r>
          </a:p>
          <a:p>
            <a:pPr algn="l">
              <a:buNone/>
              <a:defRPr sz="990" b="0">
                <a:latin typeface="Consolas"/>
                <a:ea typeface="Consolas"/>
                <a:cs typeface="Consolas"/>
              </a:defRPr>
            </a:pPr>
            <a:r>
              <a:rPr sz="990" b="0">
                <a:latin typeface="Consolas"/>
                <a:ea typeface="Consolas"/>
                <a:cs typeface="Consolas"/>
              </a:rPr>
              <a:t>  select: {</a:t>
            </a:r>
          </a:p>
          <a:p>
            <a:pPr algn="l">
              <a:buNone/>
              <a:defRPr sz="990" b="0">
                <a:latin typeface="Consolas"/>
                <a:ea typeface="Consolas"/>
                <a:cs typeface="Consolas"/>
              </a:defRPr>
            </a:pPr>
            <a:r>
              <a:rPr sz="990" b="0">
                <a:latin typeface="Consolas"/>
                <a:ea typeface="Consolas"/>
                <a:cs typeface="Consolas"/>
              </a:rPr>
              <a:t>    major: true, studyYear: true, interests: true, goals: true,</a:t>
            </a:r>
          </a:p>
          <a:p>
            <a:pPr algn="l">
              <a:buNone/>
              <a:defRPr sz="990" b="0">
                <a:latin typeface="Consolas"/>
                <a:ea typeface="Consolas"/>
                <a:cs typeface="Consolas"/>
              </a:defRPr>
            </a:pPr>
            <a:r>
              <a:rPr sz="990" b="0">
                <a:latin typeface="Consolas"/>
                <a:ea typeface="Consolas"/>
                <a:cs typeface="Consolas"/>
              </a:rPr>
              <a:t>    planningPreferences: true,</a:t>
            </a:r>
          </a:p>
          <a:p>
            <a:pPr algn="l">
              <a:buNone/>
              <a:defRPr sz="990" b="0">
                <a:latin typeface="Consolas"/>
                <a:ea typeface="Consolas"/>
                <a:cs typeface="Consolas"/>
              </a:defRPr>
            </a:pPr>
            <a:r>
              <a:rPr sz="990" b="0">
                <a:latin typeface="Consolas"/>
                <a:ea typeface="Consolas"/>
                <a:cs typeface="Consolas"/>
              </a:rPr>
              <a:t>    savedCourses: { select: { course: { select: {</a:t>
            </a:r>
          </a:p>
          <a:p>
            <a:pPr algn="l">
              <a:buNone/>
              <a:defRPr sz="990" b="0">
                <a:latin typeface="Consolas"/>
                <a:ea typeface="Consolas"/>
                <a:cs typeface="Consolas"/>
              </a:defRPr>
            </a:pPr>
            <a:r>
              <a:rPr sz="990" b="0">
                <a:latin typeface="Consolas"/>
                <a:ea typeface="Consolas"/>
                <a:cs typeface="Consolas"/>
              </a:rPr>
              <a:t>      id: true, code: true, name: true } } } },</a:t>
            </a:r>
          </a:p>
          <a:p>
            <a:pPr algn="l">
              <a:buNone/>
              <a:defRPr sz="990" b="0">
                <a:latin typeface="Consolas"/>
                <a:ea typeface="Consolas"/>
                <a:cs typeface="Consolas"/>
              </a:defRPr>
            </a:pPr>
            <a:r>
              <a:rPr sz="990" b="0">
                <a:latin typeface="Consolas"/>
                <a:ea typeface="Consolas"/>
                <a:cs typeface="Consolas"/>
              </a:rPr>
              <a:t>    completedCourses: { select: { course: { select: {</a:t>
            </a:r>
          </a:p>
          <a:p>
            <a:pPr algn="l">
              <a:buNone/>
              <a:defRPr sz="990" b="0">
                <a:latin typeface="Consolas"/>
                <a:ea typeface="Consolas"/>
                <a:cs typeface="Consolas"/>
              </a:defRPr>
            </a:pPr>
            <a:r>
              <a:rPr sz="990" b="0">
                <a:latin typeface="Consolas"/>
                <a:ea typeface="Consolas"/>
                <a:cs typeface="Consolas"/>
              </a:rPr>
              <a:t>      id: true, code: true, name: true, level: true, subjectId: true</a:t>
            </a:r>
          </a:p>
          <a:p>
            <a:pPr algn="l">
              <a:buNone/>
              <a:defRPr sz="990" b="0">
                <a:latin typeface="Consolas"/>
                <a:ea typeface="Consolas"/>
                <a:cs typeface="Consolas"/>
              </a:defRPr>
            </a:pPr>
            <a:r>
              <a:rPr sz="990" b="0">
                <a:latin typeface="Consolas"/>
                <a:ea typeface="Consolas"/>
                <a:cs typeface="Consolas"/>
              </a:rPr>
              <a:t>    } } } }</a:t>
            </a:r>
          </a:p>
          <a:p>
            <a:pPr algn="l">
              <a:buNone/>
              <a:defRPr sz="990" b="0">
                <a:latin typeface="Consolas"/>
                <a:ea typeface="Consolas"/>
                <a:cs typeface="Consolas"/>
              </a:defRPr>
            </a:pPr>
            <a:r>
              <a:rPr sz="990" b="0">
                <a:latin typeface="Consolas"/>
                <a:ea typeface="Consolas"/>
                <a:cs typeface="Consolas"/>
              </a:rPr>
              <a:t>  }</a:t>
            </a:r>
          </a:p>
          <a:p>
            <a:pPr algn="l">
              <a:buNone/>
              <a:defRPr sz="990" b="0">
                <a:latin typeface="Consolas"/>
                <a:ea typeface="Consolas"/>
                <a:cs typeface="Consolas"/>
              </a:defRPr>
            </a:pPr>
            <a:r>
              <a:rPr sz="990" b="0">
                <a:latin typeface="Consolas"/>
                <a:ea typeface="Consolas"/>
                <a:cs typeface="Consolas"/>
              </a:rPr>
              <a:t>})</a:t>
            </a:r>
          </a:p>
          <a:p>
            <a:endParaRPr sz="990" b="0">
              <a:latin typeface="Consolas"/>
              <a:ea typeface="Consolas"/>
              <a:cs typeface="Consolas"/>
            </a:endParaRPr>
          </a:p>
          <a:p>
            <a:pPr algn="l">
              <a:buNone/>
              <a:defRPr sz="990" b="0">
                <a:latin typeface="Consolas"/>
                <a:ea typeface="Consolas"/>
                <a:cs typeface="Consolas"/>
              </a:defRPr>
            </a:pPr>
            <a:r>
              <a:rPr sz="990" b="0">
                <a:latin typeface="Consolas"/>
                <a:ea typeface="Consolas"/>
                <a:cs typeface="Consolas"/>
              </a:rPr>
              <a:t>const studentContext = {</a:t>
            </a:r>
          </a:p>
          <a:p>
            <a:pPr algn="l">
              <a:buNone/>
              <a:defRPr sz="990" b="0">
                <a:latin typeface="Consolas"/>
                <a:ea typeface="Consolas"/>
                <a:cs typeface="Consolas"/>
              </a:defRPr>
            </a:pPr>
            <a:r>
              <a:rPr sz="990" b="0">
                <a:latin typeface="Consolas"/>
                <a:ea typeface="Consolas"/>
                <a:cs typeface="Consolas"/>
              </a:rPr>
              <a:t>  programme: profile?.major || null,</a:t>
            </a:r>
          </a:p>
          <a:p>
            <a:pPr algn="l">
              <a:buNone/>
              <a:defRPr sz="990" b="0">
                <a:latin typeface="Consolas"/>
                <a:ea typeface="Consolas"/>
                <a:cs typeface="Consolas"/>
              </a:defRPr>
            </a:pPr>
            <a:r>
              <a:rPr sz="990" b="0">
                <a:latin typeface="Consolas"/>
                <a:ea typeface="Consolas"/>
                <a:cs typeface="Consolas"/>
              </a:rPr>
              <a:t>  interests: profile?.interests || [],</a:t>
            </a:r>
          </a:p>
          <a:p>
            <a:pPr algn="l">
              <a:buNone/>
              <a:defRPr sz="990" b="0">
                <a:latin typeface="Consolas"/>
                <a:ea typeface="Consolas"/>
                <a:cs typeface="Consolas"/>
              </a:defRPr>
            </a:pPr>
            <a:r>
              <a:rPr sz="990" b="0">
                <a:latin typeface="Consolas"/>
                <a:ea typeface="Consolas"/>
                <a:cs typeface="Consolas"/>
              </a:rPr>
              <a:t>  goals: profile?.goals || [],</a:t>
            </a:r>
          </a:p>
          <a:p>
            <a:pPr algn="l">
              <a:buNone/>
              <a:defRPr sz="990" b="0">
                <a:latin typeface="Consolas"/>
                <a:ea typeface="Consolas"/>
                <a:cs typeface="Consolas"/>
              </a:defRPr>
            </a:pPr>
            <a:r>
              <a:rPr sz="990" b="0">
                <a:latin typeface="Consolas"/>
                <a:ea typeface="Consolas"/>
                <a:cs typeface="Consolas"/>
              </a:rPr>
              <a:t>  savedCourses: (profile?.savedCourses || []).map(({ course }) =&gt; course),</a:t>
            </a:r>
          </a:p>
          <a:p>
            <a:pPr algn="l">
              <a:buNone/>
              <a:defRPr sz="990" b="0">
                <a:latin typeface="Consolas"/>
                <a:ea typeface="Consolas"/>
                <a:cs typeface="Consolas"/>
              </a:defRPr>
            </a:pPr>
            <a:r>
              <a:rPr sz="990" b="0">
                <a:latin typeface="Consolas"/>
                <a:ea typeface="Consolas"/>
                <a:cs typeface="Consolas"/>
              </a:rPr>
              <a:t>  completedCourses: (profile?.completedCourses || []).map(({ course }) =&gt; course)</a:t>
            </a:r>
          </a:p>
          <a:p>
            <a:pPr algn="l">
              <a:buNone/>
              <a:defRPr sz="990" b="0">
                <a:latin typeface="Consolas"/>
                <a:ea typeface="Consolas"/>
                <a:cs typeface="Consolas"/>
              </a:defRPr>
            </a:pPr>
            <a:r>
              <a:rPr sz="990" b="0">
                <a:latin typeface="Consolas"/>
                <a:ea typeface="Consolas"/>
                <a:cs typeface="Consolas"/>
              </a:rPr>
              <a:t>}</a:t>
            </a:r>
          </a:p>
          <a:p>
            <a:endParaRPr sz="990" b="0">
              <a:latin typeface="Consolas"/>
              <a:ea typeface="Consolas"/>
              <a:cs typeface="Consolas"/>
            </a:endParaRPr>
          </a:p>
          <a:p>
            <a:pPr algn="l">
              <a:buNone/>
              <a:defRPr sz="990" b="0">
                <a:latin typeface="Consolas"/>
                <a:ea typeface="Consolas"/>
                <a:cs typeface="Consolas"/>
              </a:defRPr>
            </a:pPr>
            <a:r>
              <a:rPr sz="990" b="0">
                <a:latin typeface="Consolas"/>
                <a:ea typeface="Consolas"/>
                <a:cs typeface="Consolas"/>
              </a:rPr>
              <a:t>const retrievalContext = [</a:t>
            </a:r>
          </a:p>
          <a:p>
            <a:pPr algn="l">
              <a:buNone/>
              <a:defRPr sz="990" b="0">
                <a:latin typeface="Consolas"/>
                <a:ea typeface="Consolas"/>
                <a:cs typeface="Consolas"/>
              </a:defRPr>
            </a:pPr>
            <a:r>
              <a:rPr sz="990" b="0">
                <a:latin typeface="Consolas"/>
                <a:ea typeface="Consolas"/>
                <a:cs typeface="Consolas"/>
              </a:rPr>
              <a:t>  normalizedQuery,</a:t>
            </a:r>
          </a:p>
          <a:p>
            <a:pPr algn="l">
              <a:buNone/>
              <a:defRPr sz="990" b="0">
                <a:latin typeface="Consolas"/>
                <a:ea typeface="Consolas"/>
                <a:cs typeface="Consolas"/>
              </a:defRPr>
            </a:pPr>
            <a:r>
              <a:rPr sz="990" b="0">
                <a:latin typeface="Consolas"/>
                <a:ea typeface="Consolas"/>
                <a:cs typeface="Consolas"/>
              </a:rPr>
              <a:t>  studentContext.programme &amp;&amp; `Programme: ${studentContext.programme}`,</a:t>
            </a:r>
          </a:p>
          <a:p>
            <a:pPr algn="l">
              <a:buNone/>
              <a:defRPr sz="990" b="0">
                <a:latin typeface="Consolas"/>
                <a:ea typeface="Consolas"/>
                <a:cs typeface="Consolas"/>
              </a:defRPr>
            </a:pPr>
            <a:r>
              <a:rPr sz="990" b="0">
                <a:latin typeface="Consolas"/>
                <a:ea typeface="Consolas"/>
                <a:cs typeface="Consolas"/>
              </a:rPr>
              <a:t>  studentContext.interests.length &amp;&amp; `Interests: ${studentContext.interests.join(', ')}`,</a:t>
            </a:r>
          </a:p>
          <a:p>
            <a:pPr algn="l">
              <a:buNone/>
              <a:defRPr sz="990" b="0">
                <a:latin typeface="Consolas"/>
                <a:ea typeface="Consolas"/>
                <a:cs typeface="Consolas"/>
              </a:defRPr>
            </a:pPr>
            <a:r>
              <a:rPr sz="990" b="0">
                <a:latin typeface="Consolas"/>
                <a:ea typeface="Consolas"/>
                <a:cs typeface="Consolas"/>
              </a:rPr>
              <a:t>  studentContext.completedCourses.length &amp;&amp; `Completed-course foundation: ${</a:t>
            </a:r>
          </a:p>
          <a:p>
            <a:pPr algn="l">
              <a:buNone/>
              <a:defRPr sz="990" b="0">
                <a:latin typeface="Consolas"/>
                <a:ea typeface="Consolas"/>
                <a:cs typeface="Consolas"/>
              </a:defRPr>
            </a:pPr>
            <a:r>
              <a:rPr sz="990" b="0">
                <a:latin typeface="Consolas"/>
                <a:ea typeface="Consolas"/>
                <a:cs typeface="Consolas"/>
              </a:rPr>
              <a:t>    studentContext.completedCourses.map(course =&gt; course.code).join(', ')}`</a:t>
            </a:r>
          </a:p>
          <a:p>
            <a:pPr algn="l">
              <a:buNone/>
              <a:defRPr sz="990" b="0">
                <a:latin typeface="Consolas"/>
                <a:ea typeface="Consolas"/>
                <a:cs typeface="Consolas"/>
              </a:defRPr>
            </a:pPr>
            <a:r>
              <a:rPr sz="990" b="0">
                <a:latin typeface="Consolas"/>
                <a:ea typeface="Consolas"/>
                <a:cs typeface="Consolas"/>
              </a:rPr>
              <a:t>].filter(Boolean).join('\n')</a:t>
            </a:r>
          </a:p>
        </p:txBody>
      </p:sp>
    </p:spTree>
    <p:extLst>
      <p:ext uri="{BB962C8B-B14F-4D97-AF65-F5344CB8AC3E}">
        <p14:creationId xmlns:p14="http://schemas.microsoft.com/office/powerpoint/2010/main" val="1820108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15062FF7-F85C-44AD-AEC3-9611290532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828282"/>
            </a:solidFill>
          </a:ln>
        </p:spPr>
        <p:txBody>
          <a:bodyPr/>
          <a:lstStyle/>
          <a:p>
            <a:endParaRPr>
              <a:solidFill>
                <a:srgbClr val="000000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918A56C-4E85-4B87-9EE1-90D1AE1A61DB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981075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2850" b="1"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latin typeface="Microsoft YaHei"/>
                <a:ea typeface="Microsoft YaHei"/>
                <a:cs typeface="Microsoft YaHei"/>
              </a:rPr>
              <a:t>Completed Courses Inform Personalisation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98ECFC8-CB5B-48B4-B441-74D127CD9BF2}"/>
              </a:ext>
            </a:extLst>
          </p:cNvPr>
          <p:cNvSpPr>
            <a:spLocks noGrp="1"/>
          </p:cNvSpPr>
          <p:nvPr/>
        </p:nvSpPr>
        <p:spPr>
          <a:xfrm>
            <a:off x="590550" y="876300"/>
            <a:ext cx="9906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350" b="0"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latin typeface="Microsoft YaHei"/>
                <a:ea typeface="Microsoft YaHei"/>
                <a:cs typeface="Microsoft YaHei"/>
              </a:rPr>
              <a:t>Recorded prerequisites take priority, followed by suitable courses in the same subject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463663F-1496-423D-AF56-BA39AF4DA205}"/>
              </a:ext>
            </a:extLst>
          </p:cNvPr>
          <p:cNvSpPr>
            <a:spLocks noGrp="1"/>
          </p:cNvSpPr>
          <p:nvPr/>
        </p:nvSpPr>
        <p:spPr>
          <a:xfrm>
            <a:off x="11049000" y="4095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buNone/>
              <a:defRPr sz="1275" b="1"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FAD3C90-A1CD-4E4C-B824-831F3C266E3F}"/>
              </a:ext>
            </a:extLst>
          </p:cNvPr>
          <p:cNvSpPr>
            <a:spLocks noGrp="1"/>
          </p:cNvSpPr>
          <p:nvPr/>
        </p:nvSpPr>
        <p:spPr>
          <a:xfrm>
            <a:off x="1200150" y="1428750"/>
            <a:ext cx="64579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975" b="1">
                <a:latin typeface="Consolas"/>
                <a:ea typeface="Consolas"/>
                <a:cs typeface="Consolas"/>
              </a:defRPr>
            </a:pPr>
            <a:r>
              <a:rPr sz="975" b="1" dirty="0">
                <a:latin typeface="Consolas"/>
                <a:ea typeface="Consolas"/>
                <a:cs typeface="Consolas"/>
              </a:rPr>
              <a:t>backend/</a:t>
            </a:r>
            <a:r>
              <a:rPr sz="975" b="1" dirty="0" err="1">
                <a:latin typeface="Consolas"/>
                <a:ea typeface="Consolas"/>
                <a:cs typeface="Consolas"/>
              </a:rPr>
              <a:t>src</a:t>
            </a:r>
            <a:r>
              <a:rPr sz="975" b="1" dirty="0">
                <a:latin typeface="Consolas"/>
                <a:ea typeface="Consolas"/>
                <a:cs typeface="Consolas"/>
              </a:rPr>
              <a:t>/services/completedCourseAnalysisService.js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D0BF5E3-C30A-48A8-B219-02E4E1D42A78}"/>
              </a:ext>
            </a:extLst>
          </p:cNvPr>
          <p:cNvSpPr>
            <a:spLocks noGrp="1"/>
          </p:cNvSpPr>
          <p:nvPr/>
        </p:nvSpPr>
        <p:spPr>
          <a:xfrm>
            <a:off x="723900" y="1800225"/>
            <a:ext cx="6915150" cy="4152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907" b="0">
                <a:latin typeface="Consolas"/>
                <a:ea typeface="Consolas"/>
                <a:cs typeface="Consolas"/>
              </a:defRPr>
            </a:pPr>
            <a:r>
              <a:rPr sz="907" b="0">
                <a:latin typeface="Consolas"/>
                <a:ea typeface="Consolas"/>
                <a:cs typeface="Consolas"/>
              </a:rPr>
              <a:t>const attachCompletedCourseConnections = (candidates, completedCourses) =&gt; {</a:t>
            </a:r>
          </a:p>
          <a:p>
            <a:pPr algn="l">
              <a:buNone/>
              <a:defRPr sz="907" b="0">
                <a:latin typeface="Consolas"/>
                <a:ea typeface="Consolas"/>
                <a:cs typeface="Consolas"/>
              </a:defRPr>
            </a:pPr>
            <a:r>
              <a:rPr sz="907" b="0">
                <a:latin typeface="Consolas"/>
                <a:ea typeface="Consolas"/>
                <a:cs typeface="Consolas"/>
              </a:rPr>
              <a:t>  const completedById = new Map(</a:t>
            </a:r>
          </a:p>
          <a:p>
            <a:pPr algn="l">
              <a:buNone/>
              <a:defRPr sz="907" b="0">
                <a:latin typeface="Consolas"/>
                <a:ea typeface="Consolas"/>
                <a:cs typeface="Consolas"/>
              </a:defRPr>
            </a:pPr>
            <a:r>
              <a:rPr sz="907" b="0">
                <a:latin typeface="Consolas"/>
                <a:ea typeface="Consolas"/>
                <a:cs typeface="Consolas"/>
              </a:rPr>
              <a:t>    completedCourses.map(course =&gt; [Number(course.id), course])</a:t>
            </a:r>
          </a:p>
          <a:p>
            <a:pPr algn="l">
              <a:buNone/>
              <a:defRPr sz="907" b="0">
                <a:latin typeface="Consolas"/>
                <a:ea typeface="Consolas"/>
                <a:cs typeface="Consolas"/>
              </a:defRPr>
            </a:pPr>
            <a:r>
              <a:rPr sz="907" b="0">
                <a:latin typeface="Consolas"/>
                <a:ea typeface="Consolas"/>
                <a:cs typeface="Consolas"/>
              </a:rPr>
              <a:t>  )</a:t>
            </a:r>
          </a:p>
          <a:p>
            <a:endParaRPr sz="907" b="0">
              <a:latin typeface="Consolas"/>
              <a:ea typeface="Consolas"/>
              <a:cs typeface="Consolas"/>
            </a:endParaRPr>
          </a:p>
          <a:p>
            <a:pPr algn="l">
              <a:buNone/>
              <a:defRPr sz="907" b="0">
                <a:latin typeface="Consolas"/>
                <a:ea typeface="Consolas"/>
                <a:cs typeface="Consolas"/>
              </a:defRPr>
            </a:pPr>
            <a:r>
              <a:rPr sz="907" b="0">
                <a:latin typeface="Consolas"/>
                <a:ea typeface="Consolas"/>
                <a:cs typeface="Consolas"/>
              </a:rPr>
              <a:t>  return candidates.map(candidate =&gt; {</a:t>
            </a:r>
          </a:p>
          <a:p>
            <a:pPr algn="l">
              <a:buNone/>
              <a:defRPr sz="907" b="0">
                <a:latin typeface="Consolas"/>
                <a:ea typeface="Consolas"/>
                <a:cs typeface="Consolas"/>
              </a:defRPr>
            </a:pPr>
            <a:r>
              <a:rPr sz="907" b="0">
                <a:latin typeface="Consolas"/>
                <a:ea typeface="Consolas"/>
                <a:cs typeface="Consolas"/>
              </a:rPr>
              <a:t>    const connections = []</a:t>
            </a:r>
          </a:p>
          <a:p>
            <a:pPr algn="l">
              <a:buNone/>
              <a:defRPr sz="907" b="0">
                <a:latin typeface="Consolas"/>
                <a:ea typeface="Consolas"/>
                <a:cs typeface="Consolas"/>
              </a:defRPr>
            </a:pPr>
            <a:r>
              <a:rPr sz="907" b="0">
                <a:latin typeface="Consolas"/>
                <a:ea typeface="Consolas"/>
                <a:cs typeface="Consolas"/>
              </a:rPr>
              <a:t>    const connectedIds = new Set()</a:t>
            </a:r>
          </a:p>
          <a:p>
            <a:endParaRPr sz="907" b="0">
              <a:latin typeface="Consolas"/>
              <a:ea typeface="Consolas"/>
              <a:cs typeface="Consolas"/>
            </a:endParaRPr>
          </a:p>
          <a:p>
            <a:pPr algn="l">
              <a:buNone/>
              <a:defRPr sz="907" b="0">
                <a:latin typeface="Consolas"/>
                <a:ea typeface="Consolas"/>
                <a:cs typeface="Consolas"/>
              </a:defRPr>
            </a:pPr>
            <a:r>
              <a:rPr sz="907" b="0">
                <a:latin typeface="Consolas"/>
                <a:ea typeface="Consolas"/>
                <a:cs typeface="Consolas"/>
              </a:rPr>
              <a:t>    for (const prerequisite of candidate.prerequisites || []) {</a:t>
            </a:r>
          </a:p>
          <a:p>
            <a:pPr algn="l">
              <a:buNone/>
              <a:defRPr sz="907" b="0">
                <a:latin typeface="Consolas"/>
                <a:ea typeface="Consolas"/>
                <a:cs typeface="Consolas"/>
              </a:defRPr>
            </a:pPr>
            <a:r>
              <a:rPr sz="907" b="0">
                <a:latin typeface="Consolas"/>
                <a:ea typeface="Consolas"/>
                <a:cs typeface="Consolas"/>
              </a:rPr>
              <a:t>      const completed = completedById.get(Number(prerequisite.id))</a:t>
            </a:r>
          </a:p>
          <a:p>
            <a:pPr algn="l">
              <a:buNone/>
              <a:defRPr sz="907" b="0">
                <a:latin typeface="Consolas"/>
                <a:ea typeface="Consolas"/>
                <a:cs typeface="Consolas"/>
              </a:defRPr>
            </a:pPr>
            <a:r>
              <a:rPr sz="907" b="0">
                <a:latin typeface="Consolas"/>
                <a:ea typeface="Consolas"/>
                <a:cs typeface="Consolas"/>
              </a:rPr>
              <a:t>      if (!completed || connectedIds.has(Number(completed.id))) continue</a:t>
            </a:r>
          </a:p>
          <a:p>
            <a:pPr algn="l">
              <a:buNone/>
              <a:defRPr sz="907" b="0">
                <a:latin typeface="Consolas"/>
                <a:ea typeface="Consolas"/>
                <a:cs typeface="Consolas"/>
              </a:defRPr>
            </a:pPr>
            <a:r>
              <a:rPr sz="907" b="0">
                <a:latin typeface="Consolas"/>
                <a:ea typeface="Consolas"/>
                <a:cs typeface="Consolas"/>
              </a:rPr>
              <a:t>      connections.push({ id: completed.id, code: completed.code,</a:t>
            </a:r>
          </a:p>
          <a:p>
            <a:pPr algn="l">
              <a:buNone/>
              <a:defRPr sz="907" b="0">
                <a:latin typeface="Consolas"/>
                <a:ea typeface="Consolas"/>
                <a:cs typeface="Consolas"/>
              </a:defRPr>
            </a:pPr>
            <a:r>
              <a:rPr sz="907" b="0">
                <a:latin typeface="Consolas"/>
                <a:ea typeface="Consolas"/>
                <a:cs typeface="Consolas"/>
              </a:rPr>
              <a:t>        name: completed.name, relationship: 'prerequisite' })</a:t>
            </a:r>
          </a:p>
          <a:p>
            <a:pPr algn="l">
              <a:buNone/>
              <a:defRPr sz="907" b="0">
                <a:latin typeface="Consolas"/>
                <a:ea typeface="Consolas"/>
                <a:cs typeface="Consolas"/>
              </a:defRPr>
            </a:pPr>
            <a:r>
              <a:rPr sz="907" b="0">
                <a:latin typeface="Consolas"/>
                <a:ea typeface="Consolas"/>
                <a:cs typeface="Consolas"/>
              </a:rPr>
              <a:t>      connectedIds.add(Number(completed.id))</a:t>
            </a:r>
          </a:p>
          <a:p>
            <a:pPr algn="l">
              <a:buNone/>
              <a:defRPr sz="907" b="0">
                <a:latin typeface="Consolas"/>
                <a:ea typeface="Consolas"/>
                <a:cs typeface="Consolas"/>
              </a:defRPr>
            </a:pPr>
            <a:r>
              <a:rPr sz="907" b="0">
                <a:latin typeface="Consolas"/>
                <a:ea typeface="Consolas"/>
                <a:cs typeface="Consolas"/>
              </a:rPr>
              <a:t>    }</a:t>
            </a:r>
          </a:p>
          <a:p>
            <a:endParaRPr sz="907" b="0">
              <a:latin typeface="Consolas"/>
              <a:ea typeface="Consolas"/>
              <a:cs typeface="Consolas"/>
            </a:endParaRPr>
          </a:p>
          <a:p>
            <a:pPr algn="l">
              <a:buNone/>
              <a:defRPr sz="907" b="0">
                <a:latin typeface="Consolas"/>
                <a:ea typeface="Consolas"/>
                <a:cs typeface="Consolas"/>
              </a:defRPr>
            </a:pPr>
            <a:r>
              <a:rPr sz="907" b="0">
                <a:latin typeface="Consolas"/>
                <a:ea typeface="Consolas"/>
                <a:cs typeface="Consolas"/>
              </a:rPr>
              <a:t>    for (const completed of completedCourses) {</a:t>
            </a:r>
          </a:p>
          <a:p>
            <a:pPr algn="l">
              <a:buNone/>
              <a:defRPr sz="907" b="0">
                <a:latin typeface="Consolas"/>
                <a:ea typeface="Consolas"/>
                <a:cs typeface="Consolas"/>
              </a:defRPr>
            </a:pPr>
            <a:r>
              <a:rPr sz="907" b="0">
                <a:latin typeface="Consolas"/>
                <a:ea typeface="Consolas"/>
                <a:cs typeface="Consolas"/>
              </a:rPr>
              <a:t>      if (connectedIds.has(Number(completed.id))) continue</a:t>
            </a:r>
          </a:p>
          <a:p>
            <a:pPr algn="l">
              <a:buNone/>
              <a:defRPr sz="907" b="0">
                <a:latin typeface="Consolas"/>
                <a:ea typeface="Consolas"/>
                <a:cs typeface="Consolas"/>
              </a:defRPr>
            </a:pPr>
            <a:r>
              <a:rPr sz="907" b="0">
                <a:latin typeface="Consolas"/>
                <a:ea typeface="Consolas"/>
                <a:cs typeface="Consolas"/>
              </a:rPr>
              <a:t>      if (Number(completed.subjectId) !== Number(candidate.subjectId)) continue</a:t>
            </a:r>
          </a:p>
          <a:p>
            <a:pPr algn="l">
              <a:buNone/>
              <a:defRPr sz="907" b="0">
                <a:latin typeface="Consolas"/>
                <a:ea typeface="Consolas"/>
                <a:cs typeface="Consolas"/>
              </a:defRPr>
            </a:pPr>
            <a:r>
              <a:rPr sz="907" b="0">
                <a:latin typeface="Consolas"/>
                <a:ea typeface="Consolas"/>
                <a:cs typeface="Consolas"/>
              </a:rPr>
              <a:t>      if (Number(completed.level) &gt; Number(candidate.level)) continue</a:t>
            </a:r>
          </a:p>
          <a:p>
            <a:pPr algn="l">
              <a:buNone/>
              <a:defRPr sz="907" b="0">
                <a:latin typeface="Consolas"/>
                <a:ea typeface="Consolas"/>
                <a:cs typeface="Consolas"/>
              </a:defRPr>
            </a:pPr>
            <a:r>
              <a:rPr sz="907" b="0">
                <a:latin typeface="Consolas"/>
                <a:ea typeface="Consolas"/>
                <a:cs typeface="Consolas"/>
              </a:rPr>
              <a:t>      connections.push({ id: completed.id, code: completed.code,</a:t>
            </a:r>
          </a:p>
          <a:p>
            <a:pPr algn="l">
              <a:buNone/>
              <a:defRPr sz="907" b="0">
                <a:latin typeface="Consolas"/>
                <a:ea typeface="Consolas"/>
                <a:cs typeface="Consolas"/>
              </a:defRPr>
            </a:pPr>
            <a:r>
              <a:rPr sz="907" b="0">
                <a:latin typeface="Consolas"/>
                <a:ea typeface="Consolas"/>
                <a:cs typeface="Consolas"/>
              </a:rPr>
              <a:t>        name: completed.name, relationship: 'same_subject' })</a:t>
            </a:r>
          </a:p>
          <a:p>
            <a:pPr algn="l">
              <a:buNone/>
              <a:defRPr sz="907" b="0">
                <a:latin typeface="Consolas"/>
                <a:ea typeface="Consolas"/>
                <a:cs typeface="Consolas"/>
              </a:defRPr>
            </a:pPr>
            <a:r>
              <a:rPr sz="907" b="0">
                <a:latin typeface="Consolas"/>
                <a:ea typeface="Consolas"/>
                <a:cs typeface="Consolas"/>
              </a:rPr>
              <a:t>      connectedIds.add(Number(completed.id))</a:t>
            </a:r>
          </a:p>
          <a:p>
            <a:pPr algn="l">
              <a:buNone/>
              <a:defRPr sz="907" b="0">
                <a:latin typeface="Consolas"/>
                <a:ea typeface="Consolas"/>
                <a:cs typeface="Consolas"/>
              </a:defRPr>
            </a:pPr>
            <a:r>
              <a:rPr sz="907" b="0">
                <a:latin typeface="Consolas"/>
                <a:ea typeface="Consolas"/>
                <a:cs typeface="Consolas"/>
              </a:rPr>
              <a:t>    }</a:t>
            </a:r>
          </a:p>
          <a:p>
            <a:endParaRPr sz="907" b="0">
              <a:latin typeface="Consolas"/>
              <a:ea typeface="Consolas"/>
              <a:cs typeface="Consolas"/>
            </a:endParaRPr>
          </a:p>
          <a:p>
            <a:pPr algn="l">
              <a:buNone/>
              <a:defRPr sz="907" b="0">
                <a:latin typeface="Consolas"/>
                <a:ea typeface="Consolas"/>
                <a:cs typeface="Consolas"/>
              </a:defRPr>
            </a:pPr>
            <a:r>
              <a:rPr sz="907" b="0">
                <a:latin typeface="Consolas"/>
                <a:ea typeface="Consolas"/>
                <a:cs typeface="Consolas"/>
              </a:rPr>
              <a:t>    return { ...candidate,</a:t>
            </a:r>
          </a:p>
          <a:p>
            <a:pPr algn="l">
              <a:buNone/>
              <a:defRPr sz="907" b="0">
                <a:latin typeface="Consolas"/>
                <a:ea typeface="Consolas"/>
                <a:cs typeface="Consolas"/>
              </a:defRPr>
            </a:pPr>
            <a:r>
              <a:rPr sz="907" b="0">
                <a:latin typeface="Consolas"/>
                <a:ea typeface="Consolas"/>
                <a:cs typeface="Consolas"/>
              </a:rPr>
              <a:t>      completedCourseConnections: connections.slice(0, 5) }</a:t>
            </a:r>
          </a:p>
          <a:p>
            <a:pPr algn="l">
              <a:buNone/>
              <a:defRPr sz="907" b="0">
                <a:latin typeface="Consolas"/>
                <a:ea typeface="Consolas"/>
                <a:cs typeface="Consolas"/>
              </a:defRPr>
            </a:pPr>
            <a:r>
              <a:rPr sz="907" b="0">
                <a:latin typeface="Consolas"/>
                <a:ea typeface="Consolas"/>
                <a:cs typeface="Consolas"/>
              </a:rPr>
              <a:t>  })</a:t>
            </a:r>
          </a:p>
          <a:p>
            <a:pPr algn="l">
              <a:buNone/>
              <a:defRPr sz="907" b="0">
                <a:latin typeface="Consolas"/>
                <a:ea typeface="Consolas"/>
                <a:cs typeface="Consolas"/>
              </a:defRPr>
            </a:pPr>
            <a:r>
              <a:rPr sz="907" b="0"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C406901-43C0-46A7-A84C-7647D2EFCCF3}"/>
              </a:ext>
            </a:extLst>
          </p:cNvPr>
          <p:cNvSpPr>
            <a:spLocks noGrp="1"/>
          </p:cNvSpPr>
          <p:nvPr/>
        </p:nvSpPr>
        <p:spPr>
          <a:xfrm>
            <a:off x="8134350" y="1676400"/>
            <a:ext cx="4381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500" b="1"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430CFD6-0A16-41B8-BD05-4F389B2B8827}"/>
              </a:ext>
            </a:extLst>
          </p:cNvPr>
          <p:cNvSpPr>
            <a:spLocks noGrp="1"/>
          </p:cNvSpPr>
          <p:nvPr/>
        </p:nvSpPr>
        <p:spPr>
          <a:xfrm>
            <a:off x="8724900" y="1638300"/>
            <a:ext cx="264795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800" b="1"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latin typeface="Microsoft YaHei"/>
                <a:ea typeface="Microsoft YaHei"/>
                <a:cs typeface="Microsoft YaHei"/>
              </a:rPr>
              <a:t>Prerequisite match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A0A0570-A006-45DE-9DDD-1E9E72C6DCCB}"/>
              </a:ext>
            </a:extLst>
          </p:cNvPr>
          <p:cNvSpPr>
            <a:spLocks noGrp="1"/>
          </p:cNvSpPr>
          <p:nvPr/>
        </p:nvSpPr>
        <p:spPr>
          <a:xfrm>
            <a:off x="8724900" y="2076450"/>
            <a:ext cx="2647950" cy="8191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425" b="0"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latin typeface="Microsoft YaHei"/>
                <a:ea typeface="Microsoft YaHei"/>
                <a:cs typeface="Microsoft YaHei"/>
              </a:rPr>
              <a:t>Candidate prerequisites are matched directly against completed course IDs.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D690597-778F-4CED-A279-F8711B67DD70}"/>
              </a:ext>
            </a:extLst>
          </p:cNvPr>
          <p:cNvSpPr>
            <a:spLocks noGrp="1"/>
          </p:cNvSpPr>
          <p:nvPr/>
        </p:nvSpPr>
        <p:spPr>
          <a:xfrm>
            <a:off x="8134350" y="3181350"/>
            <a:ext cx="4381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500" b="1"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BDF3EA8-E454-4D60-9A5B-B508A7FDAF4B}"/>
              </a:ext>
            </a:extLst>
          </p:cNvPr>
          <p:cNvSpPr>
            <a:spLocks noGrp="1"/>
          </p:cNvSpPr>
          <p:nvPr/>
        </p:nvSpPr>
        <p:spPr>
          <a:xfrm>
            <a:off x="8724900" y="3143250"/>
            <a:ext cx="264795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800" b="1"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latin typeface="Microsoft YaHei"/>
                <a:ea typeface="Microsoft YaHei"/>
                <a:cs typeface="Microsoft YaHei"/>
              </a:rPr>
              <a:t>Same-subject link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32AAB63-DEE9-4AE5-B615-9EF13AEBA0D9}"/>
              </a:ext>
            </a:extLst>
          </p:cNvPr>
          <p:cNvSpPr>
            <a:spLocks noGrp="1"/>
          </p:cNvSpPr>
          <p:nvPr/>
        </p:nvSpPr>
        <p:spPr>
          <a:xfrm>
            <a:off x="8724900" y="3581400"/>
            <a:ext cx="2647950" cy="914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425" b="0"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latin typeface="Microsoft YaHei"/>
                <a:ea typeface="Microsoft YaHei"/>
                <a:cs typeface="Microsoft YaHei"/>
              </a:rPr>
              <a:t>Connections require the same subject and a completed level no higher than the candidate.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6B31965-F946-468C-8BD2-F92E2559C6C3}"/>
              </a:ext>
            </a:extLst>
          </p:cNvPr>
          <p:cNvSpPr>
            <a:spLocks noGrp="1"/>
          </p:cNvSpPr>
          <p:nvPr/>
        </p:nvSpPr>
        <p:spPr>
          <a:xfrm>
            <a:off x="8134350" y="4781550"/>
            <a:ext cx="4381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500" b="1"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DD15532-227F-49D0-8C3A-E066694FF74A}"/>
              </a:ext>
            </a:extLst>
          </p:cNvPr>
          <p:cNvSpPr>
            <a:spLocks noGrp="1"/>
          </p:cNvSpPr>
          <p:nvPr/>
        </p:nvSpPr>
        <p:spPr>
          <a:xfrm>
            <a:off x="8724900" y="4743450"/>
            <a:ext cx="264795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800" b="1"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latin typeface="Microsoft YaHei"/>
                <a:ea typeface="Microsoft YaHei"/>
                <a:cs typeface="Microsoft YaHei"/>
              </a:rPr>
              <a:t>Connection limit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80295F0-A089-4451-AEB1-FCC44C54A49E}"/>
              </a:ext>
            </a:extLst>
          </p:cNvPr>
          <p:cNvSpPr>
            <a:spLocks noGrp="1"/>
          </p:cNvSpPr>
          <p:nvPr/>
        </p:nvSpPr>
        <p:spPr>
          <a:xfrm>
            <a:off x="8724900" y="5181600"/>
            <a:ext cx="264795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425" b="0"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latin typeface="Microsoft YaHei"/>
                <a:ea typeface="Microsoft YaHei"/>
                <a:cs typeface="Microsoft YaHei"/>
              </a:rPr>
              <a:t>Each candidate keeps no more than five relevant completed-course links.</a:t>
            </a:r>
          </a:p>
        </p:txBody>
      </p:sp>
    </p:spTree>
    <p:extLst>
      <p:ext uri="{BB962C8B-B14F-4D97-AF65-F5344CB8AC3E}">
        <p14:creationId xmlns:p14="http://schemas.microsoft.com/office/powerpoint/2010/main" val="10538691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32BD883C-EE08-4B2A-B0E8-3487F812473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828282"/>
            </a:solidFill>
          </a:ln>
        </p:spPr>
        <p:txBody>
          <a:bodyPr/>
          <a:lstStyle/>
          <a:p>
            <a:endParaRPr>
              <a:solidFill>
                <a:srgbClr val="000000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596415C-CE05-4AB0-B88D-6DAF2499F804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981075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2850" b="1"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latin typeface="Microsoft YaHei"/>
                <a:ea typeface="Microsoft YaHei"/>
                <a:cs typeface="Microsoft YaHei"/>
              </a:rPr>
              <a:t>Generate the Query Embedding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B1FA566-C508-47A4-B7B9-0541EDBAB8BB}"/>
              </a:ext>
            </a:extLst>
          </p:cNvPr>
          <p:cNvSpPr>
            <a:spLocks noGrp="1"/>
          </p:cNvSpPr>
          <p:nvPr/>
        </p:nvSpPr>
        <p:spPr>
          <a:xfrm>
            <a:off x="590550" y="876300"/>
            <a:ext cx="9906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350" b="0"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latin typeface="Microsoft YaHei"/>
                <a:ea typeface="Microsoft YaHei"/>
                <a:cs typeface="Microsoft YaHei"/>
              </a:rPr>
              <a:t>SiliconFlow BAAI/bge-m3 converts the combined context into a 1024-dimensional vector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2EB8956-740E-400C-B867-6C7328B20483}"/>
              </a:ext>
            </a:extLst>
          </p:cNvPr>
          <p:cNvSpPr>
            <a:spLocks noGrp="1"/>
          </p:cNvSpPr>
          <p:nvPr/>
        </p:nvSpPr>
        <p:spPr>
          <a:xfrm>
            <a:off x="11049000" y="4095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buNone/>
              <a:defRPr sz="1275" b="1"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C72D4C3-4598-4A3D-9377-455EF8417BD7}"/>
              </a:ext>
            </a:extLst>
          </p:cNvPr>
          <p:cNvSpPr>
            <a:spLocks noGrp="1"/>
          </p:cNvSpPr>
          <p:nvPr/>
        </p:nvSpPr>
        <p:spPr>
          <a:xfrm>
            <a:off x="552450" y="1695450"/>
            <a:ext cx="4381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500" b="1"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106CF5E-25D8-41CC-91A4-371C4A76DF2F}"/>
              </a:ext>
            </a:extLst>
          </p:cNvPr>
          <p:cNvSpPr>
            <a:spLocks noGrp="1"/>
          </p:cNvSpPr>
          <p:nvPr/>
        </p:nvSpPr>
        <p:spPr>
          <a:xfrm>
            <a:off x="1143000" y="1657350"/>
            <a:ext cx="27432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800" b="1"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latin typeface="Microsoft YaHei"/>
                <a:ea typeface="Microsoft YaHei"/>
                <a:cs typeface="Microsoft YaHei"/>
              </a:rPr>
              <a:t>Input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6400F98-8674-4E61-B147-E6D429A7A145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2743200" cy="971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425" b="0"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latin typeface="Microsoft YaHei"/>
                <a:ea typeface="Microsoft YaHei"/>
                <a:cs typeface="Microsoft YaHei"/>
              </a:rPr>
              <a:t>retrievalContext includes the query, programme, interests, goals, saved courses, and completed study.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B053ED3-1692-4F91-8D2D-DDC1C5736DF0}"/>
              </a:ext>
            </a:extLst>
          </p:cNvPr>
          <p:cNvSpPr>
            <a:spLocks noGrp="1"/>
          </p:cNvSpPr>
          <p:nvPr/>
        </p:nvSpPr>
        <p:spPr>
          <a:xfrm>
            <a:off x="552450" y="3390900"/>
            <a:ext cx="4381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500" b="1"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036F473-55EC-4D68-B5BF-D55D346E67BA}"/>
              </a:ext>
            </a:extLst>
          </p:cNvPr>
          <p:cNvSpPr>
            <a:spLocks noGrp="1"/>
          </p:cNvSpPr>
          <p:nvPr/>
        </p:nvSpPr>
        <p:spPr>
          <a:xfrm>
            <a:off x="1143000" y="3352800"/>
            <a:ext cx="27432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800" b="1"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latin typeface="Microsoft YaHei"/>
                <a:ea typeface="Microsoft YaHei"/>
                <a:cs typeface="Microsoft YaHei"/>
              </a:rPr>
              <a:t>Call and validate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0E9286C-CC34-4FBF-95B1-2C5CE265D1F4}"/>
              </a:ext>
            </a:extLst>
          </p:cNvPr>
          <p:cNvSpPr>
            <a:spLocks noGrp="1"/>
          </p:cNvSpPr>
          <p:nvPr/>
        </p:nvSpPr>
        <p:spPr>
          <a:xfrm>
            <a:off x="1143000" y="3790950"/>
            <a:ext cx="2743200" cy="15144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425" b="0"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latin typeface="Microsoft YaHei"/>
                <a:ea typeface="Microsoft YaHei"/>
                <a:cs typeface="Microsoft YaHei"/>
              </a:rPr>
              <a:t>Call the embedding service with an API key. The result must be an array of exactly 1024 values. Timeouts, 429s, and 5xx responses can be retried.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3BA2877-F4C4-460B-A403-02B3E743B7D3}"/>
              </a:ext>
            </a:extLst>
          </p:cNvPr>
          <p:cNvSpPr>
            <a:spLocks noGrp="1"/>
          </p:cNvSpPr>
          <p:nvPr/>
        </p:nvSpPr>
        <p:spPr>
          <a:xfrm>
            <a:off x="4743450" y="1476375"/>
            <a:ext cx="67437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975" b="1">
                <a:latin typeface="Consolas"/>
                <a:ea typeface="Consolas"/>
                <a:cs typeface="Consolas"/>
              </a:defRPr>
            </a:pPr>
            <a:r>
              <a:rPr sz="975" b="1">
                <a:latin typeface="Consolas"/>
                <a:ea typeface="Consolas"/>
                <a:cs typeface="Consolas"/>
              </a:rPr>
              <a:t>backend/src/services/aiService.js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711C1E1-CEE2-4386-A4BD-D4937915BBDE}"/>
              </a:ext>
            </a:extLst>
          </p:cNvPr>
          <p:cNvSpPr>
            <a:spLocks noGrp="1"/>
          </p:cNvSpPr>
          <p:nvPr/>
        </p:nvSpPr>
        <p:spPr>
          <a:xfrm>
            <a:off x="4267200" y="1847850"/>
            <a:ext cx="7200900" cy="3962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050" b="0">
                <a:latin typeface="Consolas"/>
                <a:ea typeface="Consolas"/>
                <a:cs typeface="Consolas"/>
              </a:defRPr>
            </a:pPr>
            <a:r>
              <a:rPr sz="1050" b="0">
                <a:latin typeface="Consolas"/>
                <a:ea typeface="Consolas"/>
                <a:cs typeface="Consolas"/>
              </a:rPr>
              <a:t>const EMBEDDING_DIMENSIONS = 1024</a:t>
            </a:r>
          </a:p>
          <a:p>
            <a:pPr algn="l">
              <a:buNone/>
              <a:defRPr sz="1050" b="0">
                <a:latin typeface="Consolas"/>
                <a:ea typeface="Consolas"/>
                <a:cs typeface="Consolas"/>
              </a:defRPr>
            </a:pPr>
            <a:r>
              <a:rPr sz="1050" b="0">
                <a:latin typeface="Consolas"/>
                <a:ea typeface="Consolas"/>
                <a:cs typeface="Consolas"/>
              </a:rPr>
              <a:t>const SILICONFLOW_EMBEDDING_MODEL = 'BAAI/bge-m3'</a:t>
            </a:r>
          </a:p>
          <a:p>
            <a:endParaRPr sz="1050" b="0">
              <a:latin typeface="Consolas"/>
              <a:ea typeface="Consolas"/>
              <a:cs typeface="Consolas"/>
            </a:endParaRPr>
          </a:p>
          <a:p>
            <a:pPr algn="l">
              <a:buNone/>
              <a:defRPr sz="1050" b="0">
                <a:latin typeface="Consolas"/>
                <a:ea typeface="Consolas"/>
                <a:cs typeface="Consolas"/>
              </a:defRPr>
            </a:pPr>
            <a:r>
              <a:rPr sz="1050" b="0">
                <a:latin typeface="Consolas"/>
                <a:ea typeface="Consolas"/>
                <a:cs typeface="Consolas"/>
              </a:rPr>
              <a:t>const response = await fetch(SILICONFLOW_EMBEDDING_URL, {</a:t>
            </a:r>
          </a:p>
          <a:p>
            <a:pPr algn="l">
              <a:buNone/>
              <a:defRPr sz="1050" b="0">
                <a:latin typeface="Consolas"/>
                <a:ea typeface="Consolas"/>
                <a:cs typeface="Consolas"/>
              </a:defRPr>
            </a:pPr>
            <a:r>
              <a:rPr sz="1050" b="0">
                <a:latin typeface="Consolas"/>
                <a:ea typeface="Consolas"/>
                <a:cs typeface="Consolas"/>
              </a:rPr>
              <a:t>  method: 'POST',</a:t>
            </a:r>
          </a:p>
          <a:p>
            <a:pPr algn="l">
              <a:buNone/>
              <a:defRPr sz="1050" b="0">
                <a:latin typeface="Consolas"/>
                <a:ea typeface="Consolas"/>
                <a:cs typeface="Consolas"/>
              </a:defRPr>
            </a:pPr>
            <a:r>
              <a:rPr sz="1050" b="0">
                <a:latin typeface="Consolas"/>
                <a:ea typeface="Consolas"/>
                <a:cs typeface="Consolas"/>
              </a:rPr>
              <a:t>  headers: {</a:t>
            </a:r>
          </a:p>
          <a:p>
            <a:pPr algn="l">
              <a:buNone/>
              <a:defRPr sz="1050" b="0">
                <a:latin typeface="Consolas"/>
                <a:ea typeface="Consolas"/>
                <a:cs typeface="Consolas"/>
              </a:defRPr>
            </a:pPr>
            <a:r>
              <a:rPr sz="1050" b="0">
                <a:latin typeface="Consolas"/>
                <a:ea typeface="Consolas"/>
                <a:cs typeface="Consolas"/>
              </a:rPr>
              <a:t>    'Content-Type': 'application/json',</a:t>
            </a:r>
          </a:p>
          <a:p>
            <a:pPr algn="l">
              <a:buNone/>
              <a:defRPr sz="1050" b="0">
                <a:latin typeface="Consolas"/>
                <a:ea typeface="Consolas"/>
                <a:cs typeface="Consolas"/>
              </a:defRPr>
            </a:pPr>
            <a:r>
              <a:rPr sz="1050" b="0">
                <a:latin typeface="Consolas"/>
                <a:ea typeface="Consolas"/>
                <a:cs typeface="Consolas"/>
              </a:rPr>
              <a:t>    Authorization: `Bearer ${apiKey}`</a:t>
            </a:r>
          </a:p>
          <a:p>
            <a:pPr algn="l">
              <a:buNone/>
              <a:defRPr sz="1050" b="0">
                <a:latin typeface="Consolas"/>
                <a:ea typeface="Consolas"/>
                <a:cs typeface="Consolas"/>
              </a:defRPr>
            </a:pPr>
            <a:r>
              <a:rPr sz="1050" b="0">
                <a:latin typeface="Consolas"/>
                <a:ea typeface="Consolas"/>
                <a:cs typeface="Consolas"/>
              </a:rPr>
              <a:t>  },</a:t>
            </a:r>
          </a:p>
          <a:p>
            <a:pPr algn="l">
              <a:buNone/>
              <a:defRPr sz="1050" b="0">
                <a:latin typeface="Consolas"/>
                <a:ea typeface="Consolas"/>
                <a:cs typeface="Consolas"/>
              </a:defRPr>
            </a:pPr>
            <a:r>
              <a:rPr sz="1050" b="0">
                <a:latin typeface="Consolas"/>
                <a:ea typeface="Consolas"/>
                <a:cs typeface="Consolas"/>
              </a:rPr>
              <a:t>  body: JSON.stringify({</a:t>
            </a:r>
          </a:p>
          <a:p>
            <a:pPr algn="l">
              <a:buNone/>
              <a:defRPr sz="1050" b="0">
                <a:latin typeface="Consolas"/>
                <a:ea typeface="Consolas"/>
                <a:cs typeface="Consolas"/>
              </a:defRPr>
            </a:pPr>
            <a:r>
              <a:rPr sz="1050" b="0">
                <a:latin typeface="Consolas"/>
                <a:ea typeface="Consolas"/>
                <a:cs typeface="Consolas"/>
              </a:rPr>
              <a:t>    model: SILICONFLOW_EMBEDDING_MODEL,</a:t>
            </a:r>
          </a:p>
          <a:p>
            <a:pPr algn="l">
              <a:buNone/>
              <a:defRPr sz="1050" b="0">
                <a:latin typeface="Consolas"/>
                <a:ea typeface="Consolas"/>
                <a:cs typeface="Consolas"/>
              </a:defRPr>
            </a:pPr>
            <a:r>
              <a:rPr sz="1050" b="0">
                <a:latin typeface="Consolas"/>
                <a:ea typeface="Consolas"/>
                <a:cs typeface="Consolas"/>
              </a:rPr>
              <a:t>    input: text,</a:t>
            </a:r>
          </a:p>
          <a:p>
            <a:pPr algn="l">
              <a:buNone/>
              <a:defRPr sz="1050" b="0">
                <a:latin typeface="Consolas"/>
                <a:ea typeface="Consolas"/>
                <a:cs typeface="Consolas"/>
              </a:defRPr>
            </a:pPr>
            <a:r>
              <a:rPr sz="1050" b="0">
                <a:latin typeface="Consolas"/>
                <a:ea typeface="Consolas"/>
                <a:cs typeface="Consolas"/>
              </a:rPr>
              <a:t>    encoding_format: 'float'</a:t>
            </a:r>
          </a:p>
          <a:p>
            <a:pPr algn="l">
              <a:buNone/>
              <a:defRPr sz="1050" b="0">
                <a:latin typeface="Consolas"/>
                <a:ea typeface="Consolas"/>
                <a:cs typeface="Consolas"/>
              </a:defRPr>
            </a:pPr>
            <a:r>
              <a:rPr sz="1050" b="0">
                <a:latin typeface="Consolas"/>
                <a:ea typeface="Consolas"/>
                <a:cs typeface="Consolas"/>
              </a:rPr>
              <a:t>  }),</a:t>
            </a:r>
          </a:p>
          <a:p>
            <a:pPr algn="l">
              <a:buNone/>
              <a:defRPr sz="1050" b="0">
                <a:latin typeface="Consolas"/>
                <a:ea typeface="Consolas"/>
                <a:cs typeface="Consolas"/>
              </a:defRPr>
            </a:pPr>
            <a:r>
              <a:rPr sz="1050" b="0">
                <a:latin typeface="Consolas"/>
                <a:ea typeface="Consolas"/>
                <a:cs typeface="Consolas"/>
              </a:rPr>
              <a:t>  signal: controller.signal</a:t>
            </a:r>
          </a:p>
          <a:p>
            <a:pPr algn="l">
              <a:buNone/>
              <a:defRPr sz="1050" b="0">
                <a:latin typeface="Consolas"/>
                <a:ea typeface="Consolas"/>
                <a:cs typeface="Consolas"/>
              </a:defRPr>
            </a:pPr>
            <a:r>
              <a:rPr sz="1050" b="0">
                <a:latin typeface="Consolas"/>
                <a:ea typeface="Consolas"/>
                <a:cs typeface="Consolas"/>
              </a:rPr>
              <a:t>})</a:t>
            </a:r>
          </a:p>
          <a:p>
            <a:endParaRPr sz="1050" b="0">
              <a:latin typeface="Consolas"/>
              <a:ea typeface="Consolas"/>
              <a:cs typeface="Consolas"/>
            </a:endParaRPr>
          </a:p>
          <a:p>
            <a:pPr algn="l">
              <a:buNone/>
              <a:defRPr sz="1050" b="0">
                <a:latin typeface="Consolas"/>
                <a:ea typeface="Consolas"/>
                <a:cs typeface="Consolas"/>
              </a:defRPr>
            </a:pPr>
            <a:r>
              <a:rPr sz="1050" b="0">
                <a:latin typeface="Consolas"/>
                <a:ea typeface="Consolas"/>
                <a:cs typeface="Consolas"/>
              </a:rPr>
              <a:t>const vector = data?.data?.[0]?.embedding</a:t>
            </a:r>
          </a:p>
          <a:p>
            <a:pPr algn="l">
              <a:buNone/>
              <a:defRPr sz="1050" b="0">
                <a:latin typeface="Consolas"/>
                <a:ea typeface="Consolas"/>
                <a:cs typeface="Consolas"/>
              </a:defRPr>
            </a:pPr>
            <a:r>
              <a:rPr sz="1050" b="0">
                <a:latin typeface="Consolas"/>
                <a:ea typeface="Consolas"/>
                <a:cs typeface="Consolas"/>
              </a:rPr>
              <a:t>if (vector.length !== EMBEDDING_DIMENSIONS) {</a:t>
            </a:r>
          </a:p>
          <a:p>
            <a:pPr algn="l">
              <a:buNone/>
              <a:defRPr sz="1050" b="0">
                <a:latin typeface="Consolas"/>
                <a:ea typeface="Consolas"/>
                <a:cs typeface="Consolas"/>
              </a:defRPr>
            </a:pPr>
            <a:r>
              <a:rPr sz="1050" b="0">
                <a:latin typeface="Consolas"/>
                <a:ea typeface="Consolas"/>
                <a:cs typeface="Consolas"/>
              </a:rPr>
              <a:t>  throw new Error('Unexpected embedding dimensions')</a:t>
            </a:r>
          </a:p>
          <a:p>
            <a:pPr algn="l">
              <a:buNone/>
              <a:defRPr sz="1050" b="0">
                <a:latin typeface="Consolas"/>
                <a:ea typeface="Consolas"/>
                <a:cs typeface="Consolas"/>
              </a:defRPr>
            </a:pPr>
            <a:r>
              <a:rPr sz="1050" b="0">
                <a:latin typeface="Consolas"/>
                <a:ea typeface="Consolas"/>
                <a:cs typeface="Consolas"/>
              </a:rPr>
              <a:t>}</a:t>
            </a:r>
          </a:p>
          <a:p>
            <a:pPr algn="l">
              <a:buNone/>
              <a:defRPr sz="1050" b="0">
                <a:latin typeface="Consolas"/>
                <a:ea typeface="Consolas"/>
                <a:cs typeface="Consolas"/>
              </a:defRPr>
            </a:pPr>
            <a:r>
              <a:rPr sz="1050" b="0">
                <a:latin typeface="Consolas"/>
                <a:ea typeface="Consolas"/>
                <a:cs typeface="Consolas"/>
              </a:rPr>
              <a:t>return vector</a:t>
            </a:r>
          </a:p>
        </p:txBody>
      </p:sp>
    </p:spTree>
    <p:extLst>
      <p:ext uri="{BB962C8B-B14F-4D97-AF65-F5344CB8AC3E}">
        <p14:creationId xmlns:p14="http://schemas.microsoft.com/office/powerpoint/2010/main" val="10328706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D48BC5BE-FFEF-4F37-A9F9-89A3632068F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828282"/>
            </a:solidFill>
          </a:ln>
        </p:spPr>
        <p:txBody>
          <a:bodyPr/>
          <a:lstStyle/>
          <a:p>
            <a:endParaRPr>
              <a:solidFill>
                <a:srgbClr val="000000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CF50DF5-7816-43A0-95E5-22C1BF2824AA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981075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2850" b="1"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latin typeface="Microsoft YaHei"/>
                <a:ea typeface="Microsoft YaHei"/>
                <a:cs typeface="Microsoft YaHei"/>
              </a:rPr>
              <a:t>pgvector Semantic Retrieval and Filters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F4B7C76-71A7-4DE3-A946-827729A3C664}"/>
              </a:ext>
            </a:extLst>
          </p:cNvPr>
          <p:cNvSpPr>
            <a:spLocks noGrp="1"/>
          </p:cNvSpPr>
          <p:nvPr/>
        </p:nvSpPr>
        <p:spPr>
          <a:xfrm>
            <a:off x="590550" y="876300"/>
            <a:ext cx="9906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350" b="0"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latin typeface="Microsoft YaHei"/>
                <a:ea typeface="Microsoft YaHei"/>
                <a:cs typeface="Microsoft YaHei"/>
              </a:rPr>
              <a:t>Cosine distance ranks candidates while completed courses are excluded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D86F9D9-C06A-4927-BDB6-3C859D218500}"/>
              </a:ext>
            </a:extLst>
          </p:cNvPr>
          <p:cNvSpPr>
            <a:spLocks noGrp="1"/>
          </p:cNvSpPr>
          <p:nvPr/>
        </p:nvSpPr>
        <p:spPr>
          <a:xfrm>
            <a:off x="11049000" y="4095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buNone/>
              <a:defRPr sz="1275" b="1"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8EC5DBA-0724-43F4-BC17-884EEA949EE6}"/>
              </a:ext>
            </a:extLst>
          </p:cNvPr>
          <p:cNvSpPr>
            <a:spLocks noGrp="1"/>
          </p:cNvSpPr>
          <p:nvPr/>
        </p:nvSpPr>
        <p:spPr>
          <a:xfrm>
            <a:off x="1181100" y="1428750"/>
            <a:ext cx="66484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975" b="1">
                <a:latin typeface="Consolas"/>
                <a:ea typeface="Consolas"/>
                <a:cs typeface="Consolas"/>
              </a:defRPr>
            </a:pPr>
            <a:r>
              <a:rPr sz="975" b="1">
                <a:latin typeface="Consolas"/>
                <a:ea typeface="Consolas"/>
                <a:cs typeface="Consolas"/>
              </a:rPr>
              <a:t>backend/src/services/courseRetrievalService.js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3633F2C-FA7B-4B2A-B58F-F89A6B3DFC1F}"/>
              </a:ext>
            </a:extLst>
          </p:cNvPr>
          <p:cNvSpPr>
            <a:spLocks noGrp="1"/>
          </p:cNvSpPr>
          <p:nvPr/>
        </p:nvSpPr>
        <p:spPr>
          <a:xfrm>
            <a:off x="704850" y="1800225"/>
            <a:ext cx="7105650" cy="42481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013" b="0">
                <a:latin typeface="Consolas"/>
                <a:ea typeface="Consolas"/>
                <a:cs typeface="Consolas"/>
              </a:defRPr>
            </a:pPr>
            <a:r>
              <a:rPr sz="1013" b="0">
                <a:latin typeface="Consolas"/>
                <a:ea typeface="Consolas"/>
                <a:cs typeface="Consolas"/>
              </a:rPr>
              <a:t>const embedding = await aiService.generateEmbedding(query)</a:t>
            </a:r>
          </a:p>
          <a:p>
            <a:pPr algn="l">
              <a:buNone/>
              <a:defRPr sz="1013" b="0">
                <a:latin typeface="Consolas"/>
                <a:ea typeface="Consolas"/>
                <a:cs typeface="Consolas"/>
              </a:defRPr>
            </a:pPr>
            <a:r>
              <a:rPr sz="1013" b="0">
                <a:latin typeface="Consolas"/>
                <a:ea typeface="Consolas"/>
                <a:cs typeface="Consolas"/>
              </a:rPr>
              <a:t>const vectorString = `[${embedding.join(',')}]`</a:t>
            </a:r>
          </a:p>
          <a:p>
            <a:endParaRPr sz="1013" b="0">
              <a:latin typeface="Consolas"/>
              <a:ea typeface="Consolas"/>
              <a:cs typeface="Consolas"/>
            </a:endParaRPr>
          </a:p>
          <a:p>
            <a:pPr algn="l">
              <a:buNone/>
              <a:defRPr sz="1013" b="0">
                <a:latin typeface="Consolas"/>
                <a:ea typeface="Consolas"/>
                <a:cs typeface="Consolas"/>
              </a:defRPr>
            </a:pPr>
            <a:r>
              <a:rPr sz="1013" b="0">
                <a:latin typeface="Consolas"/>
                <a:ea typeface="Consolas"/>
                <a:cs typeface="Consolas"/>
              </a:rPr>
              <a:t>filters.push(`</a:t>
            </a:r>
          </a:p>
          <a:p>
            <a:pPr algn="l">
              <a:buNone/>
              <a:defRPr sz="1013" b="0">
                <a:latin typeface="Consolas"/>
                <a:ea typeface="Consolas"/>
                <a:cs typeface="Consolas"/>
              </a:defRPr>
            </a:pPr>
            <a:r>
              <a:rPr sz="1013" b="0">
                <a:latin typeface="Consolas"/>
                <a:ea typeface="Consolas"/>
                <a:cs typeface="Consolas"/>
              </a:rPr>
              <a:t>  AND NOT EXISTS (</a:t>
            </a:r>
          </a:p>
          <a:p>
            <a:pPr algn="l">
              <a:buNone/>
              <a:defRPr sz="1013" b="0">
                <a:latin typeface="Consolas"/>
                <a:ea typeface="Consolas"/>
                <a:cs typeface="Consolas"/>
              </a:defRPr>
            </a:pPr>
            <a:r>
              <a:rPr sz="1013" b="0">
                <a:latin typeface="Consolas"/>
                <a:ea typeface="Consolas"/>
                <a:cs typeface="Consolas"/>
              </a:rPr>
              <a:t>    SELECT 1 FROM "CompletedCourse" AS completed</a:t>
            </a:r>
          </a:p>
          <a:p>
            <a:pPr algn="l">
              <a:buNone/>
              <a:defRPr sz="1013" b="0">
                <a:latin typeface="Consolas"/>
                <a:ea typeface="Consolas"/>
                <a:cs typeface="Consolas"/>
              </a:defRPr>
            </a:pPr>
            <a:r>
              <a:rPr sz="1013" b="0">
                <a:latin typeface="Consolas"/>
                <a:ea typeface="Consolas"/>
                <a:cs typeface="Consolas"/>
              </a:rPr>
              <a:t>    WHERE completed."courseId" = "Course"."id"</a:t>
            </a:r>
          </a:p>
          <a:p>
            <a:pPr algn="l">
              <a:buNone/>
              <a:defRPr sz="1013" b="0">
                <a:latin typeface="Consolas"/>
                <a:ea typeface="Consolas"/>
                <a:cs typeface="Consolas"/>
              </a:defRPr>
            </a:pPr>
            <a:r>
              <a:rPr sz="1013" b="0">
                <a:latin typeface="Consolas"/>
                <a:ea typeface="Consolas"/>
                <a:cs typeface="Consolas"/>
              </a:rPr>
              <a:t>      AND completed."userId" = $${values.length}::int</a:t>
            </a:r>
          </a:p>
          <a:p>
            <a:pPr algn="l">
              <a:buNone/>
              <a:defRPr sz="1013" b="0">
                <a:latin typeface="Consolas"/>
                <a:ea typeface="Consolas"/>
                <a:cs typeface="Consolas"/>
              </a:defRPr>
            </a:pPr>
            <a:r>
              <a:rPr sz="1013" b="0">
                <a:latin typeface="Consolas"/>
                <a:ea typeface="Consolas"/>
                <a:cs typeface="Consolas"/>
              </a:rPr>
              <a:t>  )</a:t>
            </a:r>
          </a:p>
          <a:p>
            <a:pPr algn="l">
              <a:buNone/>
              <a:defRPr sz="1013" b="0">
                <a:latin typeface="Consolas"/>
                <a:ea typeface="Consolas"/>
                <a:cs typeface="Consolas"/>
              </a:defRPr>
            </a:pPr>
            <a:r>
              <a:rPr sz="1013" b="0">
                <a:latin typeface="Consolas"/>
                <a:ea typeface="Consolas"/>
                <a:cs typeface="Consolas"/>
              </a:rPr>
              <a:t>`)</a:t>
            </a:r>
          </a:p>
          <a:p>
            <a:endParaRPr sz="1013" b="0">
              <a:latin typeface="Consolas"/>
              <a:ea typeface="Consolas"/>
              <a:cs typeface="Consolas"/>
            </a:endParaRPr>
          </a:p>
          <a:p>
            <a:pPr algn="l">
              <a:buNone/>
              <a:defRPr sz="1013" b="0">
                <a:latin typeface="Consolas"/>
                <a:ea typeface="Consolas"/>
                <a:cs typeface="Consolas"/>
              </a:defRPr>
            </a:pPr>
            <a:r>
              <a:rPr sz="1013" b="0">
                <a:latin typeface="Consolas"/>
                <a:ea typeface="Consolas"/>
                <a:cs typeface="Consolas"/>
              </a:rPr>
              <a:t>const courses = await prisma.$queryRawUnsafe(`</a:t>
            </a:r>
          </a:p>
          <a:p>
            <a:pPr algn="l">
              <a:buNone/>
              <a:defRPr sz="1013" b="0">
                <a:latin typeface="Consolas"/>
                <a:ea typeface="Consolas"/>
                <a:cs typeface="Consolas"/>
              </a:defRPr>
            </a:pPr>
            <a:r>
              <a:rPr sz="1013" b="0">
                <a:latin typeface="Consolas"/>
                <a:ea typeface="Consolas"/>
                <a:cs typeface="Consolas"/>
              </a:rPr>
              <a:t>  SELECT id, code, name, description, credits, level,</a:t>
            </a:r>
          </a:p>
          <a:p>
            <a:pPr algn="l">
              <a:buNone/>
              <a:defRPr sz="1013" b="0">
                <a:latin typeface="Consolas"/>
                <a:ea typeface="Consolas"/>
                <a:cs typeface="Consolas"/>
              </a:defRPr>
            </a:pPr>
            <a:r>
              <a:rPr sz="1013" b="0">
                <a:latin typeface="Consolas"/>
                <a:ea typeface="Consolas"/>
                <a:cs typeface="Consolas"/>
              </a:rPr>
              <a:t>    CAST(1 - (embedding &lt;=&gt; $1::vector) AS TEXT) AS similarity_text</a:t>
            </a:r>
          </a:p>
          <a:p>
            <a:pPr algn="l">
              <a:buNone/>
              <a:defRPr sz="1013" b="0">
                <a:latin typeface="Consolas"/>
                <a:ea typeface="Consolas"/>
                <a:cs typeface="Consolas"/>
              </a:defRPr>
            </a:pPr>
            <a:r>
              <a:rPr sz="1013" b="0">
                <a:latin typeface="Consolas"/>
                <a:ea typeface="Consolas"/>
                <a:cs typeface="Consolas"/>
              </a:rPr>
              <a:t>  FROM "Course"</a:t>
            </a:r>
          </a:p>
          <a:p>
            <a:pPr algn="l">
              <a:buNone/>
              <a:defRPr sz="1013" b="0">
                <a:latin typeface="Consolas"/>
                <a:ea typeface="Consolas"/>
                <a:cs typeface="Consolas"/>
              </a:defRPr>
            </a:pPr>
            <a:r>
              <a:rPr sz="1013" b="0">
                <a:latin typeface="Consolas"/>
                <a:ea typeface="Consolas"/>
                <a:cs typeface="Consolas"/>
              </a:rPr>
              <a:t>  WHERE embedding IS NOT NULL</a:t>
            </a:r>
          </a:p>
          <a:p>
            <a:pPr algn="l">
              <a:buNone/>
              <a:defRPr sz="1013" b="0">
                <a:latin typeface="Consolas"/>
                <a:ea typeface="Consolas"/>
                <a:cs typeface="Consolas"/>
              </a:defRPr>
            </a:pPr>
            <a:r>
              <a:rPr sz="1013" b="0">
                <a:latin typeface="Consolas"/>
                <a:ea typeface="Consolas"/>
                <a:cs typeface="Consolas"/>
              </a:rPr>
              <a:t>    AND "isActive" = true</a:t>
            </a:r>
          </a:p>
          <a:p>
            <a:pPr algn="l">
              <a:buNone/>
              <a:defRPr sz="1013" b="0">
                <a:latin typeface="Consolas"/>
                <a:ea typeface="Consolas"/>
                <a:cs typeface="Consolas"/>
              </a:defRPr>
            </a:pPr>
            <a:r>
              <a:rPr sz="1013" b="0">
                <a:latin typeface="Consolas"/>
                <a:ea typeface="Consolas"/>
                <a:cs typeface="Consolas"/>
              </a:rPr>
              <a:t>    AND 1 - (embedding &lt;=&gt; $1::vector) &gt;= $2::float</a:t>
            </a:r>
          </a:p>
          <a:p>
            <a:pPr algn="l">
              <a:buNone/>
              <a:defRPr sz="1013" b="0">
                <a:latin typeface="Consolas"/>
                <a:ea typeface="Consolas"/>
                <a:cs typeface="Consolas"/>
              </a:defRPr>
            </a:pPr>
            <a:r>
              <a:rPr sz="1013" b="0">
                <a:latin typeface="Consolas"/>
                <a:ea typeface="Consolas"/>
                <a:cs typeface="Consolas"/>
              </a:rPr>
              <a:t>    ${filters.join('\n')}</a:t>
            </a:r>
          </a:p>
          <a:p>
            <a:pPr algn="l">
              <a:buNone/>
              <a:defRPr sz="1013" b="0">
                <a:latin typeface="Consolas"/>
                <a:ea typeface="Consolas"/>
                <a:cs typeface="Consolas"/>
              </a:defRPr>
            </a:pPr>
            <a:r>
              <a:rPr sz="1013" b="0">
                <a:latin typeface="Consolas"/>
                <a:ea typeface="Consolas"/>
                <a:cs typeface="Consolas"/>
              </a:rPr>
              <a:t>  ORDER BY embedding &lt;=&gt; $1::vector</a:t>
            </a:r>
          </a:p>
          <a:p>
            <a:pPr algn="l">
              <a:buNone/>
              <a:defRPr sz="1013" b="0">
                <a:latin typeface="Consolas"/>
                <a:ea typeface="Consolas"/>
                <a:cs typeface="Consolas"/>
              </a:defRPr>
            </a:pPr>
            <a:r>
              <a:rPr sz="1013" b="0">
                <a:latin typeface="Consolas"/>
                <a:ea typeface="Consolas"/>
                <a:cs typeface="Consolas"/>
              </a:rPr>
              <a:t>  LIMIT $${values.length}::int</a:t>
            </a:r>
          </a:p>
          <a:p>
            <a:pPr algn="l">
              <a:buNone/>
              <a:defRPr sz="1013" b="0">
                <a:latin typeface="Consolas"/>
                <a:ea typeface="Consolas"/>
                <a:cs typeface="Consolas"/>
              </a:defRPr>
            </a:pPr>
            <a:r>
              <a:rPr sz="1013" b="0">
                <a:latin typeface="Consolas"/>
                <a:ea typeface="Consolas"/>
                <a:cs typeface="Consolas"/>
              </a:rPr>
              <a:t>`, ...values)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36D3F98-D6DE-496C-8CF0-30739CD5FD19}"/>
              </a:ext>
            </a:extLst>
          </p:cNvPr>
          <p:cNvSpPr>
            <a:spLocks noGrp="1"/>
          </p:cNvSpPr>
          <p:nvPr/>
        </p:nvSpPr>
        <p:spPr>
          <a:xfrm>
            <a:off x="8286750" y="1600200"/>
            <a:ext cx="4381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500" b="1"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9BE901F-4C14-45A2-A7FE-4B82F51D6472}"/>
              </a:ext>
            </a:extLst>
          </p:cNvPr>
          <p:cNvSpPr>
            <a:spLocks noGrp="1"/>
          </p:cNvSpPr>
          <p:nvPr/>
        </p:nvSpPr>
        <p:spPr>
          <a:xfrm>
            <a:off x="8877300" y="1562100"/>
            <a:ext cx="25527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800" b="1"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latin typeface="Microsoft YaHei"/>
                <a:ea typeface="Microsoft YaHei"/>
                <a:cs typeface="Microsoft YaHei"/>
              </a:rPr>
              <a:t>Vector similarity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28F0228-23F1-4154-A440-889A12E6EE43}"/>
              </a:ext>
            </a:extLst>
          </p:cNvPr>
          <p:cNvSpPr>
            <a:spLocks noGrp="1"/>
          </p:cNvSpPr>
          <p:nvPr/>
        </p:nvSpPr>
        <p:spPr>
          <a:xfrm>
            <a:off x="8877300" y="2000250"/>
            <a:ext cx="2552700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425" b="0"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latin typeface="Microsoft YaHei"/>
                <a:ea typeface="Microsoft YaHei"/>
                <a:cs typeface="Microsoft YaHei"/>
              </a:rPr>
              <a:t>The pgvector &lt;=&gt; operator calculates cosine distance.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1145821-C8B0-4CD2-820A-214568F2922B}"/>
              </a:ext>
            </a:extLst>
          </p:cNvPr>
          <p:cNvSpPr>
            <a:spLocks noGrp="1"/>
          </p:cNvSpPr>
          <p:nvPr/>
        </p:nvSpPr>
        <p:spPr>
          <a:xfrm>
            <a:off x="8286750" y="3086100"/>
            <a:ext cx="4381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500" b="1">
                <a:latin typeface="Microsoft YaHei"/>
                <a:ea typeface="Microsoft YaHei"/>
                <a:cs typeface="Microsoft YaHei"/>
              </a:defRPr>
            </a:pPr>
            <a:r>
              <a:rPr sz="1500" b="1" dirty="0"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E360223-E359-4178-8A63-68B308DB4915}"/>
              </a:ext>
            </a:extLst>
          </p:cNvPr>
          <p:cNvSpPr>
            <a:spLocks noGrp="1"/>
          </p:cNvSpPr>
          <p:nvPr/>
        </p:nvSpPr>
        <p:spPr>
          <a:xfrm>
            <a:off x="8877300" y="3048000"/>
            <a:ext cx="25527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800" b="1"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latin typeface="Microsoft YaHei"/>
                <a:ea typeface="Microsoft YaHei"/>
                <a:cs typeface="Microsoft YaHei"/>
              </a:rPr>
              <a:t>Structured filters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F29A004-4C10-4F58-919A-05E4EC0D5848}"/>
              </a:ext>
            </a:extLst>
          </p:cNvPr>
          <p:cNvSpPr>
            <a:spLocks noGrp="1"/>
          </p:cNvSpPr>
          <p:nvPr/>
        </p:nvSpPr>
        <p:spPr>
          <a:xfrm>
            <a:off x="8877300" y="3486150"/>
            <a:ext cx="2552700" cy="914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425" b="0"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latin typeface="Microsoft YaHei"/>
                <a:ea typeface="Microsoft YaHei"/>
                <a:cs typeface="Microsoft YaHei"/>
              </a:rPr>
              <a:t>Semester, assessment type, credits, workload, and course level can refine the query.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C10435A-8B7A-495B-9A91-9457E4732B08}"/>
              </a:ext>
            </a:extLst>
          </p:cNvPr>
          <p:cNvSpPr>
            <a:spLocks noGrp="1"/>
          </p:cNvSpPr>
          <p:nvPr/>
        </p:nvSpPr>
        <p:spPr>
          <a:xfrm>
            <a:off x="8286750" y="4724400"/>
            <a:ext cx="4381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500" b="1"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409B41F-5FA4-4C93-8BA3-D165B52399BC}"/>
              </a:ext>
            </a:extLst>
          </p:cNvPr>
          <p:cNvSpPr>
            <a:spLocks noGrp="1"/>
          </p:cNvSpPr>
          <p:nvPr/>
        </p:nvSpPr>
        <p:spPr>
          <a:xfrm>
            <a:off x="8877300" y="4686300"/>
            <a:ext cx="25527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800" b="1"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latin typeface="Microsoft YaHei"/>
                <a:ea typeface="Microsoft YaHei"/>
                <a:cs typeface="Microsoft YaHei"/>
              </a:rPr>
              <a:t>Candidate results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BA96847-154E-4EBE-AE42-D7A8CE784682}"/>
              </a:ext>
            </a:extLst>
          </p:cNvPr>
          <p:cNvSpPr>
            <a:spLocks noGrp="1"/>
          </p:cNvSpPr>
          <p:nvPr/>
        </p:nvSpPr>
        <p:spPr>
          <a:xfrm>
            <a:off x="8877300" y="5124450"/>
            <a:ext cx="2552700" cy="8001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425" b="0"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latin typeface="Microsoft YaHei"/>
                <a:ea typeface="Microsoft YaHei"/>
                <a:cs typeface="Microsoft YaHei"/>
              </a:rPr>
              <a:t>Courses are ranked by relevance, with a controller limit of ten candidates.</a:t>
            </a:r>
          </a:p>
        </p:txBody>
      </p:sp>
    </p:spTree>
    <p:extLst>
      <p:ext uri="{BB962C8B-B14F-4D97-AF65-F5344CB8AC3E}">
        <p14:creationId xmlns:p14="http://schemas.microsoft.com/office/powerpoint/2010/main" val="6327795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3E288D42-D7F1-4168-935F-30F419DB5A8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828282"/>
            </a:solidFill>
          </a:ln>
        </p:spPr>
        <p:txBody>
          <a:bodyPr/>
          <a:lstStyle/>
          <a:p>
            <a:endParaRPr>
              <a:solidFill>
                <a:srgbClr val="000000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A881639-73B6-4DA6-B6C9-87E97F141D5C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981075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2850" b="1"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latin typeface="Microsoft YaHei"/>
                <a:ea typeface="Microsoft YaHei"/>
                <a:cs typeface="Microsoft YaHei"/>
              </a:rPr>
              <a:t>GLM-4 Generates and Validates Explanations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0C7F870-C9ED-4CB7-831C-87F998A05442}"/>
              </a:ext>
            </a:extLst>
          </p:cNvPr>
          <p:cNvSpPr>
            <a:spLocks noGrp="1"/>
          </p:cNvSpPr>
          <p:nvPr/>
        </p:nvSpPr>
        <p:spPr>
          <a:xfrm>
            <a:off x="590550" y="876300"/>
            <a:ext cx="9906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350" b="0"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latin typeface="Microsoft YaHei"/>
                <a:ea typeface="Microsoft YaHei"/>
                <a:cs typeface="Microsoft YaHei"/>
              </a:rPr>
              <a:t>The model uses only candidate data, while failures preserve semantic retrieval results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2FA1D64-B048-4075-B950-EF28AC7AD367}"/>
              </a:ext>
            </a:extLst>
          </p:cNvPr>
          <p:cNvSpPr>
            <a:spLocks noGrp="1"/>
          </p:cNvSpPr>
          <p:nvPr/>
        </p:nvSpPr>
        <p:spPr>
          <a:xfrm>
            <a:off x="11049000" y="4095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buNone/>
              <a:defRPr sz="1275" b="1"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5C3424D-7527-42E4-A702-4019DEA145AA}"/>
              </a:ext>
            </a:extLst>
          </p:cNvPr>
          <p:cNvSpPr>
            <a:spLocks noGrp="1"/>
          </p:cNvSpPr>
          <p:nvPr/>
        </p:nvSpPr>
        <p:spPr>
          <a:xfrm>
            <a:off x="1162050" y="1438275"/>
            <a:ext cx="46482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975" b="1">
                <a:latin typeface="Consolas"/>
                <a:ea typeface="Consolas"/>
                <a:cs typeface="Consolas"/>
              </a:defRPr>
            </a:pPr>
            <a:r>
              <a:rPr sz="975" b="1">
                <a:latin typeface="Consolas"/>
                <a:ea typeface="Consolas"/>
                <a:cs typeface="Consolas"/>
              </a:rPr>
              <a:t>backend/src/controllers/aiController.js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1A2D4E2-85C6-4E9C-8529-8554E50059F4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5105400" cy="417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990" b="0">
                <a:latin typeface="Consolas"/>
                <a:ea typeface="Consolas"/>
                <a:cs typeface="Consolas"/>
              </a:defRPr>
            </a:pPr>
            <a:r>
              <a:rPr sz="990" b="0">
                <a:latin typeface="Consolas"/>
                <a:ea typeface="Consolas"/>
                <a:cs typeface="Consolas"/>
              </a:rPr>
              <a:t>const systemPrompt = `</a:t>
            </a:r>
          </a:p>
          <a:p>
            <a:pPr algn="l">
              <a:buNone/>
              <a:defRPr sz="990" b="0">
                <a:latin typeface="Consolas"/>
                <a:ea typeface="Consolas"/>
                <a:cs typeface="Consolas"/>
              </a:defRPr>
            </a:pPr>
            <a:r>
              <a:rPr sz="990" b="0">
                <a:latin typeface="Consolas"/>
                <a:ea typeface="Consolas"/>
                <a:cs typeface="Consolas"/>
              </a:rPr>
              <a:t>  Use only the course information supplied by the application.</a:t>
            </a:r>
          </a:p>
          <a:p>
            <a:pPr algn="l">
              <a:buNone/>
              <a:defRPr sz="990" b="0">
                <a:latin typeface="Consolas"/>
                <a:ea typeface="Consolas"/>
                <a:cs typeface="Consolas"/>
              </a:defRPr>
            </a:pPr>
            <a:r>
              <a:rPr sz="990" b="0">
                <a:latin typeface="Consolas"/>
                <a:ea typeface="Consolas"/>
                <a:cs typeface="Consolas"/>
              </a:rPr>
              <a:t>  Do not invent course facts or recommend courses outside</a:t>
            </a:r>
          </a:p>
          <a:p>
            <a:pPr algn="l">
              <a:buNone/>
              <a:defRPr sz="990" b="0">
                <a:latin typeface="Consolas"/>
                <a:ea typeface="Consolas"/>
                <a:cs typeface="Consolas"/>
              </a:defRPr>
            </a:pPr>
            <a:r>
              <a:rPr sz="990" b="0">
                <a:latin typeface="Consolas"/>
                <a:ea typeface="Consolas"/>
                <a:cs typeface="Consolas"/>
              </a:rPr>
              <a:t>  the candidate list.</a:t>
            </a:r>
          </a:p>
          <a:p>
            <a:pPr algn="l">
              <a:buNone/>
              <a:defRPr sz="990" b="0">
                <a:latin typeface="Consolas"/>
                <a:ea typeface="Consolas"/>
                <a:cs typeface="Consolas"/>
              </a:defRPr>
            </a:pPr>
            <a:r>
              <a:rPr sz="990" b="0">
                <a:latin typeface="Consolas"/>
                <a:ea typeface="Consolas"/>
                <a:cs typeface="Consolas"/>
              </a:rPr>
              <a:t>  When completedCourseConnections are supplied, explain</a:t>
            </a:r>
          </a:p>
          <a:p>
            <a:pPr algn="l">
              <a:buNone/>
              <a:defRPr sz="990" b="0">
                <a:latin typeface="Consolas"/>
                <a:ea typeface="Consolas"/>
                <a:cs typeface="Consolas"/>
              </a:defRPr>
            </a:pPr>
            <a:r>
              <a:rPr sz="990" b="0">
                <a:latin typeface="Consolas"/>
                <a:ea typeface="Consolas"/>
                <a:cs typeface="Consolas"/>
              </a:rPr>
              <a:t>  how completed courses prepare the student.</a:t>
            </a:r>
          </a:p>
          <a:p>
            <a:pPr algn="l">
              <a:buNone/>
              <a:defRPr sz="990" b="0">
                <a:latin typeface="Consolas"/>
                <a:ea typeface="Consolas"/>
                <a:cs typeface="Consolas"/>
              </a:defRPr>
            </a:pPr>
            <a:r>
              <a:rPr sz="990" b="0">
                <a:latin typeface="Consolas"/>
                <a:ea typeface="Consolas"/>
                <a:cs typeface="Consolas"/>
              </a:rPr>
              <a:t>  Return JSON only in the required shape.</a:t>
            </a:r>
          </a:p>
          <a:p>
            <a:pPr algn="l">
              <a:buNone/>
              <a:defRPr sz="990" b="0">
                <a:latin typeface="Consolas"/>
                <a:ea typeface="Consolas"/>
                <a:cs typeface="Consolas"/>
              </a:defRPr>
            </a:pPr>
            <a:r>
              <a:rPr sz="990" b="0">
                <a:latin typeface="Consolas"/>
                <a:ea typeface="Consolas"/>
                <a:cs typeface="Consolas"/>
              </a:rPr>
              <a:t>`</a:t>
            </a:r>
          </a:p>
          <a:p>
            <a:endParaRPr sz="990" b="0">
              <a:latin typeface="Consolas"/>
              <a:ea typeface="Consolas"/>
              <a:cs typeface="Consolas"/>
            </a:endParaRPr>
          </a:p>
          <a:p>
            <a:pPr algn="l">
              <a:buNone/>
              <a:defRPr sz="990" b="0">
                <a:latin typeface="Consolas"/>
                <a:ea typeface="Consolas"/>
                <a:cs typeface="Consolas"/>
              </a:defRPr>
            </a:pPr>
            <a:r>
              <a:rPr sz="990" b="0">
                <a:latin typeface="Consolas"/>
                <a:ea typeface="Consolas"/>
                <a:cs typeface="Consolas"/>
              </a:rPr>
              <a:t>const userContent = `Student requirements: ${normalizedQuery}</a:t>
            </a:r>
          </a:p>
          <a:p>
            <a:pPr algn="l">
              <a:buNone/>
              <a:defRPr sz="990" b="0">
                <a:latin typeface="Consolas"/>
                <a:ea typeface="Consolas"/>
                <a:cs typeface="Consolas"/>
              </a:defRPr>
            </a:pPr>
            <a:r>
              <a:rPr sz="990" b="0">
                <a:latin typeface="Consolas"/>
                <a:ea typeface="Consolas"/>
                <a:cs typeface="Consolas"/>
              </a:rPr>
              <a:t>Student context: ${JSON.stringify(studentContext)}</a:t>
            </a:r>
          </a:p>
          <a:p>
            <a:pPr algn="l">
              <a:buNone/>
              <a:defRPr sz="990" b="0">
                <a:latin typeface="Consolas"/>
                <a:ea typeface="Consolas"/>
                <a:cs typeface="Consolas"/>
              </a:defRPr>
            </a:pPr>
            <a:r>
              <a:rPr sz="990" b="0">
                <a:latin typeface="Consolas"/>
                <a:ea typeface="Consolas"/>
                <a:cs typeface="Consolas"/>
              </a:rPr>
              <a:t>Candidate courses: ${JSON.stringify(candidates)}`</a:t>
            </a:r>
          </a:p>
          <a:p>
            <a:endParaRPr sz="990" b="0">
              <a:latin typeface="Consolas"/>
              <a:ea typeface="Consolas"/>
              <a:cs typeface="Consolas"/>
            </a:endParaRPr>
          </a:p>
          <a:p>
            <a:pPr algn="l">
              <a:buNone/>
              <a:defRPr sz="990" b="0">
                <a:latin typeface="Consolas"/>
                <a:ea typeface="Consolas"/>
                <a:cs typeface="Consolas"/>
              </a:defRPr>
            </a:pPr>
            <a:r>
              <a:rPr sz="990" b="0">
                <a:latin typeface="Consolas"/>
                <a:ea typeface="Consolas"/>
                <a:cs typeface="Consolas"/>
              </a:rPr>
              <a:t>const aiAnalysis = await llmService.chatCompletion({</a:t>
            </a:r>
          </a:p>
          <a:p>
            <a:pPr algn="l">
              <a:buNone/>
              <a:defRPr sz="990" b="0">
                <a:latin typeface="Consolas"/>
                <a:ea typeface="Consolas"/>
                <a:cs typeface="Consolas"/>
              </a:defRPr>
            </a:pPr>
            <a:r>
              <a:rPr sz="990" b="0">
                <a:latin typeface="Consolas"/>
                <a:ea typeface="Consolas"/>
                <a:cs typeface="Consolas"/>
              </a:rPr>
              <a:t>  messages: [{ role: 'system', content: systemPrompt },</a:t>
            </a:r>
          </a:p>
          <a:p>
            <a:pPr algn="l">
              <a:buNone/>
              <a:defRPr sz="990" b="0">
                <a:latin typeface="Consolas"/>
                <a:ea typeface="Consolas"/>
                <a:cs typeface="Consolas"/>
              </a:defRPr>
            </a:pPr>
            <a:r>
              <a:rPr sz="990" b="0">
                <a:latin typeface="Consolas"/>
                <a:ea typeface="Consolas"/>
                <a:cs typeface="Consolas"/>
              </a:rPr>
              <a:t>             { role: 'user', content: userContent }],</a:t>
            </a:r>
          </a:p>
          <a:p>
            <a:pPr algn="l">
              <a:buNone/>
              <a:defRPr sz="990" b="0">
                <a:latin typeface="Consolas"/>
                <a:ea typeface="Consolas"/>
                <a:cs typeface="Consolas"/>
              </a:defRPr>
            </a:pPr>
            <a:r>
              <a:rPr sz="990" b="0">
                <a:latin typeface="Consolas"/>
                <a:ea typeface="Consolas"/>
                <a:cs typeface="Consolas"/>
              </a:rPr>
              <a:t>  temperature: 0.5,</a:t>
            </a:r>
          </a:p>
          <a:p>
            <a:pPr algn="l">
              <a:buNone/>
              <a:defRPr sz="990" b="0">
                <a:latin typeface="Consolas"/>
                <a:ea typeface="Consolas"/>
                <a:cs typeface="Consolas"/>
              </a:defRPr>
            </a:pPr>
            <a:r>
              <a:rPr sz="990" b="0">
                <a:latin typeface="Consolas"/>
                <a:ea typeface="Consolas"/>
                <a:cs typeface="Consolas"/>
              </a:rPr>
              <a:t>  maxTokens: 2048</a:t>
            </a:r>
          </a:p>
          <a:p>
            <a:pPr algn="l">
              <a:buNone/>
              <a:defRPr sz="990" b="0">
                <a:latin typeface="Consolas"/>
                <a:ea typeface="Consolas"/>
                <a:cs typeface="Consolas"/>
              </a:defRPr>
            </a:pPr>
            <a:r>
              <a:rPr sz="990" b="0">
                <a:latin typeface="Consolas"/>
                <a:ea typeface="Consolas"/>
                <a:cs typeface="Consolas"/>
              </a:rPr>
              <a:t>})</a:t>
            </a:r>
          </a:p>
          <a:p>
            <a:endParaRPr sz="990" b="0">
              <a:latin typeface="Consolas"/>
              <a:ea typeface="Consolas"/>
              <a:cs typeface="Consolas"/>
            </a:endParaRPr>
          </a:p>
          <a:p>
            <a:pPr algn="l">
              <a:buNone/>
              <a:defRPr sz="990" b="0">
                <a:latin typeface="Consolas"/>
                <a:ea typeface="Consolas"/>
                <a:cs typeface="Consolas"/>
              </a:defRPr>
            </a:pPr>
            <a:r>
              <a:rPr sz="990" b="0">
                <a:latin typeface="Consolas"/>
                <a:ea typeface="Consolas"/>
                <a:cs typeface="Consolas"/>
              </a:rPr>
              <a:t>structuredResult = parseRecommendationOutput(</a:t>
            </a:r>
          </a:p>
          <a:p>
            <a:pPr algn="l">
              <a:buNone/>
              <a:defRPr sz="990" b="0">
                <a:latin typeface="Consolas"/>
                <a:ea typeface="Consolas"/>
                <a:cs typeface="Consolas"/>
              </a:defRPr>
            </a:pPr>
            <a:r>
              <a:rPr sz="990" b="0">
                <a:latin typeface="Consolas"/>
                <a:ea typeface="Consolas"/>
                <a:cs typeface="Consolas"/>
              </a:rPr>
              <a:t>  aiAnalysis, candidates, normalizedQuery</a:t>
            </a:r>
          </a:p>
          <a:p>
            <a:pPr algn="l">
              <a:buNone/>
              <a:defRPr sz="990" b="0">
                <a:latin typeface="Consolas"/>
                <a:ea typeface="Consolas"/>
                <a:cs typeface="Consolas"/>
              </a:defRPr>
            </a:pPr>
            <a:r>
              <a:rPr sz="990" b="0"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2148EEC-4ABF-436A-A158-C8226B6D25F0}"/>
              </a:ext>
            </a:extLst>
          </p:cNvPr>
          <p:cNvSpPr>
            <a:spLocks noGrp="1"/>
          </p:cNvSpPr>
          <p:nvPr/>
        </p:nvSpPr>
        <p:spPr>
          <a:xfrm>
            <a:off x="6896100" y="1438275"/>
            <a:ext cx="46482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975" b="1">
                <a:latin typeface="Consolas"/>
                <a:ea typeface="Consolas"/>
                <a:cs typeface="Consolas"/>
              </a:defRPr>
            </a:pPr>
            <a:r>
              <a:rPr sz="975" b="1">
                <a:latin typeface="Consolas"/>
                <a:ea typeface="Consolas"/>
                <a:cs typeface="Consolas"/>
              </a:rPr>
              <a:t>backend/src/services/llmService.js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C86F30A-A896-46FA-A4F4-CB0314B80061}"/>
              </a:ext>
            </a:extLst>
          </p:cNvPr>
          <p:cNvSpPr>
            <a:spLocks noGrp="1"/>
          </p:cNvSpPr>
          <p:nvPr/>
        </p:nvSpPr>
        <p:spPr>
          <a:xfrm>
            <a:off x="6419850" y="1809750"/>
            <a:ext cx="5105400" cy="417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938" b="0">
                <a:latin typeface="Consolas"/>
                <a:ea typeface="Consolas"/>
                <a:cs typeface="Consolas"/>
              </a:defRPr>
            </a:pPr>
            <a:r>
              <a:rPr sz="938" b="0">
                <a:latin typeface="Consolas"/>
                <a:ea typeface="Consolas"/>
                <a:cs typeface="Consolas"/>
              </a:rPr>
              <a:t>const CHAT_MODEL = process.env.ZHIPU_CHAT_MODEL || 'glm-4'</a:t>
            </a:r>
          </a:p>
          <a:p>
            <a:endParaRPr sz="938" b="0">
              <a:latin typeface="Consolas"/>
              <a:ea typeface="Consolas"/>
              <a:cs typeface="Consolas"/>
            </a:endParaRPr>
          </a:p>
          <a:p>
            <a:pPr algn="l">
              <a:buNone/>
              <a:defRPr sz="938" b="0">
                <a:latin typeface="Consolas"/>
                <a:ea typeface="Consolas"/>
                <a:cs typeface="Consolas"/>
              </a:defRPr>
            </a:pPr>
            <a:r>
              <a:rPr sz="938" b="0">
                <a:latin typeface="Consolas"/>
                <a:ea typeface="Consolas"/>
                <a:cs typeface="Consolas"/>
              </a:rPr>
              <a:t>const response = await fetch(ZHIPU_URL, {</a:t>
            </a:r>
          </a:p>
          <a:p>
            <a:pPr algn="l">
              <a:buNone/>
              <a:defRPr sz="938" b="0">
                <a:latin typeface="Consolas"/>
                <a:ea typeface="Consolas"/>
                <a:cs typeface="Consolas"/>
              </a:defRPr>
            </a:pPr>
            <a:r>
              <a:rPr sz="938" b="0">
                <a:latin typeface="Consolas"/>
                <a:ea typeface="Consolas"/>
                <a:cs typeface="Consolas"/>
              </a:rPr>
              <a:t>  method: 'POST',</a:t>
            </a:r>
          </a:p>
          <a:p>
            <a:pPr algn="l">
              <a:buNone/>
              <a:defRPr sz="938" b="0">
                <a:latin typeface="Consolas"/>
                <a:ea typeface="Consolas"/>
                <a:cs typeface="Consolas"/>
              </a:defRPr>
            </a:pPr>
            <a:r>
              <a:rPr sz="938" b="0">
                <a:latin typeface="Consolas"/>
                <a:ea typeface="Consolas"/>
                <a:cs typeface="Consolas"/>
              </a:rPr>
              <a:t>  headers: {</a:t>
            </a:r>
          </a:p>
          <a:p>
            <a:pPr algn="l">
              <a:buNone/>
              <a:defRPr sz="938" b="0">
                <a:latin typeface="Consolas"/>
                <a:ea typeface="Consolas"/>
                <a:cs typeface="Consolas"/>
              </a:defRPr>
            </a:pPr>
            <a:r>
              <a:rPr sz="938" b="0">
                <a:latin typeface="Consolas"/>
                <a:ea typeface="Consolas"/>
                <a:cs typeface="Consolas"/>
              </a:rPr>
              <a:t>    'Content-Type': 'application/json',</a:t>
            </a:r>
          </a:p>
          <a:p>
            <a:pPr algn="l">
              <a:buNone/>
              <a:defRPr sz="938" b="0">
                <a:latin typeface="Consolas"/>
                <a:ea typeface="Consolas"/>
                <a:cs typeface="Consolas"/>
              </a:defRPr>
            </a:pPr>
            <a:r>
              <a:rPr sz="938" b="0">
                <a:latin typeface="Consolas"/>
                <a:ea typeface="Consolas"/>
                <a:cs typeface="Consolas"/>
              </a:rPr>
              <a:t>    Authorization: `Bearer ${apiKey}`</a:t>
            </a:r>
          </a:p>
          <a:p>
            <a:pPr algn="l">
              <a:buNone/>
              <a:defRPr sz="938" b="0">
                <a:latin typeface="Consolas"/>
                <a:ea typeface="Consolas"/>
                <a:cs typeface="Consolas"/>
              </a:defRPr>
            </a:pPr>
            <a:r>
              <a:rPr sz="938" b="0">
                <a:latin typeface="Consolas"/>
                <a:ea typeface="Consolas"/>
                <a:cs typeface="Consolas"/>
              </a:rPr>
              <a:t>  },</a:t>
            </a:r>
          </a:p>
          <a:p>
            <a:pPr algn="l">
              <a:buNone/>
              <a:defRPr sz="938" b="0">
                <a:latin typeface="Consolas"/>
                <a:ea typeface="Consolas"/>
                <a:cs typeface="Consolas"/>
              </a:defRPr>
            </a:pPr>
            <a:r>
              <a:rPr sz="938" b="0">
                <a:latin typeface="Consolas"/>
                <a:ea typeface="Consolas"/>
                <a:cs typeface="Consolas"/>
              </a:rPr>
              <a:t>  body: JSON.stringify({</a:t>
            </a:r>
          </a:p>
          <a:p>
            <a:pPr algn="l">
              <a:buNone/>
              <a:defRPr sz="938" b="0">
                <a:latin typeface="Consolas"/>
                <a:ea typeface="Consolas"/>
                <a:cs typeface="Consolas"/>
              </a:defRPr>
            </a:pPr>
            <a:r>
              <a:rPr sz="938" b="0">
                <a:latin typeface="Consolas"/>
                <a:ea typeface="Consolas"/>
                <a:cs typeface="Consolas"/>
              </a:rPr>
              <a:t>    model: CHAT_MODEL, messages, temperature,</a:t>
            </a:r>
          </a:p>
          <a:p>
            <a:pPr algn="l">
              <a:buNone/>
              <a:defRPr sz="938" b="0">
                <a:latin typeface="Consolas"/>
                <a:ea typeface="Consolas"/>
                <a:cs typeface="Consolas"/>
              </a:defRPr>
            </a:pPr>
            <a:r>
              <a:rPr sz="938" b="0">
                <a:latin typeface="Consolas"/>
                <a:ea typeface="Consolas"/>
                <a:cs typeface="Consolas"/>
              </a:rPr>
              <a:t>    ...(Number.isInteger(maxTokens) &amp;&amp; maxTokens &gt; 0</a:t>
            </a:r>
          </a:p>
          <a:p>
            <a:pPr algn="l">
              <a:buNone/>
              <a:defRPr sz="938" b="0">
                <a:latin typeface="Consolas"/>
                <a:ea typeface="Consolas"/>
                <a:cs typeface="Consolas"/>
              </a:defRPr>
            </a:pPr>
            <a:r>
              <a:rPr sz="938" b="0">
                <a:latin typeface="Consolas"/>
                <a:ea typeface="Consolas"/>
                <a:cs typeface="Consolas"/>
              </a:rPr>
              <a:t>      ? { max_tokens: maxTokens } : {})</a:t>
            </a:r>
          </a:p>
          <a:p>
            <a:pPr algn="l">
              <a:buNone/>
              <a:defRPr sz="938" b="0">
                <a:latin typeface="Consolas"/>
                <a:ea typeface="Consolas"/>
                <a:cs typeface="Consolas"/>
              </a:defRPr>
            </a:pPr>
            <a:r>
              <a:rPr sz="938" b="0">
                <a:latin typeface="Consolas"/>
                <a:ea typeface="Consolas"/>
                <a:cs typeface="Consolas"/>
              </a:rPr>
              <a:t>  }),</a:t>
            </a:r>
          </a:p>
          <a:p>
            <a:pPr algn="l">
              <a:buNone/>
              <a:defRPr sz="938" b="0">
                <a:latin typeface="Consolas"/>
                <a:ea typeface="Consolas"/>
                <a:cs typeface="Consolas"/>
              </a:defRPr>
            </a:pPr>
            <a:r>
              <a:rPr sz="938" b="0">
                <a:latin typeface="Consolas"/>
                <a:ea typeface="Consolas"/>
                <a:cs typeface="Consolas"/>
              </a:rPr>
              <a:t>  signal: controller.signal</a:t>
            </a:r>
          </a:p>
          <a:p>
            <a:pPr algn="l">
              <a:buNone/>
              <a:defRPr sz="938" b="0">
                <a:latin typeface="Consolas"/>
                <a:ea typeface="Consolas"/>
                <a:cs typeface="Consolas"/>
              </a:defRPr>
            </a:pPr>
            <a:r>
              <a:rPr sz="938" b="0">
                <a:latin typeface="Consolas"/>
                <a:ea typeface="Consolas"/>
                <a:cs typeface="Consolas"/>
              </a:rPr>
              <a:t>})</a:t>
            </a:r>
          </a:p>
          <a:p>
            <a:endParaRPr sz="938" b="0">
              <a:latin typeface="Consolas"/>
              <a:ea typeface="Consolas"/>
              <a:cs typeface="Consolas"/>
            </a:endParaRPr>
          </a:p>
          <a:p>
            <a:pPr algn="l">
              <a:buNone/>
              <a:defRPr sz="938" b="0">
                <a:latin typeface="Consolas"/>
                <a:ea typeface="Consolas"/>
                <a:cs typeface="Consolas"/>
              </a:defRPr>
            </a:pPr>
            <a:r>
              <a:rPr sz="938" b="0">
                <a:latin typeface="Consolas"/>
                <a:ea typeface="Consolas"/>
                <a:cs typeface="Consolas"/>
              </a:rPr>
              <a:t>const content = data.choices?.[0]?.message?.content</a:t>
            </a:r>
          </a:p>
          <a:p>
            <a:pPr algn="l">
              <a:buNone/>
              <a:defRPr sz="938" b="0">
                <a:latin typeface="Consolas"/>
                <a:ea typeface="Consolas"/>
                <a:cs typeface="Consolas"/>
              </a:defRPr>
            </a:pPr>
            <a:r>
              <a:rPr sz="938" b="0">
                <a:latin typeface="Consolas"/>
                <a:ea typeface="Consolas"/>
                <a:cs typeface="Consolas"/>
              </a:rPr>
              <a:t>if (!content) throw new Error('empty content')</a:t>
            </a:r>
          </a:p>
          <a:p>
            <a:pPr algn="l">
              <a:buNone/>
              <a:defRPr sz="938" b="0">
                <a:latin typeface="Consolas"/>
                <a:ea typeface="Consolas"/>
                <a:cs typeface="Consolas"/>
              </a:defRPr>
            </a:pPr>
            <a:r>
              <a:rPr sz="938" b="0">
                <a:latin typeface="Consolas"/>
                <a:ea typeface="Consolas"/>
                <a:cs typeface="Consolas"/>
              </a:rPr>
              <a:t>return content</a:t>
            </a:r>
          </a:p>
          <a:p>
            <a:endParaRPr sz="938" b="0">
              <a:latin typeface="Consolas"/>
              <a:ea typeface="Consolas"/>
              <a:cs typeface="Consolas"/>
            </a:endParaRPr>
          </a:p>
          <a:p>
            <a:pPr algn="l">
              <a:buNone/>
              <a:defRPr sz="938" b="0">
                <a:latin typeface="Consolas"/>
                <a:ea typeface="Consolas"/>
                <a:cs typeface="Consolas"/>
              </a:defRPr>
            </a:pPr>
            <a:r>
              <a:rPr sz="938" b="0">
                <a:latin typeface="Consolas"/>
                <a:ea typeface="Consolas"/>
                <a:cs typeface="Consolas"/>
              </a:rPr>
              <a:t>// aiController catch: semantic fallback</a:t>
            </a:r>
          </a:p>
          <a:p>
            <a:pPr algn="l">
              <a:buNone/>
              <a:defRPr sz="938" b="0">
                <a:latin typeface="Consolas"/>
                <a:ea typeface="Consolas"/>
                <a:cs typeface="Consolas"/>
              </a:defRPr>
            </a:pPr>
            <a:r>
              <a:rPr sz="938" b="0">
                <a:latin typeface="Consolas"/>
                <a:ea typeface="Consolas"/>
                <a:cs typeface="Consolas"/>
              </a:rPr>
              <a:t>structuredResult = {</a:t>
            </a:r>
          </a:p>
          <a:p>
            <a:pPr algn="l">
              <a:buNone/>
              <a:defRPr sz="938" b="0">
                <a:latin typeface="Consolas"/>
                <a:ea typeface="Consolas"/>
                <a:cs typeface="Consolas"/>
              </a:defRPr>
            </a:pPr>
            <a:r>
              <a:rPr sz="938" b="0">
                <a:latin typeface="Consolas"/>
                <a:ea typeface="Consolas"/>
                <a:cs typeface="Consolas"/>
              </a:rPr>
              <a:t>  recommendations: candidates.map(course =&gt; ({</a:t>
            </a:r>
          </a:p>
          <a:p>
            <a:pPr algn="l">
              <a:buNone/>
              <a:defRPr sz="938" b="0">
                <a:latin typeface="Consolas"/>
                <a:ea typeface="Consolas"/>
                <a:cs typeface="Consolas"/>
              </a:defRPr>
            </a:pPr>
            <a:r>
              <a:rPr sz="938" b="0">
                <a:latin typeface="Consolas"/>
                <a:ea typeface="Consolas"/>
                <a:cs typeface="Consolas"/>
              </a:rPr>
              <a:t>    courseId: course.id,</a:t>
            </a:r>
          </a:p>
          <a:p>
            <a:pPr algn="l">
              <a:buNone/>
              <a:defRPr sz="938" b="0">
                <a:latin typeface="Consolas"/>
                <a:ea typeface="Consolas"/>
                <a:cs typeface="Consolas"/>
              </a:defRPr>
            </a:pPr>
            <a:r>
              <a:rPr sz="938" b="0">
                <a:latin typeface="Consolas"/>
                <a:ea typeface="Consolas"/>
                <a:cs typeface="Consolas"/>
              </a:rPr>
              <a:t>    reasons: ['This course is a semantic match...'],</a:t>
            </a:r>
          </a:p>
          <a:p>
            <a:pPr algn="l">
              <a:buNone/>
              <a:defRPr sz="938" b="0">
                <a:latin typeface="Consolas"/>
                <a:ea typeface="Consolas"/>
                <a:cs typeface="Consolas"/>
              </a:defRPr>
            </a:pPr>
            <a:r>
              <a:rPr sz="938" b="0">
                <a:latin typeface="Consolas"/>
                <a:ea typeface="Consolas"/>
                <a:cs typeface="Consolas"/>
              </a:rPr>
              <a:t>    completedCourseAnalysis:</a:t>
            </a:r>
          </a:p>
          <a:p>
            <a:pPr algn="l">
              <a:buNone/>
              <a:defRPr sz="938" b="0">
                <a:latin typeface="Consolas"/>
                <a:ea typeface="Consolas"/>
                <a:cs typeface="Consolas"/>
              </a:defRPr>
            </a:pPr>
            <a:r>
              <a:rPr sz="938" b="0">
                <a:latin typeface="Consolas"/>
                <a:ea typeface="Consolas"/>
                <a:cs typeface="Consolas"/>
              </a:rPr>
              <a:t>      buildFallbackRecommendation(course).completedCourseAnalysis</a:t>
            </a:r>
          </a:p>
          <a:p>
            <a:pPr algn="l">
              <a:buNone/>
              <a:defRPr sz="938" b="0">
                <a:latin typeface="Consolas"/>
                <a:ea typeface="Consolas"/>
                <a:cs typeface="Consolas"/>
              </a:defRPr>
            </a:pPr>
            <a:r>
              <a:rPr sz="938" b="0">
                <a:latin typeface="Consolas"/>
                <a:ea typeface="Consolas"/>
                <a:cs typeface="Consolas"/>
              </a:rPr>
              <a:t>  }))</a:t>
            </a:r>
          </a:p>
          <a:p>
            <a:pPr algn="l">
              <a:buNone/>
              <a:defRPr sz="938" b="0">
                <a:latin typeface="Consolas"/>
                <a:ea typeface="Consolas"/>
                <a:cs typeface="Consolas"/>
              </a:defRPr>
            </a:pPr>
            <a:r>
              <a:rPr sz="938" b="0">
                <a:latin typeface="Consolas"/>
                <a:ea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049568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C237C7ED-1ACA-4C9C-9BA8-CB9FF1D4570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828282"/>
            </a:solidFill>
          </a:ln>
        </p:spPr>
        <p:txBody>
          <a:bodyPr/>
          <a:lstStyle/>
          <a:p>
            <a:endParaRPr>
              <a:solidFill>
                <a:srgbClr val="000000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E185AE5-7C5D-46ED-9BBF-0E3A7BF4AFE4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981075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2850" b="1"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latin typeface="Microsoft YaHei"/>
                <a:ea typeface="Microsoft YaHei"/>
                <a:cs typeface="Microsoft YaHei"/>
              </a:rPr>
              <a:t>Backend Response and Frontend Rendering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F4E2AA0-D191-4214-8018-A1D80130409A}"/>
              </a:ext>
            </a:extLst>
          </p:cNvPr>
          <p:cNvSpPr>
            <a:spLocks noGrp="1"/>
          </p:cNvSpPr>
          <p:nvPr/>
        </p:nvSpPr>
        <p:spPr>
          <a:xfrm>
            <a:off x="590550" y="876300"/>
            <a:ext cx="9906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350" b="0"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latin typeface="Microsoft YaHei"/>
                <a:ea typeface="Microsoft YaHei"/>
                <a:cs typeface="Microsoft YaHei"/>
              </a:rPr>
              <a:t>Structured JSON returns to the page and joins each candidate course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B76652A-B581-47DE-AFD5-DB8199FEE1DA}"/>
              </a:ext>
            </a:extLst>
          </p:cNvPr>
          <p:cNvSpPr>
            <a:spLocks noGrp="1"/>
          </p:cNvSpPr>
          <p:nvPr/>
        </p:nvSpPr>
        <p:spPr>
          <a:xfrm>
            <a:off x="11049000" y="4095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buNone/>
              <a:defRPr sz="1275" b="1"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6E0C18A-2F04-44DC-BE2F-05F925E99C53}"/>
              </a:ext>
            </a:extLst>
          </p:cNvPr>
          <p:cNvSpPr>
            <a:spLocks noGrp="1"/>
          </p:cNvSpPr>
          <p:nvPr/>
        </p:nvSpPr>
        <p:spPr>
          <a:xfrm>
            <a:off x="1162050" y="1428750"/>
            <a:ext cx="46482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975" b="1">
                <a:latin typeface="Consolas"/>
                <a:ea typeface="Consolas"/>
                <a:cs typeface="Consolas"/>
              </a:defRPr>
            </a:pPr>
            <a:r>
              <a:rPr sz="975" b="1">
                <a:latin typeface="Consolas"/>
                <a:ea typeface="Consolas"/>
                <a:cs typeface="Consolas"/>
              </a:rPr>
              <a:t>backend/src/controllers/aiController.js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C18F87B-69C9-4983-852E-3973CC37D6CC}"/>
              </a:ext>
            </a:extLst>
          </p:cNvPr>
          <p:cNvSpPr>
            <a:spLocks noGrp="1"/>
          </p:cNvSpPr>
          <p:nvPr/>
        </p:nvSpPr>
        <p:spPr>
          <a:xfrm>
            <a:off x="685800" y="1800225"/>
            <a:ext cx="5105400" cy="4152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035" b="0">
                <a:latin typeface="Consolas"/>
                <a:ea typeface="Consolas"/>
                <a:cs typeface="Consolas"/>
              </a:defRPr>
            </a:pPr>
            <a:r>
              <a:rPr sz="1035" b="0">
                <a:latin typeface="Consolas"/>
                <a:ea typeface="Consolas"/>
                <a:cs typeface="Consolas"/>
              </a:rPr>
              <a:t>res.json({</a:t>
            </a:r>
          </a:p>
          <a:p>
            <a:pPr algn="l">
              <a:buNone/>
              <a:defRPr sz="1035" b="0">
                <a:latin typeface="Consolas"/>
                <a:ea typeface="Consolas"/>
                <a:cs typeface="Consolas"/>
              </a:defRPr>
            </a:pPr>
            <a:r>
              <a:rPr sz="1035" b="0">
                <a:latin typeface="Consolas"/>
                <a:ea typeface="Consolas"/>
                <a:cs typeface="Consolas"/>
              </a:rPr>
              <a:t>  success: true,</a:t>
            </a:r>
          </a:p>
          <a:p>
            <a:pPr algn="l">
              <a:buNone/>
              <a:defRPr sz="1035" b="0">
                <a:latin typeface="Consolas"/>
                <a:ea typeface="Consolas"/>
                <a:cs typeface="Consolas"/>
              </a:defRPr>
            </a:pPr>
            <a:r>
              <a:rPr sz="1035" b="0">
                <a:latin typeface="Consolas"/>
                <a:ea typeface="Consolas"/>
                <a:cs typeface="Consolas"/>
              </a:rPr>
              <a:t>  data: {</a:t>
            </a:r>
          </a:p>
          <a:p>
            <a:pPr algn="l">
              <a:buNone/>
              <a:defRPr sz="1035" b="0">
                <a:latin typeface="Consolas"/>
                <a:ea typeface="Consolas"/>
                <a:cs typeface="Consolas"/>
              </a:defRPr>
            </a:pPr>
            <a:r>
              <a:rPr sz="1035" b="0">
                <a:latin typeface="Consolas"/>
                <a:ea typeface="Consolas"/>
                <a:cs typeface="Consolas"/>
              </a:rPr>
              <a:t>    candidateCourses: candidates,</a:t>
            </a:r>
          </a:p>
          <a:p>
            <a:pPr algn="l">
              <a:buNone/>
              <a:defRPr sz="1035" b="0">
                <a:latin typeface="Consolas"/>
                <a:ea typeface="Consolas"/>
                <a:cs typeface="Consolas"/>
              </a:defRPr>
            </a:pPr>
            <a:r>
              <a:rPr sz="1035" b="0">
                <a:latin typeface="Consolas"/>
                <a:ea typeface="Consolas"/>
                <a:cs typeface="Consolas"/>
              </a:rPr>
              <a:t>    aiRationale: structuredResult.summary,</a:t>
            </a:r>
          </a:p>
          <a:p>
            <a:pPr algn="l">
              <a:buNone/>
              <a:defRPr sz="1035" b="0">
                <a:latin typeface="Consolas"/>
                <a:ea typeface="Consolas"/>
                <a:cs typeface="Consolas"/>
              </a:defRPr>
            </a:pPr>
            <a:r>
              <a:rPr sz="1035" b="0">
                <a:latin typeface="Consolas"/>
                <a:ea typeface="Consolas"/>
                <a:cs typeface="Consolas"/>
              </a:rPr>
              <a:t>    recommendations: structuredResult.recommendations,</a:t>
            </a:r>
          </a:p>
          <a:p>
            <a:pPr algn="l">
              <a:buNone/>
              <a:defRPr sz="1035" b="0">
                <a:latin typeface="Consolas"/>
                <a:ea typeface="Consolas"/>
                <a:cs typeface="Consolas"/>
              </a:defRPr>
            </a:pPr>
            <a:r>
              <a:rPr sz="1035" b="0">
                <a:latin typeface="Consolas"/>
                <a:ea typeface="Consolas"/>
                <a:cs typeface="Consolas"/>
              </a:rPr>
              <a:t>    relevantCompletedCourses,</a:t>
            </a:r>
          </a:p>
          <a:p>
            <a:pPr algn="l">
              <a:buNone/>
              <a:defRPr sz="1035" b="0">
                <a:latin typeface="Consolas"/>
                <a:ea typeface="Consolas"/>
                <a:cs typeface="Consolas"/>
              </a:defRPr>
            </a:pPr>
            <a:r>
              <a:rPr sz="1035" b="0">
                <a:latin typeface="Consolas"/>
                <a:ea typeface="Consolas"/>
                <a:cs typeface="Consolas"/>
              </a:rPr>
              <a:t>    summary: structuredResult.summary,</a:t>
            </a:r>
          </a:p>
          <a:p>
            <a:pPr algn="l">
              <a:buNone/>
              <a:defRPr sz="1035" b="0">
                <a:latin typeface="Consolas"/>
                <a:ea typeface="Consolas"/>
                <a:cs typeface="Consolas"/>
              </a:defRPr>
            </a:pPr>
            <a:r>
              <a:rPr sz="1035" b="0">
                <a:latin typeface="Consolas"/>
                <a:ea typeface="Consolas"/>
                <a:cs typeface="Consolas"/>
              </a:rPr>
              <a:t>    mode: warning ? 'semantic' : 'ai',</a:t>
            </a:r>
          </a:p>
          <a:p>
            <a:pPr algn="l">
              <a:buNone/>
              <a:defRPr sz="1035" b="0">
                <a:latin typeface="Consolas"/>
                <a:ea typeface="Consolas"/>
                <a:cs typeface="Consolas"/>
              </a:defRPr>
            </a:pPr>
            <a:r>
              <a:rPr sz="1035" b="0">
                <a:latin typeface="Consolas"/>
                <a:ea typeface="Consolas"/>
                <a:cs typeface="Consolas"/>
              </a:rPr>
              <a:t>    disclaimer: 'Planning support only...',</a:t>
            </a:r>
          </a:p>
          <a:p>
            <a:pPr algn="l">
              <a:buNone/>
              <a:defRPr sz="1035" b="0">
                <a:latin typeface="Consolas"/>
                <a:ea typeface="Consolas"/>
                <a:cs typeface="Consolas"/>
              </a:defRPr>
            </a:pPr>
            <a:r>
              <a:rPr sz="1035" b="0">
                <a:latin typeface="Consolas"/>
                <a:ea typeface="Consolas"/>
                <a:cs typeface="Consolas"/>
              </a:rPr>
              <a:t>    ...(warning ? { warning } : {})</a:t>
            </a:r>
          </a:p>
          <a:p>
            <a:pPr algn="l">
              <a:buNone/>
              <a:defRPr sz="1035" b="0">
                <a:latin typeface="Consolas"/>
                <a:ea typeface="Consolas"/>
                <a:cs typeface="Consolas"/>
              </a:defRPr>
            </a:pPr>
            <a:r>
              <a:rPr sz="1035" b="0">
                <a:latin typeface="Consolas"/>
                <a:ea typeface="Consolas"/>
                <a:cs typeface="Consolas"/>
              </a:rPr>
              <a:t>  }</a:t>
            </a:r>
          </a:p>
          <a:p>
            <a:pPr algn="l">
              <a:buNone/>
              <a:defRPr sz="1035" b="0">
                <a:latin typeface="Consolas"/>
                <a:ea typeface="Consolas"/>
                <a:cs typeface="Consolas"/>
              </a:defRPr>
            </a:pPr>
            <a:r>
              <a:rPr sz="1035" b="0">
                <a:latin typeface="Consolas"/>
                <a:ea typeface="Consolas"/>
                <a:cs typeface="Consolas"/>
              </a:rPr>
              <a:t>})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1C4F07FC-411C-4B70-86B8-23E4D7C6F915}"/>
              </a:ext>
            </a:extLst>
          </p:cNvPr>
          <p:cNvSpPr>
            <a:spLocks noGrp="1"/>
          </p:cNvSpPr>
          <p:nvPr/>
        </p:nvSpPr>
        <p:spPr>
          <a:xfrm>
            <a:off x="5943600" y="3181350"/>
            <a:ext cx="285750" cy="228600"/>
          </a:xfrm>
          <a:prstGeom prst="rightArrow">
            <a:avLst/>
          </a:prstGeom>
          <a:solidFill>
            <a:srgbClr val="FFFFFF"/>
          </a:solidFill>
          <a:ln w="0">
            <a:solidFill>
              <a:srgbClr val="828282"/>
            </a:solidFill>
          </a:ln>
        </p:spPr>
        <p:txBody>
          <a:bodyPr/>
          <a:lstStyle/>
          <a:p>
            <a:endParaRPr>
              <a:solidFill>
                <a:srgbClr val="000000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1274371-D289-477B-B0B0-7FE1AC4BA1C6}"/>
              </a:ext>
            </a:extLst>
          </p:cNvPr>
          <p:cNvSpPr>
            <a:spLocks noGrp="1"/>
          </p:cNvSpPr>
          <p:nvPr/>
        </p:nvSpPr>
        <p:spPr>
          <a:xfrm>
            <a:off x="6896100" y="1428750"/>
            <a:ext cx="46482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975" b="1">
                <a:latin typeface="Consolas"/>
                <a:ea typeface="Consolas"/>
                <a:cs typeface="Consolas"/>
              </a:defRPr>
            </a:pPr>
            <a:r>
              <a:rPr sz="975" b="1">
                <a:latin typeface="Consolas"/>
                <a:ea typeface="Consolas"/>
                <a:cs typeface="Consolas"/>
              </a:rPr>
              <a:t>frontend/src/views/AiRecommendation.vue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16D5A77-D148-414E-A6F1-529B2C859D1D}"/>
              </a:ext>
            </a:extLst>
          </p:cNvPr>
          <p:cNvSpPr>
            <a:spLocks noGrp="1"/>
          </p:cNvSpPr>
          <p:nvPr/>
        </p:nvSpPr>
        <p:spPr>
          <a:xfrm>
            <a:off x="6419850" y="1800225"/>
            <a:ext cx="5105400" cy="4152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035" b="0">
                <a:latin typeface="Consolas"/>
                <a:ea typeface="Consolas"/>
                <a:cs typeface="Consolas"/>
              </a:defRPr>
            </a:pPr>
            <a:r>
              <a:rPr sz="1035" b="0">
                <a:latin typeface="Consolas"/>
                <a:ea typeface="Consolas"/>
                <a:cs typeface="Consolas"/>
              </a:rPr>
              <a:t>const courses = computed(() =&gt;</a:t>
            </a:r>
          </a:p>
          <a:p>
            <a:pPr algn="l">
              <a:buNone/>
              <a:defRPr sz="1035" b="0">
                <a:latin typeface="Consolas"/>
                <a:ea typeface="Consolas"/>
                <a:cs typeface="Consolas"/>
              </a:defRPr>
            </a:pPr>
            <a:r>
              <a:rPr sz="1035" b="0">
                <a:latin typeface="Consolas"/>
                <a:ea typeface="Consolas"/>
                <a:cs typeface="Consolas"/>
              </a:rPr>
              <a:t>  result.value?.candidateCourses || result.value?.courses || []</a:t>
            </a:r>
          </a:p>
          <a:p>
            <a:pPr algn="l">
              <a:buNone/>
              <a:defRPr sz="1035" b="0">
                <a:latin typeface="Consolas"/>
                <a:ea typeface="Consolas"/>
                <a:cs typeface="Consolas"/>
              </a:defRPr>
            </a:pPr>
            <a:r>
              <a:rPr sz="1035" b="0">
                <a:latin typeface="Consolas"/>
                <a:ea typeface="Consolas"/>
                <a:cs typeface="Consolas"/>
              </a:rPr>
              <a:t>)</a:t>
            </a:r>
          </a:p>
          <a:p>
            <a:endParaRPr sz="1035" b="0">
              <a:latin typeface="Consolas"/>
              <a:ea typeface="Consolas"/>
              <a:cs typeface="Consolas"/>
            </a:endParaRPr>
          </a:p>
          <a:p>
            <a:pPr algn="l">
              <a:buNone/>
              <a:defRPr sz="1035" b="0">
                <a:latin typeface="Consolas"/>
                <a:ea typeface="Consolas"/>
                <a:cs typeface="Consolas"/>
              </a:defRPr>
            </a:pPr>
            <a:r>
              <a:rPr sz="1035" b="0">
                <a:latin typeface="Consolas"/>
                <a:ea typeface="Consolas"/>
                <a:cs typeface="Consolas"/>
              </a:rPr>
              <a:t>const courseRecommendations = computed(() =&gt; courses.value.map(course =&gt; {</a:t>
            </a:r>
          </a:p>
          <a:p>
            <a:pPr algn="l">
              <a:buNone/>
              <a:defRPr sz="1035" b="0">
                <a:latin typeface="Consolas"/>
                <a:ea typeface="Consolas"/>
                <a:cs typeface="Consolas"/>
              </a:defRPr>
            </a:pPr>
            <a:r>
              <a:rPr sz="1035" b="0">
                <a:latin typeface="Consolas"/>
                <a:ea typeface="Consolas"/>
                <a:cs typeface="Consolas"/>
              </a:rPr>
              <a:t>  const recommendation = rationalePayload.value.recommendations</a:t>
            </a:r>
          </a:p>
          <a:p>
            <a:pPr algn="l">
              <a:buNone/>
              <a:defRPr sz="1035" b="0">
                <a:latin typeface="Consolas"/>
                <a:ea typeface="Consolas"/>
                <a:cs typeface="Consolas"/>
              </a:defRPr>
            </a:pPr>
            <a:r>
              <a:rPr sz="1035" b="0">
                <a:latin typeface="Consolas"/>
                <a:ea typeface="Consolas"/>
                <a:cs typeface="Consolas"/>
              </a:rPr>
              <a:t>    .find(item =&gt; Number(item.courseId) === Number(course.id))</a:t>
            </a:r>
          </a:p>
          <a:p>
            <a:pPr algn="l">
              <a:buNone/>
              <a:defRPr sz="1035" b="0">
                <a:latin typeface="Consolas"/>
                <a:ea typeface="Consolas"/>
                <a:cs typeface="Consolas"/>
              </a:defRPr>
            </a:pPr>
            <a:r>
              <a:rPr sz="1035" b="0">
                <a:latin typeface="Consolas"/>
                <a:ea typeface="Consolas"/>
                <a:cs typeface="Consolas"/>
              </a:rPr>
              <a:t>  return {</a:t>
            </a:r>
          </a:p>
          <a:p>
            <a:pPr algn="l">
              <a:buNone/>
              <a:defRPr sz="1035" b="0">
                <a:latin typeface="Consolas"/>
                <a:ea typeface="Consolas"/>
                <a:cs typeface="Consolas"/>
              </a:defRPr>
            </a:pPr>
            <a:r>
              <a:rPr sz="1035" b="0">
                <a:latin typeface="Consolas"/>
                <a:ea typeface="Consolas"/>
                <a:cs typeface="Consolas"/>
              </a:rPr>
              <a:t>    course,</a:t>
            </a:r>
          </a:p>
          <a:p>
            <a:pPr algn="l">
              <a:buNone/>
              <a:defRPr sz="1035" b="0">
                <a:latin typeface="Consolas"/>
                <a:ea typeface="Consolas"/>
                <a:cs typeface="Consolas"/>
              </a:defRPr>
            </a:pPr>
            <a:r>
              <a:rPr sz="1035" b="0">
                <a:latin typeface="Consolas"/>
                <a:ea typeface="Consolas"/>
                <a:cs typeface="Consolas"/>
              </a:rPr>
              <a:t>    reasons: recommendation?.reasons || [],</a:t>
            </a:r>
          </a:p>
          <a:p>
            <a:pPr algn="l">
              <a:buNone/>
              <a:defRPr sz="1035" b="0">
                <a:latin typeface="Consolas"/>
                <a:ea typeface="Consolas"/>
                <a:cs typeface="Consolas"/>
              </a:defRPr>
            </a:pPr>
            <a:r>
              <a:rPr sz="1035" b="0">
                <a:latin typeface="Consolas"/>
                <a:ea typeface="Consolas"/>
                <a:cs typeface="Consolas"/>
              </a:rPr>
              <a:t>    cautions: recommendation?.cautions || [],</a:t>
            </a:r>
          </a:p>
          <a:p>
            <a:pPr algn="l">
              <a:buNone/>
              <a:defRPr sz="1035" b="0">
                <a:latin typeface="Consolas"/>
                <a:ea typeface="Consolas"/>
                <a:cs typeface="Consolas"/>
              </a:defRPr>
            </a:pPr>
            <a:r>
              <a:rPr sz="1035" b="0">
                <a:latin typeface="Consolas"/>
                <a:ea typeface="Consolas"/>
                <a:cs typeface="Consolas"/>
              </a:rPr>
              <a:t>    completedCourseAnalysis:</a:t>
            </a:r>
          </a:p>
          <a:p>
            <a:pPr algn="l">
              <a:buNone/>
              <a:defRPr sz="1035" b="0">
                <a:latin typeface="Consolas"/>
                <a:ea typeface="Consolas"/>
                <a:cs typeface="Consolas"/>
              </a:defRPr>
            </a:pPr>
            <a:r>
              <a:rPr sz="1035" b="0">
                <a:latin typeface="Consolas"/>
                <a:ea typeface="Consolas"/>
                <a:cs typeface="Consolas"/>
              </a:rPr>
              <a:t>      recommendation?.completedCourseAnalysis || []</a:t>
            </a:r>
          </a:p>
          <a:p>
            <a:pPr algn="l">
              <a:buNone/>
              <a:defRPr sz="1035" b="0">
                <a:latin typeface="Consolas"/>
                <a:ea typeface="Consolas"/>
                <a:cs typeface="Consolas"/>
              </a:defRPr>
            </a:pPr>
            <a:r>
              <a:rPr sz="1035" b="0">
                <a:latin typeface="Consolas"/>
                <a:ea typeface="Consolas"/>
                <a:cs typeface="Consolas"/>
              </a:rPr>
              <a:t>  }</a:t>
            </a:r>
          </a:p>
          <a:p>
            <a:pPr algn="l">
              <a:buNone/>
              <a:defRPr sz="1035" b="0">
                <a:latin typeface="Consolas"/>
                <a:ea typeface="Consolas"/>
                <a:cs typeface="Consolas"/>
              </a:defRPr>
            </a:pPr>
            <a:r>
              <a:rPr sz="1035" b="0">
                <a:latin typeface="Consolas"/>
                <a:ea typeface="Consolas"/>
                <a:cs typeface="Consolas"/>
              </a:rPr>
              <a:t>}))</a:t>
            </a:r>
          </a:p>
          <a:p>
            <a:endParaRPr sz="1035" b="0">
              <a:latin typeface="Consolas"/>
              <a:ea typeface="Consolas"/>
              <a:cs typeface="Consolas"/>
            </a:endParaRPr>
          </a:p>
          <a:p>
            <a:pPr algn="l">
              <a:buNone/>
              <a:defRPr sz="1035" b="0">
                <a:latin typeface="Consolas"/>
                <a:ea typeface="Consolas"/>
                <a:cs typeface="Consolas"/>
              </a:defRPr>
            </a:pPr>
            <a:r>
              <a:rPr sz="1035" b="0">
                <a:latin typeface="Consolas"/>
                <a:ea typeface="Consolas"/>
                <a:cs typeface="Consolas"/>
              </a:rPr>
              <a:t>&lt;AiCourseRecommendationCard</a:t>
            </a:r>
          </a:p>
          <a:p>
            <a:pPr algn="l">
              <a:buNone/>
              <a:defRPr sz="1035" b="0">
                <a:latin typeface="Consolas"/>
                <a:ea typeface="Consolas"/>
                <a:cs typeface="Consolas"/>
              </a:defRPr>
            </a:pPr>
            <a:r>
              <a:rPr sz="1035" b="0">
                <a:latin typeface="Consolas"/>
                <a:ea typeface="Consolas"/>
                <a:cs typeface="Consolas"/>
              </a:rPr>
              <a:t>  v-for="item in courseRecommendations"</a:t>
            </a:r>
          </a:p>
          <a:p>
            <a:pPr algn="l">
              <a:buNone/>
              <a:defRPr sz="1035" b="0">
                <a:latin typeface="Consolas"/>
                <a:ea typeface="Consolas"/>
                <a:cs typeface="Consolas"/>
              </a:defRPr>
            </a:pPr>
            <a:r>
              <a:rPr sz="1035" b="0">
                <a:latin typeface="Consolas"/>
                <a:ea typeface="Consolas"/>
                <a:cs typeface="Consolas"/>
              </a:rPr>
              <a:t>  :course="item.course"</a:t>
            </a:r>
          </a:p>
          <a:p>
            <a:pPr algn="l">
              <a:buNone/>
              <a:defRPr sz="1035" b="0">
                <a:latin typeface="Consolas"/>
                <a:ea typeface="Consolas"/>
                <a:cs typeface="Consolas"/>
              </a:defRPr>
            </a:pPr>
            <a:r>
              <a:rPr sz="1035" b="0">
                <a:latin typeface="Consolas"/>
                <a:ea typeface="Consolas"/>
                <a:cs typeface="Consolas"/>
              </a:rPr>
              <a:t>  :reasons="item.reasons"</a:t>
            </a:r>
          </a:p>
          <a:p>
            <a:pPr algn="l">
              <a:buNone/>
              <a:defRPr sz="1035" b="0">
                <a:latin typeface="Consolas"/>
                <a:ea typeface="Consolas"/>
                <a:cs typeface="Consolas"/>
              </a:defRPr>
            </a:pPr>
            <a:r>
              <a:rPr sz="1035" b="0">
                <a:latin typeface="Consolas"/>
                <a:ea typeface="Consolas"/>
                <a:cs typeface="Consolas"/>
              </a:rPr>
              <a:t>  :cautions="item.cautions"</a:t>
            </a:r>
          </a:p>
          <a:p>
            <a:pPr algn="l">
              <a:buNone/>
              <a:defRPr sz="1035" b="0">
                <a:latin typeface="Consolas"/>
                <a:ea typeface="Consolas"/>
                <a:cs typeface="Consolas"/>
              </a:defRPr>
            </a:pPr>
            <a:r>
              <a:rPr sz="1035" b="0">
                <a:latin typeface="Consolas"/>
                <a:ea typeface="Consolas"/>
                <a:cs typeface="Consolas"/>
              </a:rPr>
              <a:t>  :completed-course-analysis="item.completedCourseAnalysis"</a:t>
            </a:r>
          </a:p>
          <a:p>
            <a:pPr algn="l">
              <a:buNone/>
              <a:defRPr sz="1035" b="0">
                <a:latin typeface="Consolas"/>
                <a:ea typeface="Consolas"/>
                <a:cs typeface="Consolas"/>
              </a:defRPr>
            </a:pPr>
            <a:r>
              <a:rPr sz="1035" b="0">
                <a:latin typeface="Consolas"/>
                <a:ea typeface="Consolas"/>
                <a:cs typeface="Consolas"/>
              </a:rPr>
              <a:t>/&gt;</a:t>
            </a:r>
          </a:p>
        </p:txBody>
      </p:sp>
    </p:spTree>
    <p:extLst>
      <p:ext uri="{BB962C8B-B14F-4D97-AF65-F5344CB8AC3E}">
        <p14:creationId xmlns:p14="http://schemas.microsoft.com/office/powerpoint/2010/main" val="13506421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853FC488-BB1D-4846-AC4C-F8AB8959DEAC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3150" b="1"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latin typeface="Microsoft YaHei"/>
                <a:ea typeface="Microsoft YaHei"/>
                <a:cs typeface="Microsoft YaHei"/>
              </a:rPr>
              <a:t>Demo Video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F9505D7-35D4-4403-9EBB-0A3969EAF22D}"/>
              </a:ext>
            </a:extLst>
          </p:cNvPr>
          <p:cNvSpPr>
            <a:spLocks noGrp="1"/>
          </p:cNvSpPr>
          <p:nvPr/>
        </p:nvSpPr>
        <p:spPr>
          <a:xfrm>
            <a:off x="685800" y="971550"/>
            <a:ext cx="108204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500" b="0"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latin typeface="Microsoft YaHei"/>
                <a:ea typeface="Microsoft YaHei"/>
                <a:cs typeface="Microsoft YaHei"/>
              </a:rPr>
              <a:t>Complete AI course recommendation walkthrough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0552F0E-001C-4F7B-99AF-900F63AB4ADE}"/>
              </a:ext>
            </a:extLst>
          </p:cNvPr>
          <p:cNvSpPr>
            <a:spLocks noGrp="1"/>
          </p:cNvSpPr>
          <p:nvPr/>
        </p:nvSpPr>
        <p:spPr>
          <a:xfrm>
            <a:off x="11049000" y="45720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buNone/>
              <a:defRPr sz="1275" b="1"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B72D95B-393E-43D6-B51A-A826EB386F99}"/>
              </a:ext>
            </a:extLst>
          </p:cNvPr>
          <p:cNvSpPr>
            <a:spLocks noGrp="1"/>
          </p:cNvSpPr>
          <p:nvPr/>
        </p:nvSpPr>
        <p:spPr>
          <a:xfrm>
            <a:off x="990600" y="1562100"/>
            <a:ext cx="10210800" cy="4514850"/>
          </a:xfrm>
          <a:prstGeom prst="rect">
            <a:avLst/>
          </a:prstGeom>
          <a:solidFill>
            <a:srgbClr val="FFFFFF"/>
          </a:solidFill>
          <a:ln w="13335">
            <a:solidFill>
              <a:srgbClr val="3B3B3B"/>
            </a:solidFill>
          </a:ln>
        </p:spPr>
        <p:txBody>
          <a:bodyPr/>
          <a:lstStyle/>
          <a:p>
            <a:endParaRPr>
              <a:solidFill>
                <a:srgbClr val="000000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6ACF55D-EAC2-4612-B04C-D6D139D74792}"/>
              </a:ext>
            </a:extLst>
          </p:cNvPr>
          <p:cNvSpPr>
            <a:spLocks noGrp="1"/>
          </p:cNvSpPr>
          <p:nvPr/>
        </p:nvSpPr>
        <p:spPr>
          <a:xfrm>
            <a:off x="5524500" y="3238500"/>
            <a:ext cx="1143000" cy="1104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500" b="1">
                <a:latin typeface="Microsoft YaHei"/>
                <a:ea typeface="Microsoft YaHei"/>
                <a:cs typeface="Microsoft YaHei"/>
              </a:defRPr>
            </a:pPr>
            <a:endParaRPr sz="1500" b="1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ABAE1E0-930A-4830-94F8-6F0F31B47476}"/>
              </a:ext>
            </a:extLst>
          </p:cNvPr>
          <p:cNvSpPr>
            <a:spLocks noGrp="1"/>
          </p:cNvSpPr>
          <p:nvPr/>
        </p:nvSpPr>
        <p:spPr>
          <a:xfrm>
            <a:off x="3714750" y="4533900"/>
            <a:ext cx="476250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buNone/>
              <a:defRPr sz="1800" b="0">
                <a:latin typeface="Microsoft YaHei"/>
                <a:ea typeface="Microsoft YaHei"/>
                <a:cs typeface="Microsoft YaHei"/>
              </a:defRPr>
            </a:pPr>
            <a:endParaRPr sz="1800" b="0" dirty="0"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67493971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232323"/>
      </a:dk2>
      <a:lt2>
        <a:srgbClr val="E8E8E8"/>
      </a:lt2>
      <a:accent1>
        <a:srgbClr val="4D4D4D"/>
      </a:accent1>
      <a:accent2>
        <a:srgbClr val="8E8E8E"/>
      </a:accent2>
      <a:accent3>
        <a:srgbClr val="4A4A4A"/>
      </a:accent3>
      <a:accent4>
        <a:srgbClr val="7A7A7A"/>
      </a:accent4>
      <a:accent5>
        <a:srgbClr val="5A5A5A"/>
      </a:accent5>
      <a:accent6>
        <a:srgbClr val="7F7F7F"/>
      </a:accent6>
      <a:hlink>
        <a:srgbClr val="6B6B6B"/>
      </a:hlink>
      <a:folHlink>
        <a:srgbClr val="73737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232323"/>
      </a:dk2>
      <a:lt2>
        <a:srgbClr val="E8E8E8"/>
      </a:lt2>
      <a:accent1>
        <a:srgbClr val="4D4D4D"/>
      </a:accent1>
      <a:accent2>
        <a:srgbClr val="8E8E8E"/>
      </a:accent2>
      <a:accent3>
        <a:srgbClr val="4A4A4A"/>
      </a:accent3>
      <a:accent4>
        <a:srgbClr val="7A7A7A"/>
      </a:accent4>
      <a:accent5>
        <a:srgbClr val="5A5A5A"/>
      </a:accent5>
      <a:accent6>
        <a:srgbClr val="7F7F7F"/>
      </a:accent6>
      <a:hlink>
        <a:srgbClr val="6B6B6B"/>
      </a:hlink>
      <a:folHlink>
        <a:srgbClr val="73737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3500</Words>
  <Application>Microsoft Office PowerPoint</Application>
  <DocSecurity>0</DocSecurity>
  <PresentationFormat>宽屏</PresentationFormat>
  <Paragraphs>511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Microsoft YaHei</vt:lpstr>
      <vt:lpstr>Calibri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Yinchen Guo</cp:lastModifiedBy>
  <cp:revision>1</cp:revision>
  <dcterms:created xsi:type="dcterms:W3CDTF">2026-09-27T05:44:35Z</dcterms:created>
  <dcterms:modified xsi:type="dcterms:W3CDTF">2026-09-27T06:14:34Z</dcterms:modified>
</cp:coreProperties>
</file>